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Labeled Indian Road Data (Million km)</a:t>
            </a:r>
          </a:p>
        </c:rich>
      </c:tx>
      <c:layout/>
      <c:overlay val="0"/>
    </c:title>
    <c:autoTitleDeleted val="0"/>
    <c:plotArea>
      <c:layout/>
      <c:lineChart>
        <c:varyColors val="0"/>
        <c:ser>
          <c:idx val="0"/>
          <c:order val="0"/>
          <c:tx>
            <c:strRef>
              <c:f>Sheet1!$B$1</c:f>
              <c:strCache>
                <c:ptCount val="1"/>
                <c:pt idx="0">
                  <c:v>Garuda Data</c:v>
                </c:pt>
              </c:strCache>
            </c:strRef>
          </c:tx>
          <c:spPr>
            <a:solidFill>
              <a:srgbClr val="0D2B4E"/>
            </a:solidFill>
            <a:ln w="38100" cap="flat">
              <a:solidFill>
                <a:srgbClr val="0D2B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2B4E"/>
              </a:solidFill>
              <a:ln w="9525" cap="flat">
                <a:solidFill>
                  <a:srgbClr val="0D2B4E"/>
                </a:solidFill>
                <a:prstDash val="solid"/>
                <a:round/>
              </a:ln>
              <a:effectLst/>
            </c:spPr>
          </c:marker>
          <c:cat>
            <c:multiLvlStrRef>
              <c:f>Sheet1!$A$2:$A$9</c:f>
              <c:multiLvlStrCache>
                <c:ptCount val="8"/>
                <c:lvl>
                  <c:pt idx="0">
                    <c:v>M1</c:v>
                  </c:pt>
                  <c:pt idx="1">
                    <c:v>M3</c:v>
                  </c:pt>
                  <c:pt idx="2">
                    <c:v>M6</c:v>
                  </c:pt>
                  <c:pt idx="3">
                    <c:v>M9</c:v>
                  </c:pt>
                  <c:pt idx="4">
                    <c:v>M12</c:v>
                  </c:pt>
                  <c:pt idx="5">
                    <c:v>M18</c:v>
                  </c:pt>
                  <c:pt idx="6">
                    <c:v>M24</c:v>
                  </c:pt>
                  <c:pt idx="7">
                    <c:v>M36</c:v>
                  </c:pt>
                </c:lvl>
              </c:multiLvlStrCache>
            </c:multiLvlStrRef>
          </c:cat>
          <c:val>
            <c:numRef>
              <c:f>Sheet1!$B$2:$B$9</c:f>
              <c:numCache>
                <c:formatCode>General</c:formatCode>
                <c:ptCount val="8"/>
                <c:pt idx="0">
                  <c:v>0.5</c:v>
                </c:pt>
                <c:pt idx="1">
                  <c:v>2</c:v>
                </c:pt>
                <c:pt idx="2">
                  <c:v>8</c:v>
                </c:pt>
                <c:pt idx="3">
                  <c:v>20</c:v>
                </c:pt>
                <c:pt idx="4">
                  <c:v>50</c:v>
                </c:pt>
                <c:pt idx="5">
                  <c:v>150</c:v>
                </c:pt>
                <c:pt idx="6">
                  <c:v>350</c:v>
                </c:pt>
                <c:pt idx="7">
                  <c:v>800</c:v>
                </c:pt>
              </c:numCache>
            </c:numRef>
          </c:val>
          <c:smooth val="1"/>
        </c:ser>
        <c:ser>
          <c:idx val="1"/>
          <c:order val="1"/>
          <c:tx>
            <c:strRef>
              <c:f>Sheet1!$C$1</c:f>
              <c:strCache>
                <c:ptCount val="1"/>
                <c:pt idx="0">
                  <c:v>Competitor Starting Now</c:v>
                </c:pt>
              </c:strCache>
            </c:strRef>
          </c:tx>
          <c:spPr>
            <a:solidFill>
              <a:srgbClr val="CBD5E1"/>
            </a:solidFill>
            <a:ln w="38100" cap="flat">
              <a:solidFill>
                <a:srgbClr val="CBD5E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BD5E1"/>
              </a:solidFill>
              <a:ln w="9525" cap="flat">
                <a:solidFill>
                  <a:srgbClr val="CBD5E1"/>
                </a:solidFill>
                <a:prstDash val="solid"/>
                <a:round/>
              </a:ln>
              <a:effectLst/>
            </c:spPr>
          </c:marker>
          <c:cat>
            <c:multiLvlStrRef>
              <c:f>Sheet1!$A$2:$A$9</c:f>
              <c:multiLvlStrCache>
                <c:ptCount val="8"/>
                <c:lvl>
                  <c:pt idx="0">
                    <c:v>M1</c:v>
                  </c:pt>
                  <c:pt idx="1">
                    <c:v>M3</c:v>
                  </c:pt>
                  <c:pt idx="2">
                    <c:v>M6</c:v>
                  </c:pt>
                  <c:pt idx="3">
                    <c:v>M9</c:v>
                  </c:pt>
                  <c:pt idx="4">
                    <c:v>M12</c:v>
                  </c:pt>
                  <c:pt idx="5">
                    <c:v>M18</c:v>
                  </c:pt>
                  <c:pt idx="6">
                    <c:v>M24</c:v>
                  </c:pt>
                  <c:pt idx="7">
                    <c:v>M36</c:v>
                  </c:pt>
                </c:lvl>
              </c:multiLvlStrCache>
            </c:multiLvlStrRef>
          </c:cat>
          <c:val>
            <c:numRef>
              <c:f>Sheet1!$C$2:$C$9</c:f>
              <c:numCache>
                <c:formatCode>General</c:formatCode>
                <c:ptCount val="8"/>
                <c:pt idx="0">
                  <c:v>0</c:v>
                </c:pt>
                <c:pt idx="1">
                  <c:v>0</c:v>
                </c:pt>
                <c:pt idx="2">
                  <c:v>0.5</c:v>
                </c:pt>
                <c:pt idx="3">
                  <c:v>2</c:v>
                </c:pt>
                <c:pt idx="4">
                  <c:v>8</c:v>
                </c:pt>
                <c:pt idx="5">
                  <c:v>20</c:v>
                </c:pt>
                <c:pt idx="6">
                  <c:v>50</c:v>
                </c:pt>
                <c:pt idx="7">
                  <c:v>150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4F7F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4A0A"/>
          </a:solidFill>
          <a:ln/>
        </p:spPr>
      </p:sp>
      <p:sp>
        <p:nvSpPr>
          <p:cNvPr id="3" name="Text 1"/>
          <p:cNvSpPr/>
          <p:nvPr/>
        </p:nvSpPr>
        <p:spPr>
          <a:xfrm>
            <a:off x="457200" y="457200"/>
            <a:ext cx="8229600" cy="1005840"/>
          </a:xfrm>
          <a:prstGeom prst="rect">
            <a:avLst/>
          </a:prstGeom>
          <a:noFill/>
          <a:ln/>
        </p:spPr>
        <p:txBody>
          <a:bodyPr wrap="square" rtlCol="0" anchor="ctr"/>
          <a:lstStyle/>
          <a:p>
            <a:pPr algn="ctr" indent="0" marL="0">
              <a:buNone/>
            </a:pPr>
            <a:r>
              <a:rPr lang="en-US" sz="5200" b="1" spc="400" kern="0" dirty="0">
                <a:solidFill>
                  <a:srgbClr val="FFFFFF"/>
                </a:solidFill>
                <a:latin typeface="Arial" pitchFamily="34" charset="0"/>
                <a:ea typeface="Arial" pitchFamily="34" charset="-122"/>
                <a:cs typeface="Arial" pitchFamily="34" charset="-120"/>
              </a:rPr>
              <a:t>PROJECT GARUDA</a:t>
            </a:r>
            <a:endParaRPr lang="en-US" sz="5200" dirty="0"/>
          </a:p>
        </p:txBody>
      </p:sp>
      <p:sp>
        <p:nvSpPr>
          <p:cNvPr id="4" name="Text 2"/>
          <p:cNvSpPr/>
          <p:nvPr/>
        </p:nvSpPr>
        <p:spPr>
          <a:xfrm>
            <a:off x="457200" y="1417320"/>
            <a:ext cx="8229600" cy="411480"/>
          </a:xfrm>
          <a:prstGeom prst="rect">
            <a:avLst/>
          </a:prstGeom>
          <a:noFill/>
          <a:ln/>
        </p:spPr>
        <p:txBody>
          <a:bodyPr wrap="square" rtlCol="0" anchor="ctr"/>
          <a:lstStyle/>
          <a:p>
            <a:pPr algn="ctr" indent="0" marL="0">
              <a:buNone/>
            </a:pPr>
            <a:r>
              <a:rPr lang="en-US" sz="2000" i="1" dirty="0">
                <a:solidFill>
                  <a:srgbClr val="A8C4E8"/>
                </a:solidFill>
                <a:latin typeface="Arial" pitchFamily="34" charset="0"/>
                <a:ea typeface="Arial" pitchFamily="34" charset="-122"/>
                <a:cs typeface="Arial" pitchFamily="34" charset="-120"/>
              </a:rPr>
              <a:t>The AI Friend Every Driver Deserves</a:t>
            </a:r>
            <a:endParaRPr lang="en-US" sz="2000" dirty="0"/>
          </a:p>
        </p:txBody>
      </p:sp>
      <p:sp>
        <p:nvSpPr>
          <p:cNvPr id="5" name="Shape 3"/>
          <p:cNvSpPr/>
          <p:nvPr/>
        </p:nvSpPr>
        <p:spPr>
          <a:xfrm>
            <a:off x="3200400" y="1920240"/>
            <a:ext cx="2743200" cy="36576"/>
          </a:xfrm>
          <a:prstGeom prst="rect">
            <a:avLst/>
          </a:prstGeom>
          <a:solidFill>
            <a:srgbClr val="C94A0A"/>
          </a:solidFill>
          <a:ln/>
        </p:spPr>
      </p:sp>
      <p:sp>
        <p:nvSpPr>
          <p:cNvPr id="6" name="Text 4"/>
          <p:cNvSpPr/>
          <p:nvPr/>
        </p:nvSpPr>
        <p:spPr>
          <a:xfrm>
            <a:off x="731520" y="2029968"/>
            <a:ext cx="7680960" cy="640080"/>
          </a:xfrm>
          <a:prstGeom prst="rect">
            <a:avLst/>
          </a:prstGeom>
          <a:noFill/>
          <a:ln/>
        </p:spPr>
        <p:txBody>
          <a:bodyPr wrap="square" rtlCol="0" anchor="ctr"/>
          <a:lstStyle/>
          <a:p>
            <a:pPr algn="ctr" indent="0" marL="0">
              <a:buNone/>
            </a:pPr>
            <a:r>
              <a:rPr lang="en-US" sz="1300" dirty="0">
                <a:solidFill>
                  <a:srgbClr val="C8D8EC"/>
                </a:solidFill>
                <a:latin typeface="Arial" pitchFamily="34" charset="0"/>
                <a:ea typeface="Arial" pitchFamily="34" charset="-122"/>
                <a:cs typeface="Arial" pitchFamily="34" charset="-120"/>
              </a:rPr>
              <a:t>An AI-powered intelligent co-driver that predicts accidents, detects drowsiness</a:t>
            </a:r>
            <a:endParaRPr lang="en-US" sz="1300" dirty="0"/>
          </a:p>
          <a:p>
            <a:pPr algn="ctr" indent="0" marL="0">
              <a:buNone/>
            </a:pPr>
            <a:r>
              <a:rPr lang="en-US" sz="1300" dirty="0">
                <a:solidFill>
                  <a:srgbClr val="C8D8EC"/>
                </a:solidFill>
                <a:latin typeface="Arial" pitchFamily="34" charset="0"/>
                <a:ea typeface="Arial" pitchFamily="34" charset="-122"/>
                <a:cs typeface="Arial" pitchFamily="34" charset="-120"/>
              </a:rPr>
              <a:t>and guides drivers safely — like an experienced friend sitting beside them</a:t>
            </a:r>
            <a:endParaRPr lang="en-US" sz="1300" dirty="0"/>
          </a:p>
        </p:txBody>
      </p:sp>
      <p:sp>
        <p:nvSpPr>
          <p:cNvPr id="7" name="Shape 5"/>
          <p:cNvSpPr/>
          <p:nvPr/>
        </p:nvSpPr>
        <p:spPr>
          <a:xfrm>
            <a:off x="274320" y="2852928"/>
            <a:ext cx="2103120" cy="1005840"/>
          </a:xfrm>
          <a:prstGeom prst="rect">
            <a:avLst>
              <a:gd name="adj" fmla="val 9091"/>
            </a:avLst>
          </a:prstGeom>
          <a:solidFill>
            <a:srgbClr val="1A3C6E"/>
          </a:solidFill>
          <a:ln/>
        </p:spPr>
      </p:sp>
      <p:sp>
        <p:nvSpPr>
          <p:cNvPr id="8" name="Text 6"/>
          <p:cNvSpPr/>
          <p:nvPr/>
        </p:nvSpPr>
        <p:spPr>
          <a:xfrm>
            <a:off x="365760" y="2907792"/>
            <a:ext cx="1920240" cy="475488"/>
          </a:xfrm>
          <a:prstGeom prst="rect">
            <a:avLst/>
          </a:prstGeom>
          <a:noFill/>
          <a:ln/>
        </p:spPr>
        <p:txBody>
          <a:bodyPr wrap="square" lIns="0" tIns="0" rIns="0" bIns="0" rtlCol="0" anchor="b"/>
          <a:lstStyle/>
          <a:p>
            <a:pPr algn="ctr" indent="0" marL="0">
              <a:buNone/>
            </a:pPr>
            <a:r>
              <a:rPr lang="en-US" sz="2400" b="1" dirty="0">
                <a:solidFill>
                  <a:srgbClr val="FFFFFF"/>
                </a:solidFill>
                <a:latin typeface="Arial" pitchFamily="34" charset="0"/>
                <a:ea typeface="Arial" pitchFamily="34" charset="-122"/>
                <a:cs typeface="Arial" pitchFamily="34" charset="-120"/>
              </a:rPr>
              <a:t>₹1.47L Cr</a:t>
            </a:r>
            <a:endParaRPr lang="en-US" sz="2400" dirty="0"/>
          </a:p>
        </p:txBody>
      </p:sp>
      <p:sp>
        <p:nvSpPr>
          <p:cNvPr id="9" name="Text 7"/>
          <p:cNvSpPr/>
          <p:nvPr/>
        </p:nvSpPr>
        <p:spPr>
          <a:xfrm>
            <a:off x="365760" y="3383280"/>
            <a:ext cx="1920240" cy="411480"/>
          </a:xfrm>
          <a:prstGeom prst="rect">
            <a:avLst/>
          </a:prstGeom>
          <a:noFill/>
          <a:ln/>
        </p:spPr>
        <p:txBody>
          <a:bodyPr wrap="square" lIns="0" tIns="0" rIns="0" bIns="0" rtlCol="0" anchor="t"/>
          <a:lstStyle/>
          <a:p>
            <a:pPr algn="ctr" indent="0" marL="0">
              <a:buNone/>
            </a:pPr>
            <a:r>
              <a:rPr lang="en-US" sz="950" dirty="0">
                <a:solidFill>
                  <a:srgbClr val="A8C4E8"/>
                </a:solidFill>
                <a:latin typeface="Arial" pitchFamily="34" charset="0"/>
                <a:ea typeface="Arial" pitchFamily="34" charset="-122"/>
                <a:cs typeface="Arial" pitchFamily="34" charset="-120"/>
              </a:rPr>
              <a:t>Annual economic loss</a:t>
            </a:r>
            <a:endParaRPr lang="en-US" sz="950" dirty="0"/>
          </a:p>
          <a:p>
            <a:pPr algn="ctr" indent="0" marL="0">
              <a:buNone/>
            </a:pPr>
            <a:r>
              <a:rPr lang="en-US" sz="950" dirty="0">
                <a:solidFill>
                  <a:srgbClr val="A8C4E8"/>
                </a:solidFill>
                <a:latin typeface="Arial" pitchFamily="34" charset="0"/>
                <a:ea typeface="Arial" pitchFamily="34" charset="-122"/>
                <a:cs typeface="Arial" pitchFamily="34" charset="-120"/>
              </a:rPr>
              <a:t>from road accidents</a:t>
            </a:r>
            <a:endParaRPr lang="en-US" sz="950" dirty="0"/>
          </a:p>
        </p:txBody>
      </p:sp>
      <p:sp>
        <p:nvSpPr>
          <p:cNvPr id="10" name="Shape 8"/>
          <p:cNvSpPr/>
          <p:nvPr/>
        </p:nvSpPr>
        <p:spPr>
          <a:xfrm>
            <a:off x="2560320" y="2852928"/>
            <a:ext cx="2103120" cy="1005840"/>
          </a:xfrm>
          <a:prstGeom prst="rect">
            <a:avLst>
              <a:gd name="adj" fmla="val 9091"/>
            </a:avLst>
          </a:prstGeom>
          <a:solidFill>
            <a:srgbClr val="0A5050"/>
          </a:solidFill>
          <a:ln/>
        </p:spPr>
      </p:sp>
      <p:sp>
        <p:nvSpPr>
          <p:cNvPr id="11" name="Text 9"/>
          <p:cNvSpPr/>
          <p:nvPr/>
        </p:nvSpPr>
        <p:spPr>
          <a:xfrm>
            <a:off x="2651760" y="2907792"/>
            <a:ext cx="1920240" cy="475488"/>
          </a:xfrm>
          <a:prstGeom prst="rect">
            <a:avLst/>
          </a:prstGeom>
          <a:noFill/>
          <a:ln/>
        </p:spPr>
        <p:txBody>
          <a:bodyPr wrap="square" lIns="0" tIns="0" rIns="0" bIns="0" rtlCol="0" anchor="b"/>
          <a:lstStyle/>
          <a:p>
            <a:pPr algn="ctr" indent="0" marL="0">
              <a:buNone/>
            </a:pPr>
            <a:r>
              <a:rPr lang="en-US" sz="2400" b="1" dirty="0">
                <a:solidFill>
                  <a:srgbClr val="FFFFFF"/>
                </a:solidFill>
                <a:latin typeface="Arial" pitchFamily="34" charset="0"/>
                <a:ea typeface="Arial" pitchFamily="34" charset="-122"/>
                <a:cs typeface="Arial" pitchFamily="34" charset="-120"/>
              </a:rPr>
              <a:t>35M+</a:t>
            </a:r>
            <a:endParaRPr lang="en-US" sz="2400" dirty="0"/>
          </a:p>
        </p:txBody>
      </p:sp>
      <p:sp>
        <p:nvSpPr>
          <p:cNvPr id="12" name="Text 10"/>
          <p:cNvSpPr/>
          <p:nvPr/>
        </p:nvSpPr>
        <p:spPr>
          <a:xfrm>
            <a:off x="2651760" y="3383280"/>
            <a:ext cx="1920240" cy="411480"/>
          </a:xfrm>
          <a:prstGeom prst="rect">
            <a:avLst/>
          </a:prstGeom>
          <a:noFill/>
          <a:ln/>
        </p:spPr>
        <p:txBody>
          <a:bodyPr wrap="square" lIns="0" tIns="0" rIns="0" bIns="0" rtlCol="0" anchor="t"/>
          <a:lstStyle/>
          <a:p>
            <a:pPr algn="ctr" indent="0" marL="0">
              <a:buNone/>
            </a:pPr>
            <a:r>
              <a:rPr lang="en-US" sz="950" dirty="0">
                <a:solidFill>
                  <a:srgbClr val="A8C4E8"/>
                </a:solidFill>
                <a:latin typeface="Arial" pitchFamily="34" charset="0"/>
                <a:ea typeface="Arial" pitchFamily="34" charset="-122"/>
                <a:cs typeface="Arial" pitchFamily="34" charset="-120"/>
              </a:rPr>
              <a:t>Commercial vehicles</a:t>
            </a:r>
            <a:endParaRPr lang="en-US" sz="950" dirty="0"/>
          </a:p>
          <a:p>
            <a:pPr algn="ctr" indent="0" marL="0">
              <a:buNone/>
            </a:pPr>
            <a:r>
              <a:rPr lang="en-US" sz="950" dirty="0">
                <a:solidFill>
                  <a:srgbClr val="A8C4E8"/>
                </a:solidFill>
                <a:latin typeface="Arial" pitchFamily="34" charset="0"/>
                <a:ea typeface="Arial" pitchFamily="34" charset="-122"/>
                <a:cs typeface="Arial" pitchFamily="34" charset="-120"/>
              </a:rPr>
              <a:t>beachhead market</a:t>
            </a:r>
            <a:endParaRPr lang="en-US" sz="950" dirty="0"/>
          </a:p>
        </p:txBody>
      </p:sp>
      <p:sp>
        <p:nvSpPr>
          <p:cNvPr id="13" name="Shape 11"/>
          <p:cNvSpPr/>
          <p:nvPr/>
        </p:nvSpPr>
        <p:spPr>
          <a:xfrm>
            <a:off x="4846320" y="2852928"/>
            <a:ext cx="2103120" cy="1005840"/>
          </a:xfrm>
          <a:prstGeom prst="rect">
            <a:avLst>
              <a:gd name="adj" fmla="val 9091"/>
            </a:avLst>
          </a:prstGeom>
          <a:solidFill>
            <a:srgbClr val="6B2200"/>
          </a:solidFill>
          <a:ln/>
        </p:spPr>
      </p:sp>
      <p:sp>
        <p:nvSpPr>
          <p:cNvPr id="14" name="Text 12"/>
          <p:cNvSpPr/>
          <p:nvPr/>
        </p:nvSpPr>
        <p:spPr>
          <a:xfrm>
            <a:off x="4937760" y="2907792"/>
            <a:ext cx="1920240" cy="475488"/>
          </a:xfrm>
          <a:prstGeom prst="rect">
            <a:avLst/>
          </a:prstGeom>
          <a:noFill/>
          <a:ln/>
        </p:spPr>
        <p:txBody>
          <a:bodyPr wrap="square" lIns="0" tIns="0" rIns="0" bIns="0" rtlCol="0" anchor="b"/>
          <a:lstStyle/>
          <a:p>
            <a:pPr algn="ctr" indent="0" marL="0">
              <a:buNone/>
            </a:pPr>
            <a:r>
              <a:rPr lang="en-US" sz="2400" b="1" dirty="0">
                <a:solidFill>
                  <a:srgbClr val="FFFFFF"/>
                </a:solidFill>
                <a:latin typeface="Arial" pitchFamily="34" charset="0"/>
                <a:ea typeface="Arial" pitchFamily="34" charset="-122"/>
                <a:cs typeface="Arial" pitchFamily="34" charset="-120"/>
              </a:rPr>
              <a:t>$2.9 Bn</a:t>
            </a:r>
            <a:endParaRPr lang="en-US" sz="2400" dirty="0"/>
          </a:p>
        </p:txBody>
      </p:sp>
      <p:sp>
        <p:nvSpPr>
          <p:cNvPr id="15" name="Text 13"/>
          <p:cNvSpPr/>
          <p:nvPr/>
        </p:nvSpPr>
        <p:spPr>
          <a:xfrm>
            <a:off x="4937760" y="3383280"/>
            <a:ext cx="1920240" cy="411480"/>
          </a:xfrm>
          <a:prstGeom prst="rect">
            <a:avLst/>
          </a:prstGeom>
          <a:noFill/>
          <a:ln/>
        </p:spPr>
        <p:txBody>
          <a:bodyPr wrap="square" lIns="0" tIns="0" rIns="0" bIns="0" rtlCol="0" anchor="t"/>
          <a:lstStyle/>
          <a:p>
            <a:pPr algn="ctr" indent="0" marL="0">
              <a:buNone/>
            </a:pPr>
            <a:r>
              <a:rPr lang="en-US" sz="950" dirty="0">
                <a:solidFill>
                  <a:srgbClr val="A8C4E8"/>
                </a:solidFill>
                <a:latin typeface="Arial" pitchFamily="34" charset="0"/>
                <a:ea typeface="Arial" pitchFamily="34" charset="-122"/>
                <a:cs typeface="Arial" pitchFamily="34" charset="-120"/>
              </a:rPr>
              <a:t>India ADAS market</a:t>
            </a:r>
            <a:endParaRPr lang="en-US" sz="950" dirty="0"/>
          </a:p>
          <a:p>
            <a:pPr algn="ctr" indent="0" marL="0">
              <a:buNone/>
            </a:pPr>
            <a:r>
              <a:rPr lang="en-US" sz="950" dirty="0">
                <a:solidFill>
                  <a:srgbClr val="A8C4E8"/>
                </a:solidFill>
                <a:latin typeface="Arial" pitchFamily="34" charset="0"/>
                <a:ea typeface="Arial" pitchFamily="34" charset="-122"/>
                <a:cs typeface="Arial" pitchFamily="34" charset="-120"/>
              </a:rPr>
              <a:t>size 2025</a:t>
            </a:r>
            <a:endParaRPr lang="en-US" sz="950" dirty="0"/>
          </a:p>
        </p:txBody>
      </p:sp>
      <p:sp>
        <p:nvSpPr>
          <p:cNvPr id="16" name="Shape 14"/>
          <p:cNvSpPr/>
          <p:nvPr/>
        </p:nvSpPr>
        <p:spPr>
          <a:xfrm>
            <a:off x="7132320" y="2852928"/>
            <a:ext cx="2103120" cy="1005840"/>
          </a:xfrm>
          <a:prstGeom prst="rect">
            <a:avLst>
              <a:gd name="adj" fmla="val 9091"/>
            </a:avLst>
          </a:prstGeom>
          <a:solidFill>
            <a:srgbClr val="5A3E00"/>
          </a:solidFill>
          <a:ln/>
        </p:spPr>
      </p:sp>
      <p:sp>
        <p:nvSpPr>
          <p:cNvPr id="17" name="Text 15"/>
          <p:cNvSpPr/>
          <p:nvPr/>
        </p:nvSpPr>
        <p:spPr>
          <a:xfrm>
            <a:off x="7223760" y="2907792"/>
            <a:ext cx="1920240" cy="475488"/>
          </a:xfrm>
          <a:prstGeom prst="rect">
            <a:avLst/>
          </a:prstGeom>
          <a:noFill/>
          <a:ln/>
        </p:spPr>
        <p:txBody>
          <a:bodyPr wrap="square" lIns="0" tIns="0" rIns="0" bIns="0" rtlCol="0" anchor="b"/>
          <a:lstStyle/>
          <a:p>
            <a:pPr algn="ctr" indent="0" marL="0">
              <a:buNone/>
            </a:pPr>
            <a:r>
              <a:rPr lang="en-US" sz="2400" b="1" dirty="0">
                <a:solidFill>
                  <a:srgbClr val="FFFFFF"/>
                </a:solidFill>
                <a:latin typeface="Arial" pitchFamily="34" charset="0"/>
                <a:ea typeface="Arial" pitchFamily="34" charset="-122"/>
                <a:cs typeface="Arial" pitchFamily="34" charset="-120"/>
              </a:rPr>
              <a:t>Oct 2026</a:t>
            </a:r>
            <a:endParaRPr lang="en-US" sz="2400" dirty="0"/>
          </a:p>
        </p:txBody>
      </p:sp>
      <p:sp>
        <p:nvSpPr>
          <p:cNvPr id="18" name="Text 16"/>
          <p:cNvSpPr/>
          <p:nvPr/>
        </p:nvSpPr>
        <p:spPr>
          <a:xfrm>
            <a:off x="7223760" y="3383280"/>
            <a:ext cx="1920240" cy="411480"/>
          </a:xfrm>
          <a:prstGeom prst="rect">
            <a:avLst/>
          </a:prstGeom>
          <a:noFill/>
          <a:ln/>
        </p:spPr>
        <p:txBody>
          <a:bodyPr wrap="square" lIns="0" tIns="0" rIns="0" bIns="0" rtlCol="0" anchor="t"/>
          <a:lstStyle/>
          <a:p>
            <a:pPr algn="ctr" indent="0" marL="0">
              <a:buNone/>
            </a:pPr>
            <a:r>
              <a:rPr lang="en-US" sz="950" dirty="0">
                <a:solidFill>
                  <a:srgbClr val="A8C4E8"/>
                </a:solidFill>
                <a:latin typeface="Arial" pitchFamily="34" charset="0"/>
                <a:ea typeface="Arial" pitchFamily="34" charset="-122"/>
                <a:cs typeface="Arial" pitchFamily="34" charset="-120"/>
              </a:rPr>
              <a:t>Govt ADAS mandate</a:t>
            </a:r>
            <a:endParaRPr lang="en-US" sz="950" dirty="0"/>
          </a:p>
          <a:p>
            <a:pPr algn="ctr" indent="0" marL="0">
              <a:buNone/>
            </a:pPr>
            <a:r>
              <a:rPr lang="en-US" sz="950" dirty="0">
                <a:solidFill>
                  <a:srgbClr val="A8C4E8"/>
                </a:solidFill>
                <a:latin typeface="Arial" pitchFamily="34" charset="0"/>
                <a:ea typeface="Arial" pitchFamily="34" charset="-122"/>
                <a:cs typeface="Arial" pitchFamily="34" charset="-120"/>
              </a:rPr>
              <a:t>deadline</a:t>
            </a:r>
            <a:endParaRPr lang="en-US" sz="950" dirty="0"/>
          </a:p>
        </p:txBody>
      </p:sp>
      <p:sp>
        <p:nvSpPr>
          <p:cNvPr id="19" name="Text 17"/>
          <p:cNvSpPr/>
          <p:nvPr/>
        </p:nvSpPr>
        <p:spPr>
          <a:xfrm>
            <a:off x="457200" y="4005072"/>
            <a:ext cx="8229600" cy="274320"/>
          </a:xfrm>
          <a:prstGeom prst="rect">
            <a:avLst/>
          </a:prstGeom>
          <a:noFill/>
          <a:ln/>
        </p:spPr>
        <p:txBody>
          <a:bodyPr wrap="square" rtlCol="0" anchor="ctr"/>
          <a:lstStyle/>
          <a:p>
            <a:pPr algn="ctr" indent="0" marL="0">
              <a:buNone/>
            </a:pPr>
            <a:r>
              <a:rPr lang="en-US" sz="1100" i="1" dirty="0">
                <a:solidFill>
                  <a:srgbClr val="7A9BBF"/>
                </a:solidFill>
                <a:latin typeface="Arial" pitchFamily="34" charset="0"/>
                <a:ea typeface="Arial" pitchFamily="34" charset="-122"/>
                <a:cs typeface="Arial" pitchFamily="34" charset="-120"/>
              </a:rPr>
              <a:t>Presented to IIMA Ventures — Aerospace &amp; Defence Acceleration Fund</a:t>
            </a:r>
            <a:endParaRPr lang="en-US" sz="1100" dirty="0"/>
          </a:p>
        </p:txBody>
      </p:sp>
      <p:sp>
        <p:nvSpPr>
          <p:cNvPr id="20" name="Shape 18"/>
          <p:cNvSpPr/>
          <p:nvPr/>
        </p:nvSpPr>
        <p:spPr>
          <a:xfrm>
            <a:off x="0" y="5102352"/>
            <a:ext cx="9144000" cy="59436"/>
          </a:xfrm>
          <a:prstGeom prst="rect">
            <a:avLst/>
          </a:prstGeom>
          <a:solidFill>
            <a:srgbClr val="C94A0A"/>
          </a:solidFill>
          <a:ln/>
        </p:spPr>
      </p:sp>
      <p:sp>
        <p:nvSpPr>
          <p:cNvPr id="21" name="Text 19"/>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02  —  The Founding Team</a:t>
            </a:r>
            <a:endParaRPr lang="en-US" sz="1300" dirty="0"/>
          </a:p>
        </p:txBody>
      </p:sp>
      <p:sp>
        <p:nvSpPr>
          <p:cNvPr id="4" name="Text 2"/>
          <p:cNvSpPr/>
          <p:nvPr/>
        </p:nvSpPr>
        <p:spPr>
          <a:xfrm>
            <a:off x="365760" y="457200"/>
            <a:ext cx="8412480" cy="329184"/>
          </a:xfrm>
          <a:prstGeom prst="rect">
            <a:avLst/>
          </a:prstGeom>
          <a:noFill/>
          <a:ln/>
        </p:spPr>
        <p:txBody>
          <a:bodyPr wrap="square" rtlCol="0" anchor="ctr"/>
          <a:lstStyle/>
          <a:p>
            <a:pPr indent="0" marL="0">
              <a:buNone/>
            </a:pPr>
            <a:r>
              <a:rPr lang="en-US" sz="1700" b="1" dirty="0">
                <a:solidFill>
                  <a:srgbClr val="0D2B4E"/>
                </a:solidFill>
                <a:latin typeface="Arial" pitchFamily="34" charset="0"/>
                <a:ea typeface="Arial" pitchFamily="34" charset="-122"/>
                <a:cs typeface="Arial" pitchFamily="34" charset="-120"/>
              </a:rPr>
              <a:t>Two founders. Deep domain expertise. Built for this problem.</a:t>
            </a:r>
            <a:endParaRPr lang="en-US" sz="1700" dirty="0"/>
          </a:p>
        </p:txBody>
      </p:sp>
      <p:sp>
        <p:nvSpPr>
          <p:cNvPr id="5" name="Shape 3"/>
          <p:cNvSpPr/>
          <p:nvPr/>
        </p:nvSpPr>
        <p:spPr>
          <a:xfrm>
            <a:off x="274320" y="877824"/>
            <a:ext cx="4023360" cy="3291840"/>
          </a:xfrm>
          <a:prstGeom prst="rect">
            <a:avLst/>
          </a:prstGeom>
          <a:solidFill>
            <a:srgbClr val="FFFFFF"/>
          </a:solidFill>
          <a:ln/>
          <a:effectLst>
            <a:outerShdw sx="100000" sy="100000" kx="0" ky="0" algn="bl" rotWithShape="0" blurRad="127000" dist="38100" dir="8100000">
              <a:srgbClr val="000000">
                <a:alpha val="10000"/>
              </a:srgbClr>
            </a:outerShdw>
          </a:effectLst>
        </p:spPr>
      </p:sp>
      <p:sp>
        <p:nvSpPr>
          <p:cNvPr id="6" name="Shape 4"/>
          <p:cNvSpPr/>
          <p:nvPr/>
        </p:nvSpPr>
        <p:spPr>
          <a:xfrm>
            <a:off x="274320" y="877824"/>
            <a:ext cx="73152" cy="3291840"/>
          </a:xfrm>
          <a:prstGeom prst="rect">
            <a:avLst/>
          </a:prstGeom>
          <a:solidFill>
            <a:srgbClr val="C94A0A"/>
          </a:solidFill>
          <a:ln/>
        </p:spPr>
      </p:sp>
      <p:sp>
        <p:nvSpPr>
          <p:cNvPr id="7" name="Text 5"/>
          <p:cNvSpPr/>
          <p:nvPr/>
        </p:nvSpPr>
        <p:spPr>
          <a:xfrm>
            <a:off x="457200" y="969264"/>
            <a:ext cx="3749040" cy="347472"/>
          </a:xfrm>
          <a:prstGeom prst="rect">
            <a:avLst/>
          </a:prstGeom>
          <a:noFill/>
          <a:ln/>
        </p:spPr>
        <p:txBody>
          <a:bodyPr wrap="square" lIns="0" tIns="0" rIns="0" bIns="0" rtlCol="0" anchor="ctr"/>
          <a:lstStyle/>
          <a:p>
            <a:pPr indent="0" marL="0">
              <a:buNone/>
            </a:pPr>
            <a:r>
              <a:rPr lang="en-US" sz="2000" b="1" dirty="0">
                <a:solidFill>
                  <a:srgbClr val="0D2B4E"/>
                </a:solidFill>
                <a:latin typeface="Arial" pitchFamily="34" charset="0"/>
                <a:ea typeface="Arial" pitchFamily="34" charset="-122"/>
                <a:cs typeface="Arial" pitchFamily="34" charset="-120"/>
              </a:rPr>
              <a:t>[FOUNDER NAME]</a:t>
            </a:r>
            <a:endParaRPr lang="en-US" sz="2000" dirty="0"/>
          </a:p>
        </p:txBody>
      </p:sp>
      <p:sp>
        <p:nvSpPr>
          <p:cNvPr id="8" name="Text 6"/>
          <p:cNvSpPr/>
          <p:nvPr/>
        </p:nvSpPr>
        <p:spPr>
          <a:xfrm>
            <a:off x="457200" y="1298448"/>
            <a:ext cx="3749040" cy="256032"/>
          </a:xfrm>
          <a:prstGeom prst="rect">
            <a:avLst/>
          </a:prstGeom>
          <a:noFill/>
          <a:ln/>
        </p:spPr>
        <p:txBody>
          <a:bodyPr wrap="square" lIns="0" tIns="0" rIns="0" bIns="0" rtlCol="0" anchor="ctr"/>
          <a:lstStyle/>
          <a:p>
            <a:pPr indent="0" marL="0">
              <a:buNone/>
            </a:pPr>
            <a:r>
              <a:rPr lang="en-US" sz="1200" i="1" dirty="0">
                <a:solidFill>
                  <a:srgbClr val="C94A0A"/>
                </a:solidFill>
                <a:latin typeface="Arial" pitchFamily="34" charset="0"/>
                <a:ea typeface="Arial" pitchFamily="34" charset="-122"/>
                <a:cs typeface="Arial" pitchFamily="34" charset="-120"/>
              </a:rPr>
              <a:t>CEO &amp; Co-Founder</a:t>
            </a:r>
            <a:endParaRPr lang="en-US" sz="1200" dirty="0"/>
          </a:p>
        </p:txBody>
      </p:sp>
      <p:sp>
        <p:nvSpPr>
          <p:cNvPr id="9" name="Shape 7"/>
          <p:cNvSpPr/>
          <p:nvPr/>
        </p:nvSpPr>
        <p:spPr>
          <a:xfrm>
            <a:off x="457200" y="1591056"/>
            <a:ext cx="3566160" cy="36576"/>
          </a:xfrm>
          <a:prstGeom prst="rect">
            <a:avLst/>
          </a:prstGeom>
          <a:solidFill>
            <a:srgbClr val="E8ECF2"/>
          </a:solidFill>
          <a:ln/>
        </p:spPr>
      </p:sp>
      <p:sp>
        <p:nvSpPr>
          <p:cNvPr id="10" name="Text 8"/>
          <p:cNvSpPr/>
          <p:nvPr/>
        </p:nvSpPr>
        <p:spPr>
          <a:xfrm>
            <a:off x="457200" y="1664208"/>
            <a:ext cx="3657600" cy="274320"/>
          </a:xfrm>
          <a:prstGeom prst="rect">
            <a:avLst/>
          </a:prstGeom>
          <a:noFill/>
          <a:ln/>
        </p:spPr>
        <p:txBody>
          <a:bodyPr wrap="square" lIns="0" tIns="0" rIns="0" bIns="0" rtlCol="0" anchor="ctr"/>
          <a:lstStyle/>
          <a:p>
            <a:pPr indent="0" marL="0">
              <a:buNone/>
            </a:pPr>
            <a:r>
              <a:rPr lang="en-US" sz="950" i="1" dirty="0">
                <a:solidFill>
                  <a:srgbClr val="64748B"/>
                </a:solidFill>
                <a:latin typeface="Arial" pitchFamily="34" charset="0"/>
                <a:ea typeface="Arial" pitchFamily="34" charset="-122"/>
                <a:cs typeface="Arial" pitchFamily="34" charset="-120"/>
              </a:rPr>
              <a:t>Business Development  ·  Strategy  ·  Investor Relations  ·  Fleet Partnerships</a:t>
            </a:r>
            <a:endParaRPr lang="en-US" sz="950" dirty="0"/>
          </a:p>
        </p:txBody>
      </p:sp>
      <p:sp>
        <p:nvSpPr>
          <p:cNvPr id="11" name="Text 9"/>
          <p:cNvSpPr/>
          <p:nvPr/>
        </p:nvSpPr>
        <p:spPr>
          <a:xfrm>
            <a:off x="457200" y="1993392"/>
            <a:ext cx="3657600" cy="2011680"/>
          </a:xfrm>
          <a:prstGeom prst="rect">
            <a:avLst/>
          </a:prstGeom>
          <a:noFill/>
          <a:ln/>
        </p:spPr>
        <p:txBody>
          <a:bodyPr wrap="square" lIns="0" tIns="0" rIns="0" bIns="0" rtlCol="0" anchor="t"/>
          <a:lstStyle/>
          <a:p>
            <a:pPr marL="342900" indent="-342900">
              <a:buSzPct val="100000"/>
              <a:buChar char="•"/>
            </a:pPr>
            <a:r>
              <a:rPr lang="en-US" sz="1100" i="1" dirty="0">
                <a:solidFill>
                  <a:srgbClr val="94A3B8"/>
                </a:solidFill>
                <a:latin typeface="Arial" pitchFamily="34" charset="0"/>
                <a:ea typeface="Arial" pitchFamily="34" charset="-122"/>
                <a:cs typeface="Arial" pitchFamily="34" charset="-120"/>
              </a:rPr>
              <a:t>[Previous: Company — Role — Key achievement]</a:t>
            </a:r>
            <a:endParaRPr lang="en-US" sz="1100" dirty="0"/>
          </a:p>
          <a:p>
            <a:pPr marL="342900" indent="-342900">
              <a:buSzPct val="100000"/>
              <a:buChar char="•"/>
            </a:pPr>
            <a:r>
              <a:rPr lang="en-US" sz="1100" i="1" dirty="0">
                <a:solidFill>
                  <a:srgbClr val="94A3B8"/>
                </a:solidFill>
                <a:latin typeface="Arial" pitchFamily="34" charset="0"/>
                <a:ea typeface="Arial" pitchFamily="34" charset="-122"/>
                <a:cs typeface="Arial" pitchFamily="34" charset="-120"/>
              </a:rPr>
              <a:t>[Education: Degree from Institution]</a:t>
            </a:r>
            <a:endParaRPr lang="en-US" sz="1100" dirty="0"/>
          </a:p>
          <a:p>
            <a:pPr marL="342900" indent="-342900">
              <a:buSzPct val="100000"/>
              <a:buChar char="•"/>
            </a:pPr>
            <a:r>
              <a:rPr lang="en-US" sz="1100" i="1" dirty="0">
                <a:solidFill>
                  <a:srgbClr val="94A3B8"/>
                </a:solidFill>
                <a:latin typeface="Arial" pitchFamily="34" charset="0"/>
                <a:ea typeface="Arial" pitchFamily="34" charset="-122"/>
                <a:cs typeface="Arial" pitchFamily="34" charset="-120"/>
              </a:rPr>
              <a:t>[Why this problem: Personal connection in 1 line]</a:t>
            </a:r>
            <a:endParaRPr lang="en-US" sz="1100" dirty="0"/>
          </a:p>
          <a:p>
            <a:pPr marL="342900" indent="-342900">
              <a:buSzPct val="100000"/>
              <a:buChar char="•"/>
            </a:pPr>
            <a:r>
              <a:rPr lang="en-US" sz="1100" dirty="0">
                <a:solidFill>
                  <a:srgbClr val="334155"/>
                </a:solidFill>
                <a:latin typeface="Arial" pitchFamily="34" charset="0"/>
                <a:ea typeface="Arial" pitchFamily="34" charset="-122"/>
                <a:cs typeface="Arial" pitchFamily="34" charset="-120"/>
              </a:rPr>
              <a:t>Responsible for commercial vision, fleet operator</a:t>
            </a:r>
            <a:endParaRPr lang="en-US" sz="1100" dirty="0"/>
          </a:p>
          <a:p>
            <a:pPr marL="342900" indent="-342900">
              <a:buSzPct val="100000"/>
              <a:buChar char="•"/>
            </a:pPr>
            <a:r>
              <a:rPr lang="en-US" sz="1100" dirty="0">
                <a:solidFill>
                  <a:srgbClr val="334155"/>
                </a:solidFill>
                <a:latin typeface="Arial" pitchFamily="34" charset="0"/>
                <a:ea typeface="Arial" pitchFamily="34" charset="-122"/>
                <a:cs typeface="Arial" pitchFamily="34" charset="-120"/>
              </a:rPr>
              <a:t>relationships, and all investor conversations</a:t>
            </a:r>
            <a:endParaRPr lang="en-US" sz="1100" dirty="0"/>
          </a:p>
        </p:txBody>
      </p:sp>
      <p:sp>
        <p:nvSpPr>
          <p:cNvPr id="12" name="Shape 10"/>
          <p:cNvSpPr/>
          <p:nvPr/>
        </p:nvSpPr>
        <p:spPr>
          <a:xfrm>
            <a:off x="4846320" y="877824"/>
            <a:ext cx="4023360" cy="3291840"/>
          </a:xfrm>
          <a:prstGeom prst="rect">
            <a:avLst/>
          </a:prstGeom>
          <a:solidFill>
            <a:srgbClr val="FFFFFF"/>
          </a:solidFill>
          <a:ln/>
          <a:effectLst>
            <a:outerShdw sx="100000" sy="100000" kx="0" ky="0" algn="bl" rotWithShape="0" blurRad="127000" dist="38100" dir="8100000">
              <a:srgbClr val="000000">
                <a:alpha val="10000"/>
              </a:srgbClr>
            </a:outerShdw>
          </a:effectLst>
        </p:spPr>
      </p:sp>
      <p:sp>
        <p:nvSpPr>
          <p:cNvPr id="13" name="Shape 11"/>
          <p:cNvSpPr/>
          <p:nvPr/>
        </p:nvSpPr>
        <p:spPr>
          <a:xfrm>
            <a:off x="4846320" y="877824"/>
            <a:ext cx="73152" cy="3291840"/>
          </a:xfrm>
          <a:prstGeom prst="rect">
            <a:avLst/>
          </a:prstGeom>
          <a:solidFill>
            <a:srgbClr val="0A6E6E"/>
          </a:solidFill>
          <a:ln/>
        </p:spPr>
      </p:sp>
      <p:sp>
        <p:nvSpPr>
          <p:cNvPr id="14" name="Text 12"/>
          <p:cNvSpPr/>
          <p:nvPr/>
        </p:nvSpPr>
        <p:spPr>
          <a:xfrm>
            <a:off x="5029200" y="969264"/>
            <a:ext cx="3749040" cy="347472"/>
          </a:xfrm>
          <a:prstGeom prst="rect">
            <a:avLst/>
          </a:prstGeom>
          <a:noFill/>
          <a:ln/>
        </p:spPr>
        <p:txBody>
          <a:bodyPr wrap="square" lIns="0" tIns="0" rIns="0" bIns="0" rtlCol="0" anchor="ctr"/>
          <a:lstStyle/>
          <a:p>
            <a:pPr indent="0" marL="0">
              <a:buNone/>
            </a:pPr>
            <a:r>
              <a:rPr lang="en-US" sz="2000" b="1" dirty="0">
                <a:solidFill>
                  <a:srgbClr val="0D2B4E"/>
                </a:solidFill>
                <a:latin typeface="Arial" pitchFamily="34" charset="0"/>
                <a:ea typeface="Arial" pitchFamily="34" charset="-122"/>
                <a:cs typeface="Arial" pitchFamily="34" charset="-120"/>
              </a:rPr>
              <a:t>[CO-FOUNDER NAME]</a:t>
            </a:r>
            <a:endParaRPr lang="en-US" sz="2000" dirty="0"/>
          </a:p>
        </p:txBody>
      </p:sp>
      <p:sp>
        <p:nvSpPr>
          <p:cNvPr id="15" name="Text 13"/>
          <p:cNvSpPr/>
          <p:nvPr/>
        </p:nvSpPr>
        <p:spPr>
          <a:xfrm>
            <a:off x="5029200" y="1298448"/>
            <a:ext cx="3749040" cy="256032"/>
          </a:xfrm>
          <a:prstGeom prst="rect">
            <a:avLst/>
          </a:prstGeom>
          <a:noFill/>
          <a:ln/>
        </p:spPr>
        <p:txBody>
          <a:bodyPr wrap="square" lIns="0" tIns="0" rIns="0" bIns="0" rtlCol="0" anchor="ctr"/>
          <a:lstStyle/>
          <a:p>
            <a:pPr indent="0" marL="0">
              <a:buNone/>
            </a:pPr>
            <a:r>
              <a:rPr lang="en-US" sz="1200" i="1" dirty="0">
                <a:solidFill>
                  <a:srgbClr val="0A6E6E"/>
                </a:solidFill>
                <a:latin typeface="Arial" pitchFamily="34" charset="0"/>
                <a:ea typeface="Arial" pitchFamily="34" charset="-122"/>
                <a:cs typeface="Arial" pitchFamily="34" charset="-120"/>
              </a:rPr>
              <a:t>CTO &amp; Co-Founder</a:t>
            </a:r>
            <a:endParaRPr lang="en-US" sz="1200" dirty="0"/>
          </a:p>
        </p:txBody>
      </p:sp>
      <p:sp>
        <p:nvSpPr>
          <p:cNvPr id="16" name="Shape 14"/>
          <p:cNvSpPr/>
          <p:nvPr/>
        </p:nvSpPr>
        <p:spPr>
          <a:xfrm>
            <a:off x="5029200" y="1591056"/>
            <a:ext cx="3566160" cy="36576"/>
          </a:xfrm>
          <a:prstGeom prst="rect">
            <a:avLst/>
          </a:prstGeom>
          <a:solidFill>
            <a:srgbClr val="E8ECF2"/>
          </a:solidFill>
          <a:ln/>
        </p:spPr>
      </p:sp>
      <p:sp>
        <p:nvSpPr>
          <p:cNvPr id="17" name="Text 15"/>
          <p:cNvSpPr/>
          <p:nvPr/>
        </p:nvSpPr>
        <p:spPr>
          <a:xfrm>
            <a:off x="5029200" y="1664208"/>
            <a:ext cx="3657600" cy="274320"/>
          </a:xfrm>
          <a:prstGeom prst="rect">
            <a:avLst/>
          </a:prstGeom>
          <a:noFill/>
          <a:ln/>
        </p:spPr>
        <p:txBody>
          <a:bodyPr wrap="square" lIns="0" tIns="0" rIns="0" bIns="0" rtlCol="0" anchor="ctr"/>
          <a:lstStyle/>
          <a:p>
            <a:pPr indent="0" marL="0">
              <a:buNone/>
            </a:pPr>
            <a:r>
              <a:rPr lang="en-US" sz="950" i="1" dirty="0">
                <a:solidFill>
                  <a:srgbClr val="64748B"/>
                </a:solidFill>
                <a:latin typeface="Arial" pitchFamily="34" charset="0"/>
                <a:ea typeface="Arial" pitchFamily="34" charset="-122"/>
                <a:cs typeface="Arial" pitchFamily="34" charset="-120"/>
              </a:rPr>
              <a:t>AI/ML Architecture  ·  Hardware Engineering  ·  Edge AI  ·  Embedded Systems</a:t>
            </a:r>
            <a:endParaRPr lang="en-US" sz="950" dirty="0"/>
          </a:p>
        </p:txBody>
      </p:sp>
      <p:sp>
        <p:nvSpPr>
          <p:cNvPr id="18" name="Text 16"/>
          <p:cNvSpPr/>
          <p:nvPr/>
        </p:nvSpPr>
        <p:spPr>
          <a:xfrm>
            <a:off x="5029200" y="1993392"/>
            <a:ext cx="3657600" cy="2011680"/>
          </a:xfrm>
          <a:prstGeom prst="rect">
            <a:avLst/>
          </a:prstGeom>
          <a:noFill/>
          <a:ln/>
        </p:spPr>
        <p:txBody>
          <a:bodyPr wrap="square" lIns="0" tIns="0" rIns="0" bIns="0" rtlCol="0" anchor="t"/>
          <a:lstStyle/>
          <a:p>
            <a:pPr marL="342900" indent="-342900">
              <a:buSzPct val="100000"/>
              <a:buChar char="•"/>
            </a:pPr>
            <a:r>
              <a:rPr lang="en-US" sz="1100" i="1" dirty="0">
                <a:solidFill>
                  <a:srgbClr val="94A3B8"/>
                </a:solidFill>
                <a:latin typeface="Arial" pitchFamily="34" charset="0"/>
                <a:ea typeface="Arial" pitchFamily="34" charset="-122"/>
                <a:cs typeface="Arial" pitchFamily="34" charset="-120"/>
              </a:rPr>
              <a:t>[Previous: Company — Role — Key achievement]</a:t>
            </a:r>
            <a:endParaRPr lang="en-US" sz="1100" dirty="0"/>
          </a:p>
          <a:p>
            <a:pPr marL="342900" indent="-342900">
              <a:buSzPct val="100000"/>
              <a:buChar char="•"/>
            </a:pPr>
            <a:r>
              <a:rPr lang="en-US" sz="1100" i="1" dirty="0">
                <a:solidFill>
                  <a:srgbClr val="94A3B8"/>
                </a:solidFill>
                <a:latin typeface="Arial" pitchFamily="34" charset="0"/>
                <a:ea typeface="Arial" pitchFamily="34" charset="-122"/>
                <a:cs typeface="Arial" pitchFamily="34" charset="-120"/>
              </a:rPr>
              <a:t>[Education: Degree from Institution]</a:t>
            </a:r>
            <a:endParaRPr lang="en-US" sz="1100" dirty="0"/>
          </a:p>
          <a:p>
            <a:pPr marL="342900" indent="-342900">
              <a:buSzPct val="100000"/>
              <a:buChar char="•"/>
            </a:pPr>
            <a:r>
              <a:rPr lang="en-US" sz="1100" i="1" dirty="0">
                <a:solidFill>
                  <a:srgbClr val="94A3B8"/>
                </a:solidFill>
                <a:latin typeface="Arial" pitchFamily="34" charset="0"/>
                <a:ea typeface="Arial" pitchFamily="34" charset="-122"/>
                <a:cs typeface="Arial" pitchFamily="34" charset="-120"/>
              </a:rPr>
              <a:t>[Technical specialization: Computer vision / Edge AI]</a:t>
            </a:r>
            <a:endParaRPr lang="en-US" sz="1100" dirty="0"/>
          </a:p>
          <a:p>
            <a:pPr marL="342900" indent="-342900">
              <a:buSzPct val="100000"/>
              <a:buChar char="•"/>
            </a:pPr>
            <a:r>
              <a:rPr lang="en-US" sz="1100" dirty="0">
                <a:solidFill>
                  <a:srgbClr val="334155"/>
                </a:solidFill>
                <a:latin typeface="Arial" pitchFamily="34" charset="0"/>
                <a:ea typeface="Arial" pitchFamily="34" charset="-122"/>
                <a:cs typeface="Arial" pitchFamily="34" charset="-120"/>
              </a:rPr>
              <a:t>Owns entire tech stack from hardware BOM to AI</a:t>
            </a:r>
            <a:endParaRPr lang="en-US" sz="1100" dirty="0"/>
          </a:p>
          <a:p>
            <a:pPr marL="342900" indent="-342900">
              <a:buSzPct val="100000"/>
              <a:buChar char="•"/>
            </a:pPr>
            <a:r>
              <a:rPr lang="en-US" sz="1100" dirty="0">
                <a:solidFill>
                  <a:srgbClr val="334155"/>
                </a:solidFill>
                <a:latin typeface="Arial" pitchFamily="34" charset="0"/>
                <a:ea typeface="Arial" pitchFamily="34" charset="-122"/>
                <a:cs typeface="Arial" pitchFamily="34" charset="-120"/>
              </a:rPr>
              <a:t>model — drowsiness + collision prediction</a:t>
            </a:r>
            <a:endParaRPr lang="en-US" sz="1100" dirty="0"/>
          </a:p>
        </p:txBody>
      </p:sp>
      <p:sp>
        <p:nvSpPr>
          <p:cNvPr id="19" name="Shape 17"/>
          <p:cNvSpPr/>
          <p:nvPr/>
        </p:nvSpPr>
        <p:spPr>
          <a:xfrm>
            <a:off x="274320" y="4279392"/>
            <a:ext cx="8595360" cy="384048"/>
          </a:xfrm>
          <a:prstGeom prst="rect">
            <a:avLst/>
          </a:prstGeom>
          <a:solidFill>
            <a:srgbClr val="EAF0F8"/>
          </a:solidFill>
          <a:ln/>
        </p:spPr>
      </p:sp>
      <p:sp>
        <p:nvSpPr>
          <p:cNvPr id="20" name="Text 18"/>
          <p:cNvSpPr/>
          <p:nvPr/>
        </p:nvSpPr>
        <p:spPr>
          <a:xfrm>
            <a:off x="457200" y="4279392"/>
            <a:ext cx="8229600" cy="384048"/>
          </a:xfrm>
          <a:prstGeom prst="rect">
            <a:avLst/>
          </a:prstGeom>
          <a:noFill/>
          <a:ln/>
        </p:spPr>
        <p:txBody>
          <a:bodyPr wrap="square" rtlCol="0" anchor="ctr"/>
          <a:lstStyle/>
          <a:p>
            <a:pPr indent="0" marL="0">
              <a:buNone/>
            </a:pPr>
            <a:r>
              <a:rPr lang="en-US" sz="1000" i="1" dirty="0">
                <a:solidFill>
                  <a:srgbClr val="1A5FA5"/>
                </a:solidFill>
                <a:latin typeface="Arial" pitchFamily="34" charset="0"/>
                <a:ea typeface="Arial" pitchFamily="34" charset="-122"/>
                <a:cs typeface="Arial" pitchFamily="34" charset="-120"/>
              </a:rPr>
              <a:t>⚑  Fill in the grey placeholders with your actual backgrounds before submission</a:t>
            </a:r>
            <a:endParaRPr lang="en-US" sz="1000" dirty="0"/>
          </a:p>
        </p:txBody>
      </p:sp>
      <p:sp>
        <p:nvSpPr>
          <p:cNvPr id="21" name="Text 19"/>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22" name="Text 20"/>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03  —  The Problem</a:t>
            </a:r>
            <a:endParaRPr lang="en-US" sz="1300" dirty="0"/>
          </a:p>
        </p:txBody>
      </p:sp>
      <p:sp>
        <p:nvSpPr>
          <p:cNvPr id="4" name="Shape 2"/>
          <p:cNvSpPr/>
          <p:nvPr/>
        </p:nvSpPr>
        <p:spPr>
          <a:xfrm>
            <a:off x="0" y="347472"/>
            <a:ext cx="3474720" cy="4754880"/>
          </a:xfrm>
          <a:prstGeom prst="rect">
            <a:avLst/>
          </a:prstGeom>
          <a:solidFill>
            <a:srgbClr val="0A1929"/>
          </a:solidFill>
          <a:ln/>
        </p:spPr>
      </p:sp>
      <p:sp>
        <p:nvSpPr>
          <p:cNvPr id="5" name="Text 3"/>
          <p:cNvSpPr/>
          <p:nvPr/>
        </p:nvSpPr>
        <p:spPr>
          <a:xfrm>
            <a:off x="182880" y="502920"/>
            <a:ext cx="3108960" cy="155448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India.</a:t>
            </a:r>
            <a:endParaRPr lang="en-US" sz="2200" dirty="0"/>
          </a:p>
          <a:p>
            <a:pPr indent="0" marL="0">
              <a:buNone/>
            </a:pPr>
            <a:r>
              <a:rPr lang="en-US" sz="2200" b="1" dirty="0">
                <a:solidFill>
                  <a:srgbClr val="FFFFFF"/>
                </a:solidFill>
                <a:latin typeface="Arial" pitchFamily="34" charset="0"/>
                <a:ea typeface="Arial" pitchFamily="34" charset="-122"/>
                <a:cs typeface="Arial" pitchFamily="34" charset="-120"/>
              </a:rPr>
              <a:t>1 death</a:t>
            </a:r>
            <a:endParaRPr lang="en-US" sz="2200" dirty="0"/>
          </a:p>
          <a:p>
            <a:pPr indent="0" marL="0">
              <a:buNone/>
            </a:pPr>
            <a:r>
              <a:rPr lang="en-US" sz="2200" b="1" dirty="0">
                <a:solidFill>
                  <a:srgbClr val="FFFFFF"/>
                </a:solidFill>
                <a:latin typeface="Arial" pitchFamily="34" charset="0"/>
                <a:ea typeface="Arial" pitchFamily="34" charset="-122"/>
                <a:cs typeface="Arial" pitchFamily="34" charset="-120"/>
              </a:rPr>
              <a:t>every 3</a:t>
            </a:r>
            <a:endParaRPr lang="en-US" sz="2200" dirty="0"/>
          </a:p>
          <a:p>
            <a:pPr indent="0" marL="0">
              <a:buNone/>
            </a:pPr>
            <a:r>
              <a:rPr lang="en-US" sz="2200" b="1" dirty="0">
                <a:solidFill>
                  <a:srgbClr val="FFFFFF"/>
                </a:solidFill>
                <a:latin typeface="Arial" pitchFamily="34" charset="0"/>
                <a:ea typeface="Arial" pitchFamily="34" charset="-122"/>
                <a:cs typeface="Arial" pitchFamily="34" charset="-120"/>
              </a:rPr>
              <a:t>minutes.</a:t>
            </a:r>
            <a:endParaRPr lang="en-US" sz="2200" dirty="0"/>
          </a:p>
        </p:txBody>
      </p:sp>
      <p:sp>
        <p:nvSpPr>
          <p:cNvPr id="6" name="Text 4"/>
          <p:cNvSpPr/>
          <p:nvPr/>
        </p:nvSpPr>
        <p:spPr>
          <a:xfrm>
            <a:off x="182880" y="2212848"/>
            <a:ext cx="3108960" cy="310896"/>
          </a:xfrm>
          <a:prstGeom prst="rect">
            <a:avLst/>
          </a:prstGeom>
          <a:noFill/>
          <a:ln/>
        </p:spPr>
        <p:txBody>
          <a:bodyPr wrap="square" lIns="0" tIns="0" rIns="0" bIns="0" rtlCol="0" anchor="ctr"/>
          <a:lstStyle/>
          <a:p>
            <a:pPr indent="0" marL="0">
              <a:buNone/>
            </a:pPr>
            <a:r>
              <a:rPr lang="en-US" sz="2000" b="1" dirty="0">
                <a:solidFill>
                  <a:srgbClr val="C94A0A"/>
                </a:solidFill>
                <a:latin typeface="Arial" pitchFamily="34" charset="0"/>
                <a:ea typeface="Arial" pitchFamily="34" charset="-122"/>
                <a:cs typeface="Arial" pitchFamily="34" charset="-120"/>
              </a:rPr>
              <a:t>4.73 Lakh</a:t>
            </a:r>
            <a:endParaRPr lang="en-US" sz="2000" dirty="0"/>
          </a:p>
        </p:txBody>
      </p:sp>
      <p:sp>
        <p:nvSpPr>
          <p:cNvPr id="7" name="Text 5"/>
          <p:cNvSpPr/>
          <p:nvPr/>
        </p:nvSpPr>
        <p:spPr>
          <a:xfrm>
            <a:off x="182880" y="2514600"/>
            <a:ext cx="3108960" cy="256032"/>
          </a:xfrm>
          <a:prstGeom prst="rect">
            <a:avLst/>
          </a:prstGeom>
          <a:noFill/>
          <a:ln/>
        </p:spPr>
        <p:txBody>
          <a:bodyPr wrap="square" lIns="0" tIns="0" rIns="0" bIns="0" rtlCol="0" anchor="ctr"/>
          <a:lstStyle/>
          <a:p>
            <a:pPr indent="0" marL="0">
              <a:buNone/>
            </a:pPr>
            <a:r>
              <a:rPr lang="en-US" sz="1000" dirty="0">
                <a:solidFill>
                  <a:srgbClr val="A8C4E8"/>
                </a:solidFill>
                <a:latin typeface="Arial" pitchFamily="34" charset="0"/>
                <a:ea typeface="Arial" pitchFamily="34" charset="-122"/>
                <a:cs typeface="Arial" pitchFamily="34" charset="-120"/>
              </a:rPr>
              <a:t>Road accidents (2024)</a:t>
            </a:r>
            <a:endParaRPr lang="en-US" sz="1000" dirty="0"/>
          </a:p>
        </p:txBody>
      </p:sp>
      <p:sp>
        <p:nvSpPr>
          <p:cNvPr id="8" name="Text 6"/>
          <p:cNvSpPr/>
          <p:nvPr/>
        </p:nvSpPr>
        <p:spPr>
          <a:xfrm>
            <a:off x="182880" y="2816352"/>
            <a:ext cx="3108960" cy="310896"/>
          </a:xfrm>
          <a:prstGeom prst="rect">
            <a:avLst/>
          </a:prstGeom>
          <a:noFill/>
          <a:ln/>
        </p:spPr>
        <p:txBody>
          <a:bodyPr wrap="square" lIns="0" tIns="0" rIns="0" bIns="0" rtlCol="0" anchor="ctr"/>
          <a:lstStyle/>
          <a:p>
            <a:pPr indent="0" marL="0">
              <a:buNone/>
            </a:pPr>
            <a:r>
              <a:rPr lang="en-US" sz="2000" b="1" dirty="0">
                <a:solidFill>
                  <a:srgbClr val="C94A0A"/>
                </a:solidFill>
                <a:latin typeface="Arial" pitchFamily="34" charset="0"/>
                <a:ea typeface="Arial" pitchFamily="34" charset="-122"/>
                <a:cs typeface="Arial" pitchFamily="34" charset="-120"/>
              </a:rPr>
              <a:t>1.70 Lakh</a:t>
            </a:r>
            <a:endParaRPr lang="en-US" sz="2000" dirty="0"/>
          </a:p>
        </p:txBody>
      </p:sp>
      <p:sp>
        <p:nvSpPr>
          <p:cNvPr id="9" name="Text 7"/>
          <p:cNvSpPr/>
          <p:nvPr/>
        </p:nvSpPr>
        <p:spPr>
          <a:xfrm>
            <a:off x="182880" y="3118104"/>
            <a:ext cx="3108960" cy="256032"/>
          </a:xfrm>
          <a:prstGeom prst="rect">
            <a:avLst/>
          </a:prstGeom>
          <a:noFill/>
          <a:ln/>
        </p:spPr>
        <p:txBody>
          <a:bodyPr wrap="square" lIns="0" tIns="0" rIns="0" bIns="0" rtlCol="0" anchor="ctr"/>
          <a:lstStyle/>
          <a:p>
            <a:pPr indent="0" marL="0">
              <a:buNone/>
            </a:pPr>
            <a:r>
              <a:rPr lang="en-US" sz="1000" dirty="0">
                <a:solidFill>
                  <a:srgbClr val="A8C4E8"/>
                </a:solidFill>
                <a:latin typeface="Arial" pitchFamily="34" charset="0"/>
                <a:ea typeface="Arial" pitchFamily="34" charset="-122"/>
                <a:cs typeface="Arial" pitchFamily="34" charset="-120"/>
              </a:rPr>
              <a:t>Deaths annually</a:t>
            </a:r>
            <a:endParaRPr lang="en-US" sz="1000" dirty="0"/>
          </a:p>
        </p:txBody>
      </p:sp>
      <p:sp>
        <p:nvSpPr>
          <p:cNvPr id="10" name="Text 8"/>
          <p:cNvSpPr/>
          <p:nvPr/>
        </p:nvSpPr>
        <p:spPr>
          <a:xfrm>
            <a:off x="182880" y="3419856"/>
            <a:ext cx="3108960" cy="310896"/>
          </a:xfrm>
          <a:prstGeom prst="rect">
            <a:avLst/>
          </a:prstGeom>
          <a:noFill/>
          <a:ln/>
        </p:spPr>
        <p:txBody>
          <a:bodyPr wrap="square" lIns="0" tIns="0" rIns="0" bIns="0" rtlCol="0" anchor="ctr"/>
          <a:lstStyle/>
          <a:p>
            <a:pPr indent="0" marL="0">
              <a:buNone/>
            </a:pPr>
            <a:r>
              <a:rPr lang="en-US" sz="2000" b="1" dirty="0">
                <a:solidFill>
                  <a:srgbClr val="C94A0A"/>
                </a:solidFill>
                <a:latin typeface="Arial" pitchFamily="34" charset="0"/>
                <a:ea typeface="Arial" pitchFamily="34" charset="-122"/>
                <a:cs typeface="Arial" pitchFamily="34" charset="-120"/>
              </a:rPr>
              <a:t>39%</a:t>
            </a:r>
            <a:endParaRPr lang="en-US" sz="2000" dirty="0"/>
          </a:p>
        </p:txBody>
      </p:sp>
      <p:sp>
        <p:nvSpPr>
          <p:cNvPr id="11" name="Text 9"/>
          <p:cNvSpPr/>
          <p:nvPr/>
        </p:nvSpPr>
        <p:spPr>
          <a:xfrm>
            <a:off x="182880" y="3721608"/>
            <a:ext cx="3108960" cy="256032"/>
          </a:xfrm>
          <a:prstGeom prst="rect">
            <a:avLst/>
          </a:prstGeom>
          <a:noFill/>
          <a:ln/>
        </p:spPr>
        <p:txBody>
          <a:bodyPr wrap="square" lIns="0" tIns="0" rIns="0" bIns="0" rtlCol="0" anchor="ctr"/>
          <a:lstStyle/>
          <a:p>
            <a:pPr indent="0" marL="0">
              <a:buNone/>
            </a:pPr>
            <a:r>
              <a:rPr lang="en-US" sz="1000" dirty="0">
                <a:solidFill>
                  <a:srgbClr val="A8C4E8"/>
                </a:solidFill>
                <a:latin typeface="Arial" pitchFamily="34" charset="0"/>
                <a:ea typeface="Arial" pitchFamily="34" charset="-122"/>
                <a:cs typeface="Arial" pitchFamily="34" charset="-120"/>
              </a:rPr>
              <a:t>On National Highways</a:t>
            </a:r>
            <a:endParaRPr lang="en-US" sz="1000" dirty="0"/>
          </a:p>
        </p:txBody>
      </p:sp>
      <p:sp>
        <p:nvSpPr>
          <p:cNvPr id="12" name="Text 10"/>
          <p:cNvSpPr/>
          <p:nvPr/>
        </p:nvSpPr>
        <p:spPr>
          <a:xfrm>
            <a:off x="182880" y="4023360"/>
            <a:ext cx="3108960" cy="310896"/>
          </a:xfrm>
          <a:prstGeom prst="rect">
            <a:avLst/>
          </a:prstGeom>
          <a:noFill/>
          <a:ln/>
        </p:spPr>
        <p:txBody>
          <a:bodyPr wrap="square" lIns="0" tIns="0" rIns="0" bIns="0" rtlCol="0" anchor="ctr"/>
          <a:lstStyle/>
          <a:p>
            <a:pPr indent="0" marL="0">
              <a:buNone/>
            </a:pPr>
            <a:r>
              <a:rPr lang="en-US" sz="2000" b="1" dirty="0">
                <a:solidFill>
                  <a:srgbClr val="C94A0A"/>
                </a:solidFill>
                <a:latin typeface="Arial" pitchFamily="34" charset="0"/>
                <a:ea typeface="Arial" pitchFamily="34" charset="-122"/>
                <a:cs typeface="Arial" pitchFamily="34" charset="-120"/>
              </a:rPr>
              <a:t>₹1.47L Cr</a:t>
            </a:r>
            <a:endParaRPr lang="en-US" sz="2000" dirty="0"/>
          </a:p>
        </p:txBody>
      </p:sp>
      <p:sp>
        <p:nvSpPr>
          <p:cNvPr id="13" name="Text 11"/>
          <p:cNvSpPr/>
          <p:nvPr/>
        </p:nvSpPr>
        <p:spPr>
          <a:xfrm>
            <a:off x="182880" y="4325112"/>
            <a:ext cx="3108960" cy="256032"/>
          </a:xfrm>
          <a:prstGeom prst="rect">
            <a:avLst/>
          </a:prstGeom>
          <a:noFill/>
          <a:ln/>
        </p:spPr>
        <p:txBody>
          <a:bodyPr wrap="square" lIns="0" tIns="0" rIns="0" bIns="0" rtlCol="0" anchor="ctr"/>
          <a:lstStyle/>
          <a:p>
            <a:pPr indent="0" marL="0">
              <a:buNone/>
            </a:pPr>
            <a:r>
              <a:rPr lang="en-US" sz="1000" dirty="0">
                <a:solidFill>
                  <a:srgbClr val="A8C4E8"/>
                </a:solidFill>
                <a:latin typeface="Arial" pitchFamily="34" charset="0"/>
                <a:ea typeface="Arial" pitchFamily="34" charset="-122"/>
                <a:cs typeface="Arial" pitchFamily="34" charset="-120"/>
              </a:rPr>
              <a:t>Economic loss/year</a:t>
            </a:r>
            <a:endParaRPr lang="en-US" sz="1000" dirty="0"/>
          </a:p>
        </p:txBody>
      </p:sp>
      <p:sp>
        <p:nvSpPr>
          <p:cNvPr id="14" name="Text 12"/>
          <p:cNvSpPr/>
          <p:nvPr/>
        </p:nvSpPr>
        <p:spPr>
          <a:xfrm>
            <a:off x="3657600" y="438912"/>
            <a:ext cx="5212080" cy="329184"/>
          </a:xfrm>
          <a:prstGeom prst="rect">
            <a:avLst/>
          </a:prstGeom>
          <a:noFill/>
          <a:ln/>
        </p:spPr>
        <p:txBody>
          <a:bodyPr wrap="square" lIns="0" tIns="0" rIns="0" bIns="0" rtlCol="0" anchor="ctr"/>
          <a:lstStyle/>
          <a:p>
            <a:pPr indent="0" marL="0">
              <a:buNone/>
            </a:pPr>
            <a:r>
              <a:rPr lang="en-US" sz="1600" b="1" dirty="0">
                <a:solidFill>
                  <a:srgbClr val="0D2B4E"/>
                </a:solidFill>
                <a:latin typeface="Arial" pitchFamily="34" charset="0"/>
                <a:ea typeface="Arial" pitchFamily="34" charset="-122"/>
                <a:cs typeface="Arial" pitchFamily="34" charset="-120"/>
              </a:rPr>
              <a:t>Current solutions fail India's 10M fleet drivers</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566160" y="859536"/>
          <a:ext cx="5349240" cy="2286000"/>
        </p:xfrm>
        <a:graphic>
          <a:graphicData uri="http://schemas.openxmlformats.org/drawingml/2006/table">
            <a:tbl>
              <a:tblPr/>
              <a:tblGrid>
                <a:gridCol w="1371600"/>
                <a:gridCol w="1920240"/>
                <a:gridCol w="2057400"/>
              </a:tblGrid>
              <a:tr h="402336">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Current Solution</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What It Does</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Critical Gap</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r>
              <a:tr h="402336">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GPS Tracking</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Shows WHERE accident happened</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Cannot predict it 8 seconds before</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Mobileye / Bosch</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Warns on premium OEM vehicles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₹40,000+ — unaffordable for fleets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Driver Training</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Improves behavior over months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Cannot stop drowsy driver at 3am on NH-44</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No Internet = Nothing</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All solutions need connectivity</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Garuda works OFFLINE via BLE mesh</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6" name="Shape 13"/>
          <p:cNvSpPr/>
          <p:nvPr/>
        </p:nvSpPr>
        <p:spPr>
          <a:xfrm>
            <a:off x="3566160" y="3273552"/>
            <a:ext cx="1719072" cy="1005840"/>
          </a:xfrm>
          <a:prstGeom prst="rect">
            <a:avLst/>
          </a:prstGeom>
          <a:solidFill>
            <a:srgbClr val="FCEAEA"/>
          </a:solidFill>
          <a:ln/>
        </p:spPr>
      </p:sp>
      <p:sp>
        <p:nvSpPr>
          <p:cNvPr id="17" name="Shape 14"/>
          <p:cNvSpPr/>
          <p:nvPr/>
        </p:nvSpPr>
        <p:spPr>
          <a:xfrm>
            <a:off x="3566160" y="3273552"/>
            <a:ext cx="1719072" cy="54864"/>
          </a:xfrm>
          <a:prstGeom prst="rect">
            <a:avLst/>
          </a:prstGeom>
          <a:solidFill>
            <a:srgbClr val="8B1A1A"/>
          </a:solidFill>
          <a:ln/>
        </p:spPr>
      </p:sp>
      <p:sp>
        <p:nvSpPr>
          <p:cNvPr id="18" name="Text 15"/>
          <p:cNvSpPr/>
          <p:nvPr/>
        </p:nvSpPr>
        <p:spPr>
          <a:xfrm>
            <a:off x="3657600" y="3346704"/>
            <a:ext cx="1536192" cy="237744"/>
          </a:xfrm>
          <a:prstGeom prst="rect">
            <a:avLst/>
          </a:prstGeom>
          <a:noFill/>
          <a:ln/>
        </p:spPr>
        <p:txBody>
          <a:bodyPr wrap="square" lIns="0" tIns="0" rIns="0" bIns="0" rtlCol="0" anchor="ctr"/>
          <a:lstStyle/>
          <a:p>
            <a:pPr indent="0" marL="0">
              <a:buNone/>
            </a:pPr>
            <a:r>
              <a:rPr lang="en-US" sz="1100" b="1" dirty="0">
                <a:solidFill>
                  <a:srgbClr val="8B1A1A"/>
                </a:solidFill>
                <a:latin typeface="Arial" pitchFamily="34" charset="0"/>
                <a:ea typeface="Arial" pitchFamily="34" charset="-122"/>
                <a:cs typeface="Arial" pitchFamily="34" charset="-120"/>
              </a:rPr>
              <a:t>Drowsy driving</a:t>
            </a:r>
            <a:endParaRPr lang="en-US" sz="1100" dirty="0"/>
          </a:p>
        </p:txBody>
      </p:sp>
      <p:sp>
        <p:nvSpPr>
          <p:cNvPr id="19" name="Text 16"/>
          <p:cNvSpPr/>
          <p:nvPr/>
        </p:nvSpPr>
        <p:spPr>
          <a:xfrm>
            <a:off x="3657600" y="3584448"/>
            <a:ext cx="1536192" cy="621792"/>
          </a:xfrm>
          <a:prstGeom prst="rect">
            <a:avLst/>
          </a:prstGeom>
          <a:noFill/>
          <a:ln/>
        </p:spPr>
        <p:txBody>
          <a:bodyPr wrap="square" lIns="0" tIns="0" rIns="0" bIns="0" rtlCol="0" anchor="ctr"/>
          <a:lstStyle/>
          <a:p>
            <a:pPr indent="0" marL="0">
              <a:buNone/>
            </a:pPr>
            <a:r>
              <a:rPr lang="en-US" sz="900" dirty="0">
                <a:solidFill>
                  <a:srgbClr val="334155"/>
                </a:solidFill>
                <a:latin typeface="Arial" pitchFamily="34" charset="0"/>
                <a:ea typeface="Arial" pitchFamily="34" charset="-122"/>
                <a:cs typeface="Arial" pitchFamily="34" charset="-120"/>
              </a:rPr>
              <a:t>Driver fatigue accounts for 40%+ of NH accidents. No affordable detection system exists at scale.</a:t>
            </a:r>
            <a:endParaRPr lang="en-US" sz="900" dirty="0"/>
          </a:p>
        </p:txBody>
      </p:sp>
      <p:sp>
        <p:nvSpPr>
          <p:cNvPr id="20" name="Shape 17"/>
          <p:cNvSpPr/>
          <p:nvPr/>
        </p:nvSpPr>
        <p:spPr>
          <a:xfrm>
            <a:off x="5358384" y="3273552"/>
            <a:ext cx="1719072" cy="1005840"/>
          </a:xfrm>
          <a:prstGeom prst="rect">
            <a:avLst/>
          </a:prstGeom>
          <a:solidFill>
            <a:srgbClr val="FEF0E7"/>
          </a:solidFill>
          <a:ln/>
        </p:spPr>
      </p:sp>
      <p:sp>
        <p:nvSpPr>
          <p:cNvPr id="21" name="Shape 18"/>
          <p:cNvSpPr/>
          <p:nvPr/>
        </p:nvSpPr>
        <p:spPr>
          <a:xfrm>
            <a:off x="5358384" y="3273552"/>
            <a:ext cx="1719072" cy="54864"/>
          </a:xfrm>
          <a:prstGeom prst="rect">
            <a:avLst/>
          </a:prstGeom>
          <a:solidFill>
            <a:srgbClr val="C94A0A"/>
          </a:solidFill>
          <a:ln/>
        </p:spPr>
      </p:sp>
      <p:sp>
        <p:nvSpPr>
          <p:cNvPr id="22" name="Text 19"/>
          <p:cNvSpPr/>
          <p:nvPr/>
        </p:nvSpPr>
        <p:spPr>
          <a:xfrm>
            <a:off x="5449824" y="3346704"/>
            <a:ext cx="1536192" cy="237744"/>
          </a:xfrm>
          <a:prstGeom prst="rect">
            <a:avLst/>
          </a:prstGeom>
          <a:noFill/>
          <a:ln/>
        </p:spPr>
        <p:txBody>
          <a:bodyPr wrap="square" lIns="0" tIns="0" rIns="0" bIns="0" rtlCol="0" anchor="ctr"/>
          <a:lstStyle/>
          <a:p>
            <a:pPr indent="0" marL="0">
              <a:buNone/>
            </a:pPr>
            <a:r>
              <a:rPr lang="en-US" sz="1100" b="1" dirty="0">
                <a:solidFill>
                  <a:srgbClr val="C94A0A"/>
                </a:solidFill>
                <a:latin typeface="Arial" pitchFamily="34" charset="0"/>
                <a:ea typeface="Arial" pitchFamily="34" charset="-122"/>
                <a:cs typeface="Arial" pitchFamily="34" charset="-120"/>
              </a:rPr>
              <a:t>No offline solution</a:t>
            </a:r>
            <a:endParaRPr lang="en-US" sz="1100" dirty="0"/>
          </a:p>
        </p:txBody>
      </p:sp>
      <p:sp>
        <p:nvSpPr>
          <p:cNvPr id="23" name="Text 20"/>
          <p:cNvSpPr/>
          <p:nvPr/>
        </p:nvSpPr>
        <p:spPr>
          <a:xfrm>
            <a:off x="5449824" y="3584448"/>
            <a:ext cx="1536192" cy="621792"/>
          </a:xfrm>
          <a:prstGeom prst="rect">
            <a:avLst/>
          </a:prstGeom>
          <a:noFill/>
          <a:ln/>
        </p:spPr>
        <p:txBody>
          <a:bodyPr wrap="square" lIns="0" tIns="0" rIns="0" bIns="0" rtlCol="0" anchor="ctr"/>
          <a:lstStyle/>
          <a:p>
            <a:pPr indent="0" marL="0">
              <a:buNone/>
            </a:pPr>
            <a:r>
              <a:rPr lang="en-US" sz="900" dirty="0">
                <a:solidFill>
                  <a:srgbClr val="334155"/>
                </a:solidFill>
                <a:latin typeface="Arial" pitchFamily="34" charset="0"/>
                <a:ea typeface="Arial" pitchFamily="34" charset="-122"/>
                <a:cs typeface="Arial" pitchFamily="34" charset="-120"/>
              </a:rPr>
              <a:t>Network dead zones cover 35%+ of Indian highway corridors. Most safety tech fails without internet.</a:t>
            </a:r>
            <a:endParaRPr lang="en-US" sz="900" dirty="0"/>
          </a:p>
        </p:txBody>
      </p:sp>
      <p:sp>
        <p:nvSpPr>
          <p:cNvPr id="24" name="Shape 21"/>
          <p:cNvSpPr/>
          <p:nvPr/>
        </p:nvSpPr>
        <p:spPr>
          <a:xfrm>
            <a:off x="7150608" y="3273552"/>
            <a:ext cx="1719072" cy="1005840"/>
          </a:xfrm>
          <a:prstGeom prst="rect">
            <a:avLst/>
          </a:prstGeom>
          <a:solidFill>
            <a:srgbClr val="F0EBF8"/>
          </a:solidFill>
          <a:ln/>
        </p:spPr>
      </p:sp>
      <p:sp>
        <p:nvSpPr>
          <p:cNvPr id="25" name="Shape 22"/>
          <p:cNvSpPr/>
          <p:nvPr/>
        </p:nvSpPr>
        <p:spPr>
          <a:xfrm>
            <a:off x="7150608" y="3273552"/>
            <a:ext cx="1719072" cy="54864"/>
          </a:xfrm>
          <a:prstGeom prst="rect">
            <a:avLst/>
          </a:prstGeom>
          <a:solidFill>
            <a:srgbClr val="4A2D7A"/>
          </a:solidFill>
          <a:ln/>
        </p:spPr>
      </p:sp>
      <p:sp>
        <p:nvSpPr>
          <p:cNvPr id="26" name="Text 23"/>
          <p:cNvSpPr/>
          <p:nvPr/>
        </p:nvSpPr>
        <p:spPr>
          <a:xfrm>
            <a:off x="7242048" y="3346704"/>
            <a:ext cx="1536192" cy="237744"/>
          </a:xfrm>
          <a:prstGeom prst="rect">
            <a:avLst/>
          </a:prstGeom>
          <a:noFill/>
          <a:ln/>
        </p:spPr>
        <p:txBody>
          <a:bodyPr wrap="square" lIns="0" tIns="0" rIns="0" bIns="0" rtlCol="0" anchor="ctr"/>
          <a:lstStyle/>
          <a:p>
            <a:pPr indent="0" marL="0">
              <a:buNone/>
            </a:pPr>
            <a:r>
              <a:rPr lang="en-US" sz="1100" b="1" dirty="0">
                <a:solidFill>
                  <a:srgbClr val="4A2D7A"/>
                </a:solidFill>
                <a:latin typeface="Arial" pitchFamily="34" charset="0"/>
                <a:ea typeface="Arial" pitchFamily="34" charset="-122"/>
                <a:cs typeface="Arial" pitchFamily="34" charset="-120"/>
              </a:rPr>
              <a:t>Language barrier</a:t>
            </a:r>
            <a:endParaRPr lang="en-US" sz="1100" dirty="0"/>
          </a:p>
        </p:txBody>
      </p:sp>
      <p:sp>
        <p:nvSpPr>
          <p:cNvPr id="27" name="Text 24"/>
          <p:cNvSpPr/>
          <p:nvPr/>
        </p:nvSpPr>
        <p:spPr>
          <a:xfrm>
            <a:off x="7242048" y="3584448"/>
            <a:ext cx="1536192" cy="621792"/>
          </a:xfrm>
          <a:prstGeom prst="rect">
            <a:avLst/>
          </a:prstGeom>
          <a:noFill/>
          <a:ln/>
        </p:spPr>
        <p:txBody>
          <a:bodyPr wrap="square" lIns="0" tIns="0" rIns="0" bIns="0" rtlCol="0" anchor="ctr"/>
          <a:lstStyle/>
          <a:p>
            <a:pPr indent="0" marL="0">
              <a:buNone/>
            </a:pPr>
            <a:r>
              <a:rPr lang="en-US" sz="900" dirty="0">
                <a:solidFill>
                  <a:srgbClr val="334155"/>
                </a:solidFill>
                <a:latin typeface="Arial" pitchFamily="34" charset="0"/>
                <a:ea typeface="Arial" pitchFamily="34" charset="-122"/>
                <a:cs typeface="Arial" pitchFamily="34" charset="-120"/>
              </a:rPr>
              <a:t>80% of truck drivers are non-English speakers. No system speaks Hindi, Telugu, or Tamil to them.</a:t>
            </a:r>
            <a:endParaRPr lang="en-US" sz="900" dirty="0"/>
          </a:p>
        </p:txBody>
      </p:sp>
      <p:sp>
        <p:nvSpPr>
          <p:cNvPr id="28" name="Shape 25"/>
          <p:cNvSpPr/>
          <p:nvPr/>
        </p:nvSpPr>
        <p:spPr>
          <a:xfrm>
            <a:off x="3566160" y="4370832"/>
            <a:ext cx="5349240" cy="566928"/>
          </a:xfrm>
          <a:prstGeom prst="rect">
            <a:avLst/>
          </a:prstGeom>
          <a:solidFill>
            <a:srgbClr val="FEF0E7"/>
          </a:solidFill>
          <a:ln/>
        </p:spPr>
      </p:sp>
      <p:sp>
        <p:nvSpPr>
          <p:cNvPr id="29" name="Shape 26"/>
          <p:cNvSpPr/>
          <p:nvPr/>
        </p:nvSpPr>
        <p:spPr>
          <a:xfrm>
            <a:off x="3566160" y="4370832"/>
            <a:ext cx="54864" cy="566928"/>
          </a:xfrm>
          <a:prstGeom prst="rect">
            <a:avLst/>
          </a:prstGeom>
          <a:solidFill>
            <a:srgbClr val="C94A0A"/>
          </a:solidFill>
          <a:ln/>
        </p:spPr>
      </p:sp>
      <p:sp>
        <p:nvSpPr>
          <p:cNvPr id="30" name="Text 27"/>
          <p:cNvSpPr/>
          <p:nvPr/>
        </p:nvSpPr>
        <p:spPr>
          <a:xfrm>
            <a:off x="3694176" y="4462272"/>
            <a:ext cx="5166360" cy="256032"/>
          </a:xfrm>
          <a:prstGeom prst="rect">
            <a:avLst/>
          </a:prstGeom>
          <a:noFill/>
          <a:ln/>
        </p:spPr>
        <p:txBody>
          <a:bodyPr wrap="square" lIns="0" tIns="0" rIns="0" bIns="0" rtlCol="0" anchor="ctr"/>
          <a:lstStyle/>
          <a:p>
            <a:pPr indent="0" marL="0">
              <a:buNone/>
            </a:pPr>
            <a:r>
              <a:rPr lang="en-US" sz="1200" b="1" dirty="0">
                <a:solidFill>
                  <a:srgbClr val="C94A0A"/>
                </a:solidFill>
                <a:latin typeface="Arial" pitchFamily="34" charset="0"/>
                <a:ea typeface="Arial" pitchFamily="34" charset="-122"/>
                <a:cs typeface="Arial" pitchFamily="34" charset="-120"/>
              </a:rPr>
              <a:t>The Gap</a:t>
            </a:r>
            <a:endParaRPr lang="en-US" sz="1200" dirty="0"/>
          </a:p>
        </p:txBody>
      </p:sp>
      <p:sp>
        <p:nvSpPr>
          <p:cNvPr id="31" name="Text 28"/>
          <p:cNvSpPr/>
          <p:nvPr/>
        </p:nvSpPr>
        <p:spPr>
          <a:xfrm>
            <a:off x="3694176" y="4718304"/>
            <a:ext cx="5166360" cy="128016"/>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No solution speaks the driver's language, works offline, and costs under ₹5,000/month. Garuda does all three.</a:t>
            </a:r>
            <a:endParaRPr lang="en-US" sz="1100" dirty="0"/>
          </a:p>
        </p:txBody>
      </p:sp>
      <p:sp>
        <p:nvSpPr>
          <p:cNvPr id="32" name="Text 29"/>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33" name="Text 30"/>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04  —  The Solution</a:t>
            </a:r>
            <a:endParaRPr lang="en-US" sz="1300" dirty="0"/>
          </a:p>
        </p:txBody>
      </p:sp>
      <p:sp>
        <p:nvSpPr>
          <p:cNvPr id="4" name="Text 2"/>
          <p:cNvSpPr/>
          <p:nvPr/>
        </p:nvSpPr>
        <p:spPr>
          <a:xfrm>
            <a:off x="274320" y="457200"/>
            <a:ext cx="8595360" cy="347472"/>
          </a:xfrm>
          <a:prstGeom prst="rect">
            <a:avLst/>
          </a:prstGeom>
          <a:noFill/>
          <a:ln/>
        </p:spPr>
        <p:txBody>
          <a:bodyPr wrap="square" rtlCol="0" anchor="ctr"/>
          <a:lstStyle/>
          <a:p>
            <a:pPr indent="0" marL="0">
              <a:buNone/>
            </a:pPr>
            <a:r>
              <a:rPr lang="en-US" sz="1900" b="1" dirty="0">
                <a:solidFill>
                  <a:srgbClr val="0D2B4E"/>
                </a:solidFill>
                <a:latin typeface="Arial" pitchFamily="34" charset="0"/>
                <a:ea typeface="Arial" pitchFamily="34" charset="-122"/>
                <a:cs typeface="Arial" pitchFamily="34" charset="-120"/>
              </a:rPr>
              <a:t>Garuda: The AI Co-Driver Every Driver Deserves</a:t>
            </a:r>
            <a:endParaRPr lang="en-US" sz="1900" dirty="0"/>
          </a:p>
        </p:txBody>
      </p:sp>
      <p:sp>
        <p:nvSpPr>
          <p:cNvPr id="5" name="Text 3"/>
          <p:cNvSpPr/>
          <p:nvPr/>
        </p:nvSpPr>
        <p:spPr>
          <a:xfrm>
            <a:off x="274320" y="777240"/>
            <a:ext cx="8595360" cy="256032"/>
          </a:xfrm>
          <a:prstGeom prst="rect">
            <a:avLst/>
          </a:prstGeom>
          <a:noFill/>
          <a:ln/>
        </p:spPr>
        <p:txBody>
          <a:bodyPr wrap="square" rtlCol="0" anchor="ctr"/>
          <a:lstStyle/>
          <a:p>
            <a:pPr indent="0" marL="0">
              <a:buNone/>
            </a:pPr>
            <a:r>
              <a:rPr lang="en-US" sz="1300" i="1" dirty="0">
                <a:solidFill>
                  <a:srgbClr val="C94A0A"/>
                </a:solidFill>
                <a:latin typeface="Arial" pitchFamily="34" charset="0"/>
                <a:ea typeface="Arial" pitchFamily="34" charset="-122"/>
                <a:cs typeface="Arial" pitchFamily="34" charset="-120"/>
              </a:rPr>
              <a:t>Not a warning system. A friend who cares.</a:t>
            </a:r>
            <a:endParaRPr lang="en-US" sz="1300" dirty="0"/>
          </a:p>
        </p:txBody>
      </p:sp>
      <p:sp>
        <p:nvSpPr>
          <p:cNvPr id="6" name="Shape 4"/>
          <p:cNvSpPr/>
          <p:nvPr/>
        </p:nvSpPr>
        <p:spPr>
          <a:xfrm>
            <a:off x="3200400" y="1115568"/>
            <a:ext cx="2743200" cy="2743200"/>
          </a:xfrm>
          <a:prstGeom prst="rect">
            <a:avLst>
              <a:gd name="adj" fmla="val 5000"/>
            </a:avLst>
          </a:prstGeom>
          <a:solidFill>
            <a:srgbClr val="0A1929"/>
          </a:solidFill>
          <a:ln/>
        </p:spPr>
      </p:sp>
      <p:sp>
        <p:nvSpPr>
          <p:cNvPr id="7" name="Text 5"/>
          <p:cNvSpPr/>
          <p:nvPr/>
        </p:nvSpPr>
        <p:spPr>
          <a:xfrm>
            <a:off x="3200400" y="1737360"/>
            <a:ext cx="2743200" cy="731520"/>
          </a:xfrm>
          <a:prstGeom prst="rect">
            <a:avLst/>
          </a:prstGeom>
          <a:noFill/>
          <a:ln/>
        </p:spPr>
        <p:txBody>
          <a:bodyPr wrap="square" rtlCol="0" anchor="ctr"/>
          <a:lstStyle/>
          <a:p>
            <a:pPr algn="ctr" indent="0" marL="0">
              <a:buNone/>
            </a:pPr>
            <a:r>
              <a:rPr lang="en-US" sz="1800" b="1" spc="200" kern="0" dirty="0">
                <a:solidFill>
                  <a:srgbClr val="FFFFFF"/>
                </a:solidFill>
                <a:latin typeface="Arial" pitchFamily="34" charset="0"/>
                <a:ea typeface="Arial" pitchFamily="34" charset="-122"/>
                <a:cs typeface="Arial" pitchFamily="34" charset="-120"/>
              </a:rPr>
              <a:t>GARUDA</a:t>
            </a:r>
            <a:endParaRPr lang="en-US" sz="1800" dirty="0"/>
          </a:p>
          <a:p>
            <a:pPr algn="ctr" indent="0" marL="0">
              <a:buNone/>
            </a:pPr>
            <a:r>
              <a:rPr lang="en-US" sz="1800" b="1" spc="200" kern="0" dirty="0">
                <a:solidFill>
                  <a:srgbClr val="FFFFFF"/>
                </a:solidFill>
                <a:latin typeface="Arial" pitchFamily="34" charset="0"/>
                <a:ea typeface="Arial" pitchFamily="34" charset="-122"/>
                <a:cs typeface="Arial" pitchFamily="34" charset="-120"/>
              </a:rPr>
              <a:t>DEVICE</a:t>
            </a:r>
            <a:endParaRPr lang="en-US" sz="1800" dirty="0"/>
          </a:p>
        </p:txBody>
      </p:sp>
      <p:sp>
        <p:nvSpPr>
          <p:cNvPr id="8" name="Text 6"/>
          <p:cNvSpPr/>
          <p:nvPr/>
        </p:nvSpPr>
        <p:spPr>
          <a:xfrm>
            <a:off x="3200400" y="2468880"/>
            <a:ext cx="2743200" cy="274320"/>
          </a:xfrm>
          <a:prstGeom prst="rect">
            <a:avLst/>
          </a:prstGeom>
          <a:noFill/>
          <a:ln/>
        </p:spPr>
        <p:txBody>
          <a:bodyPr wrap="square" rtlCol="0" anchor="ctr"/>
          <a:lstStyle/>
          <a:p>
            <a:pPr algn="ctr" indent="0" marL="0">
              <a:buNone/>
            </a:pPr>
            <a:r>
              <a:rPr lang="en-US" sz="1000" dirty="0">
                <a:solidFill>
                  <a:srgbClr val="A8C4E8"/>
                </a:solidFill>
                <a:latin typeface="Arial" pitchFamily="34" charset="0"/>
                <a:ea typeface="Arial" pitchFamily="34" charset="-122"/>
                <a:cs typeface="Arial" pitchFamily="34" charset="-120"/>
              </a:rPr>
              <a:t>Hardware + AI + SaaS</a:t>
            </a:r>
            <a:endParaRPr lang="en-US" sz="1000" dirty="0"/>
          </a:p>
        </p:txBody>
      </p:sp>
      <p:sp>
        <p:nvSpPr>
          <p:cNvPr id="9" name="Shape 7"/>
          <p:cNvSpPr/>
          <p:nvPr/>
        </p:nvSpPr>
        <p:spPr>
          <a:xfrm>
            <a:off x="3383280" y="2834640"/>
            <a:ext cx="2377440" cy="36576"/>
          </a:xfrm>
          <a:prstGeom prst="oval">
            <a:avLst/>
          </a:prstGeom>
          <a:solidFill>
            <a:srgbClr val="C94A0A"/>
          </a:solidFill>
          <a:ln/>
        </p:spPr>
      </p:sp>
      <p:sp>
        <p:nvSpPr>
          <p:cNvPr id="10" name="Shape 8"/>
          <p:cNvSpPr/>
          <p:nvPr/>
        </p:nvSpPr>
        <p:spPr>
          <a:xfrm>
            <a:off x="137160" y="1115568"/>
            <a:ext cx="2944368"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9"/>
          <p:cNvSpPr/>
          <p:nvPr/>
        </p:nvSpPr>
        <p:spPr>
          <a:xfrm>
            <a:off x="137160" y="1115568"/>
            <a:ext cx="2944368" cy="54864"/>
          </a:xfrm>
          <a:prstGeom prst="rect">
            <a:avLst/>
          </a:prstGeom>
          <a:solidFill>
            <a:srgbClr val="C94A0A"/>
          </a:solidFill>
          <a:ln/>
        </p:spPr>
      </p:sp>
      <p:sp>
        <p:nvSpPr>
          <p:cNvPr id="12" name="Text 10"/>
          <p:cNvSpPr/>
          <p:nvPr/>
        </p:nvSpPr>
        <p:spPr>
          <a:xfrm>
            <a:off x="246888" y="1207008"/>
            <a:ext cx="2761488" cy="274320"/>
          </a:xfrm>
          <a:prstGeom prst="rect">
            <a:avLst/>
          </a:prstGeom>
          <a:noFill/>
          <a:ln/>
        </p:spPr>
        <p:txBody>
          <a:bodyPr wrap="square" lIns="0" tIns="0" rIns="0" bIns="0" rtlCol="0" anchor="ctr"/>
          <a:lstStyle/>
          <a:p>
            <a:pPr indent="0" marL="0">
              <a:buNone/>
            </a:pPr>
            <a:r>
              <a:rPr lang="en-US" sz="1200" b="1" dirty="0">
                <a:solidFill>
                  <a:srgbClr val="C94A0A"/>
                </a:solidFill>
                <a:latin typeface="Arial" pitchFamily="34" charset="0"/>
                <a:ea typeface="Arial" pitchFamily="34" charset="-122"/>
                <a:cs typeface="Arial" pitchFamily="34" charset="-120"/>
              </a:rPr>
              <a:t>Accident Prediction</a:t>
            </a:r>
            <a:endParaRPr lang="en-US" sz="1200" dirty="0"/>
          </a:p>
        </p:txBody>
      </p:sp>
      <p:sp>
        <p:nvSpPr>
          <p:cNvPr id="13" name="Text 11"/>
          <p:cNvSpPr/>
          <p:nvPr/>
        </p:nvSpPr>
        <p:spPr>
          <a:xfrm>
            <a:off x="246888" y="1481328"/>
            <a:ext cx="2761488" cy="100584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Real-time risk score 0–10</a:t>
            </a:r>
            <a:endParaRPr lang="en-US" sz="950" dirty="0"/>
          </a:p>
          <a:p>
            <a:pPr indent="0" marL="0">
              <a:buNone/>
            </a:pPr>
            <a:r>
              <a:rPr lang="en-US" sz="950" dirty="0">
                <a:solidFill>
                  <a:srgbClr val="334155"/>
                </a:solidFill>
                <a:latin typeface="Arial" pitchFamily="34" charset="0"/>
                <a:ea typeface="Arial" pitchFamily="34" charset="-122"/>
                <a:cs typeface="Arial" pitchFamily="34" charset="-120"/>
              </a:rPr>
              <a:t>CNN + LSTM + Graph Neural Net</a:t>
            </a:r>
            <a:endParaRPr lang="en-US" sz="950" dirty="0"/>
          </a:p>
          <a:p>
            <a:pPr indent="0" marL="0">
              <a:buNone/>
            </a:pPr>
            <a:r>
              <a:rPr lang="en-US" sz="950" dirty="0">
                <a:solidFill>
                  <a:srgbClr val="334155"/>
                </a:solidFill>
                <a:latin typeface="Arial" pitchFamily="34" charset="0"/>
                <a:ea typeface="Arial" pitchFamily="34" charset="-122"/>
                <a:cs typeface="Arial" pitchFamily="34" charset="-120"/>
              </a:rPr>
              <a:t>Edge inference &lt;100ms</a:t>
            </a:r>
            <a:endParaRPr lang="en-US" sz="950" dirty="0"/>
          </a:p>
        </p:txBody>
      </p:sp>
      <p:sp>
        <p:nvSpPr>
          <p:cNvPr id="14" name="Shape 12"/>
          <p:cNvSpPr/>
          <p:nvPr/>
        </p:nvSpPr>
        <p:spPr>
          <a:xfrm>
            <a:off x="137160" y="2706624"/>
            <a:ext cx="2944368"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137160" y="2706624"/>
            <a:ext cx="2944368" cy="54864"/>
          </a:xfrm>
          <a:prstGeom prst="rect">
            <a:avLst/>
          </a:prstGeom>
          <a:solidFill>
            <a:srgbClr val="8B1A1A"/>
          </a:solidFill>
          <a:ln/>
        </p:spPr>
      </p:sp>
      <p:sp>
        <p:nvSpPr>
          <p:cNvPr id="16" name="Text 14"/>
          <p:cNvSpPr/>
          <p:nvPr/>
        </p:nvSpPr>
        <p:spPr>
          <a:xfrm>
            <a:off x="246888" y="2798064"/>
            <a:ext cx="2761488" cy="274320"/>
          </a:xfrm>
          <a:prstGeom prst="rect">
            <a:avLst/>
          </a:prstGeom>
          <a:noFill/>
          <a:ln/>
        </p:spPr>
        <p:txBody>
          <a:bodyPr wrap="square" lIns="0" tIns="0" rIns="0" bIns="0" rtlCol="0" anchor="ctr"/>
          <a:lstStyle/>
          <a:p>
            <a:pPr indent="0" marL="0">
              <a:buNone/>
            </a:pPr>
            <a:r>
              <a:rPr lang="en-US" sz="1200" b="1" dirty="0">
                <a:solidFill>
                  <a:srgbClr val="8B1A1A"/>
                </a:solidFill>
                <a:latin typeface="Arial" pitchFamily="34" charset="0"/>
                <a:ea typeface="Arial" pitchFamily="34" charset="-122"/>
                <a:cs typeface="Arial" pitchFamily="34" charset="-120"/>
              </a:rPr>
              <a:t>Drowsiness Detection</a:t>
            </a:r>
            <a:endParaRPr lang="en-US" sz="1200" dirty="0"/>
          </a:p>
        </p:txBody>
      </p:sp>
      <p:sp>
        <p:nvSpPr>
          <p:cNvPr id="17" name="Text 15"/>
          <p:cNvSpPr/>
          <p:nvPr/>
        </p:nvSpPr>
        <p:spPr>
          <a:xfrm>
            <a:off x="246888" y="3072384"/>
            <a:ext cx="2761488" cy="100584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Eye Aspect Ratio (EAR)</a:t>
            </a:r>
            <a:endParaRPr lang="en-US" sz="950" dirty="0"/>
          </a:p>
          <a:p>
            <a:pPr indent="0" marL="0">
              <a:buNone/>
            </a:pPr>
            <a:r>
              <a:rPr lang="en-US" sz="950" dirty="0">
                <a:solidFill>
                  <a:srgbClr val="334155"/>
                </a:solidFill>
                <a:latin typeface="Arial" pitchFamily="34" charset="0"/>
                <a:ea typeface="Arial" pitchFamily="34" charset="-122"/>
                <a:cs typeface="Arial" pitchFamily="34" charset="-120"/>
              </a:rPr>
              <a:t>Head pose estimation</a:t>
            </a:r>
            <a:endParaRPr lang="en-US" sz="950" dirty="0"/>
          </a:p>
          <a:p>
            <a:pPr indent="0" marL="0">
              <a:buNone/>
            </a:pPr>
            <a:r>
              <a:rPr lang="en-US" sz="950" dirty="0">
                <a:solidFill>
                  <a:srgbClr val="334155"/>
                </a:solidFill>
                <a:latin typeface="Arial" pitchFamily="34" charset="0"/>
                <a:ea typeface="Arial" pitchFamily="34" charset="-122"/>
                <a:cs typeface="Arial" pitchFamily="34" charset="-120"/>
              </a:rPr>
              <a:t>Alerts before microsleep</a:t>
            </a:r>
            <a:endParaRPr lang="en-US" sz="950" dirty="0"/>
          </a:p>
        </p:txBody>
      </p:sp>
      <p:sp>
        <p:nvSpPr>
          <p:cNvPr id="18" name="Shape 16"/>
          <p:cNvSpPr/>
          <p:nvPr/>
        </p:nvSpPr>
        <p:spPr>
          <a:xfrm>
            <a:off x="6263640" y="1115568"/>
            <a:ext cx="2944368"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6263640" y="1115568"/>
            <a:ext cx="2944368" cy="54864"/>
          </a:xfrm>
          <a:prstGeom prst="rect">
            <a:avLst/>
          </a:prstGeom>
          <a:solidFill>
            <a:srgbClr val="0A6E6E"/>
          </a:solidFill>
          <a:ln/>
        </p:spPr>
      </p:sp>
      <p:sp>
        <p:nvSpPr>
          <p:cNvPr id="20" name="Text 18"/>
          <p:cNvSpPr/>
          <p:nvPr/>
        </p:nvSpPr>
        <p:spPr>
          <a:xfrm>
            <a:off x="6373368" y="1207008"/>
            <a:ext cx="2761488" cy="274320"/>
          </a:xfrm>
          <a:prstGeom prst="rect">
            <a:avLst/>
          </a:prstGeom>
          <a:noFill/>
          <a:ln/>
        </p:spPr>
        <p:txBody>
          <a:bodyPr wrap="square" lIns="0" tIns="0" rIns="0" bIns="0" rtlCol="0" anchor="ctr"/>
          <a:lstStyle/>
          <a:p>
            <a:pPr indent="0" marL="0">
              <a:buNone/>
            </a:pPr>
            <a:r>
              <a:rPr lang="en-US" sz="1200" b="1" dirty="0">
                <a:solidFill>
                  <a:srgbClr val="0A6E6E"/>
                </a:solidFill>
                <a:latin typeface="Arial" pitchFamily="34" charset="0"/>
                <a:ea typeface="Arial" pitchFamily="34" charset="-122"/>
                <a:cs typeface="Arial" pitchFamily="34" charset="-120"/>
              </a:rPr>
              <a:t>AI Voice Co-Driver</a:t>
            </a:r>
            <a:endParaRPr lang="en-US" sz="1200" dirty="0"/>
          </a:p>
        </p:txBody>
      </p:sp>
      <p:sp>
        <p:nvSpPr>
          <p:cNvPr id="21" name="Text 19"/>
          <p:cNvSpPr/>
          <p:nvPr/>
        </p:nvSpPr>
        <p:spPr>
          <a:xfrm>
            <a:off x="6373368" y="1481328"/>
            <a:ext cx="2761488" cy="100584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Hindi + 6 regional languages</a:t>
            </a:r>
            <a:endParaRPr lang="en-US" sz="950" dirty="0"/>
          </a:p>
          <a:p>
            <a:pPr indent="0" marL="0">
              <a:buNone/>
            </a:pPr>
            <a:r>
              <a:rPr lang="en-US" sz="950" dirty="0">
                <a:solidFill>
                  <a:srgbClr val="334155"/>
                </a:solidFill>
                <a:latin typeface="Arial" pitchFamily="34" charset="0"/>
                <a:ea typeface="Arial" pitchFamily="34" charset="-122"/>
                <a:cs typeface="Arial" pitchFamily="34" charset="-120"/>
              </a:rPr>
              <a:t>Warm, unhurried tone</a:t>
            </a:r>
            <a:endParaRPr lang="en-US" sz="950" dirty="0"/>
          </a:p>
          <a:p>
            <a:pPr indent="0" marL="0">
              <a:buNone/>
            </a:pPr>
            <a:r>
              <a:rPr lang="en-US" sz="950" dirty="0">
                <a:solidFill>
                  <a:srgbClr val="334155"/>
                </a:solidFill>
                <a:latin typeface="Arial" pitchFamily="34" charset="0"/>
                <a:ea typeface="Arial" pitchFamily="34" charset="-122"/>
                <a:cs typeface="Arial" pitchFamily="34" charset="-120"/>
              </a:rPr>
              <a:t>Context-aware guidance</a:t>
            </a:r>
            <a:endParaRPr lang="en-US" sz="950" dirty="0"/>
          </a:p>
        </p:txBody>
      </p:sp>
      <p:sp>
        <p:nvSpPr>
          <p:cNvPr id="22" name="Shape 20"/>
          <p:cNvSpPr/>
          <p:nvPr/>
        </p:nvSpPr>
        <p:spPr>
          <a:xfrm>
            <a:off x="6263640" y="2706624"/>
            <a:ext cx="2944368" cy="14630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3" name="Shape 21"/>
          <p:cNvSpPr/>
          <p:nvPr/>
        </p:nvSpPr>
        <p:spPr>
          <a:xfrm>
            <a:off x="6263640" y="2706624"/>
            <a:ext cx="2944368" cy="54864"/>
          </a:xfrm>
          <a:prstGeom prst="rect">
            <a:avLst/>
          </a:prstGeom>
          <a:solidFill>
            <a:srgbClr val="4A2D7A"/>
          </a:solidFill>
          <a:ln/>
        </p:spPr>
      </p:sp>
      <p:sp>
        <p:nvSpPr>
          <p:cNvPr id="24" name="Text 22"/>
          <p:cNvSpPr/>
          <p:nvPr/>
        </p:nvSpPr>
        <p:spPr>
          <a:xfrm>
            <a:off x="6373368" y="2798064"/>
            <a:ext cx="2761488" cy="274320"/>
          </a:xfrm>
          <a:prstGeom prst="rect">
            <a:avLst/>
          </a:prstGeom>
          <a:noFill/>
          <a:ln/>
        </p:spPr>
        <p:txBody>
          <a:bodyPr wrap="square" lIns="0" tIns="0" rIns="0" bIns="0" rtlCol="0" anchor="ctr"/>
          <a:lstStyle/>
          <a:p>
            <a:pPr indent="0" marL="0">
              <a:buNone/>
            </a:pPr>
            <a:r>
              <a:rPr lang="en-US" sz="1200" b="1" dirty="0">
                <a:solidFill>
                  <a:srgbClr val="4A2D7A"/>
                </a:solidFill>
                <a:latin typeface="Arial" pitchFamily="34" charset="0"/>
                <a:ea typeface="Arial" pitchFamily="34" charset="-122"/>
                <a:cs typeface="Arial" pitchFamily="34" charset="-120"/>
              </a:rPr>
              <a:t>Offline BLE Mesh</a:t>
            </a:r>
            <a:endParaRPr lang="en-US" sz="1200" dirty="0"/>
          </a:p>
        </p:txBody>
      </p:sp>
      <p:sp>
        <p:nvSpPr>
          <p:cNvPr id="25" name="Text 23"/>
          <p:cNvSpPr/>
          <p:nvPr/>
        </p:nvSpPr>
        <p:spPr>
          <a:xfrm>
            <a:off x="6373368" y="3072384"/>
            <a:ext cx="2761488" cy="100584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V2V without internet</a:t>
            </a:r>
            <a:endParaRPr lang="en-US" sz="950" dirty="0"/>
          </a:p>
          <a:p>
            <a:pPr indent="0" marL="0">
              <a:buNone/>
            </a:pPr>
            <a:r>
              <a:rPr lang="en-US" sz="950" dirty="0">
                <a:solidFill>
                  <a:srgbClr val="334155"/>
                </a:solidFill>
                <a:latin typeface="Arial" pitchFamily="34" charset="0"/>
                <a:ea typeface="Arial" pitchFamily="34" charset="-122"/>
                <a:cs typeface="Arial" pitchFamily="34" charset="-120"/>
              </a:rPr>
              <a:t>&lt;200ms broadcast range</a:t>
            </a:r>
            <a:endParaRPr lang="en-US" sz="950" dirty="0"/>
          </a:p>
          <a:p>
            <a:pPr indent="0" marL="0">
              <a:buNone/>
            </a:pPr>
            <a:r>
              <a:rPr lang="en-US" sz="950" dirty="0">
                <a:solidFill>
                  <a:srgbClr val="334155"/>
                </a:solidFill>
                <a:latin typeface="Arial" pitchFamily="34" charset="0"/>
                <a:ea typeface="Arial" pitchFamily="34" charset="-122"/>
                <a:cs typeface="Arial" pitchFamily="34" charset="-120"/>
              </a:rPr>
              <a:t>500m+ corridor coverage</a:t>
            </a:r>
            <a:endParaRPr lang="en-US" sz="950" dirty="0"/>
          </a:p>
        </p:txBody>
      </p:sp>
      <p:sp>
        <p:nvSpPr>
          <p:cNvPr id="26" name="Shape 24"/>
          <p:cNvSpPr/>
          <p:nvPr/>
        </p:nvSpPr>
        <p:spPr>
          <a:xfrm>
            <a:off x="3200400" y="4023360"/>
            <a:ext cx="2743200" cy="749808"/>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7" name="Shape 25"/>
          <p:cNvSpPr/>
          <p:nvPr/>
        </p:nvSpPr>
        <p:spPr>
          <a:xfrm>
            <a:off x="3200400" y="4023360"/>
            <a:ext cx="2743200" cy="54864"/>
          </a:xfrm>
          <a:prstGeom prst="rect">
            <a:avLst/>
          </a:prstGeom>
          <a:solidFill>
            <a:srgbClr val="1A5C35"/>
          </a:solidFill>
          <a:ln/>
        </p:spPr>
      </p:sp>
      <p:sp>
        <p:nvSpPr>
          <p:cNvPr id="28" name="Text 26"/>
          <p:cNvSpPr/>
          <p:nvPr/>
        </p:nvSpPr>
        <p:spPr>
          <a:xfrm>
            <a:off x="3310128" y="4114800"/>
            <a:ext cx="2560320" cy="274320"/>
          </a:xfrm>
          <a:prstGeom prst="rect">
            <a:avLst/>
          </a:prstGeom>
          <a:noFill/>
          <a:ln/>
        </p:spPr>
        <p:txBody>
          <a:bodyPr wrap="square" lIns="0" tIns="0" rIns="0" bIns="0" rtlCol="0" anchor="ctr"/>
          <a:lstStyle/>
          <a:p>
            <a:pPr indent="0" marL="0">
              <a:buNone/>
            </a:pPr>
            <a:r>
              <a:rPr lang="en-US" sz="1200" b="1" dirty="0">
                <a:solidFill>
                  <a:srgbClr val="1A5C35"/>
                </a:solidFill>
                <a:latin typeface="Arial" pitchFamily="34" charset="0"/>
                <a:ea typeface="Arial" pitchFamily="34" charset="-122"/>
                <a:cs typeface="Arial" pitchFamily="34" charset="-120"/>
              </a:rPr>
              <a:t>Continuous Learning</a:t>
            </a:r>
            <a:endParaRPr lang="en-US" sz="1200" dirty="0"/>
          </a:p>
        </p:txBody>
      </p:sp>
      <p:sp>
        <p:nvSpPr>
          <p:cNvPr id="29" name="Text 27"/>
          <p:cNvSpPr/>
          <p:nvPr/>
        </p:nvSpPr>
        <p:spPr>
          <a:xfrm>
            <a:off x="3310128" y="4389120"/>
            <a:ext cx="2560320" cy="292608"/>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OTA model updates weekly  ·  Data moat builds every km</a:t>
            </a:r>
            <a:endParaRPr lang="en-US" sz="950" dirty="0"/>
          </a:p>
        </p:txBody>
      </p:sp>
      <p:sp>
        <p:nvSpPr>
          <p:cNvPr id="30" name="Text 28"/>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31" name="Text 29"/>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05  —  Why Now? Market Opportunity</a:t>
            </a:r>
            <a:endParaRPr lang="en-US" sz="1300" dirty="0"/>
          </a:p>
        </p:txBody>
      </p:sp>
      <p:sp>
        <p:nvSpPr>
          <p:cNvPr id="4" name="Text 2"/>
          <p:cNvSpPr/>
          <p:nvPr/>
        </p:nvSpPr>
        <p:spPr>
          <a:xfrm>
            <a:off x="274320" y="457200"/>
            <a:ext cx="8595360" cy="329184"/>
          </a:xfrm>
          <a:prstGeom prst="rect">
            <a:avLst/>
          </a:prstGeom>
          <a:noFill/>
          <a:ln/>
        </p:spPr>
        <p:txBody>
          <a:bodyPr wrap="square" rtlCol="0" anchor="ctr"/>
          <a:lstStyle/>
          <a:p>
            <a:pPr indent="0" marL="0">
              <a:buNone/>
            </a:pPr>
            <a:r>
              <a:rPr lang="en-US" sz="1700" b="1" dirty="0">
                <a:solidFill>
                  <a:srgbClr val="0D2B4E"/>
                </a:solidFill>
                <a:latin typeface="Arial" pitchFamily="34" charset="0"/>
                <a:ea typeface="Arial" pitchFamily="34" charset="-122"/>
                <a:cs typeface="Arial" pitchFamily="34" charset="-120"/>
              </a:rPr>
              <a:t>A ₹7 Lakh Crore market — with a government-mandated deadline</a:t>
            </a:r>
            <a:endParaRPr lang="en-US" sz="1700" dirty="0"/>
          </a:p>
        </p:txBody>
      </p:sp>
      <p:sp>
        <p:nvSpPr>
          <p:cNvPr id="5" name="Text 3"/>
          <p:cNvSpPr/>
          <p:nvPr/>
        </p:nvSpPr>
        <p:spPr>
          <a:xfrm>
            <a:off x="274320" y="896112"/>
            <a:ext cx="4023360" cy="274320"/>
          </a:xfrm>
          <a:prstGeom prst="rect">
            <a:avLst/>
          </a:prstGeom>
          <a:noFill/>
          <a:ln/>
        </p:spPr>
        <p:txBody>
          <a:bodyPr wrap="square" rtlCol="0" anchor="ctr"/>
          <a:lstStyle/>
          <a:p>
            <a:pPr indent="0" marL="0">
              <a:buNone/>
            </a:pPr>
            <a:r>
              <a:rPr lang="en-US" sz="1300" b="1" dirty="0">
                <a:solidFill>
                  <a:srgbClr val="0D2B4E"/>
                </a:solidFill>
                <a:latin typeface="Arial" pitchFamily="34" charset="0"/>
                <a:ea typeface="Arial" pitchFamily="34" charset="-122"/>
                <a:cs typeface="Arial" pitchFamily="34" charset="-120"/>
              </a:rPr>
              <a:t>Market Size</a:t>
            </a:r>
            <a:endParaRPr lang="en-US" sz="1300" dirty="0"/>
          </a:p>
        </p:txBody>
      </p:sp>
      <p:sp>
        <p:nvSpPr>
          <p:cNvPr id="6" name="Shape 4"/>
          <p:cNvSpPr/>
          <p:nvPr/>
        </p:nvSpPr>
        <p:spPr>
          <a:xfrm>
            <a:off x="274320" y="1225296"/>
            <a:ext cx="4023360" cy="749808"/>
          </a:xfrm>
          <a:prstGeom prst="rect">
            <a:avLst/>
          </a:prstGeom>
          <a:solidFill>
            <a:srgbClr val="E6F1FB"/>
          </a:solidFill>
          <a:ln w="19050">
            <a:solidFill>
              <a:srgbClr val="0D2B4E"/>
            </a:solidFill>
            <a:prstDash val="solid"/>
          </a:ln>
        </p:spPr>
      </p:sp>
      <p:sp>
        <p:nvSpPr>
          <p:cNvPr id="7" name="Text 5"/>
          <p:cNvSpPr/>
          <p:nvPr/>
        </p:nvSpPr>
        <p:spPr>
          <a:xfrm>
            <a:off x="457200" y="1298448"/>
            <a:ext cx="457200" cy="256032"/>
          </a:xfrm>
          <a:prstGeom prst="rect">
            <a:avLst/>
          </a:prstGeom>
          <a:noFill/>
          <a:ln/>
        </p:spPr>
        <p:txBody>
          <a:bodyPr wrap="square" lIns="0" tIns="0" rIns="0" bIns="0" rtlCol="0" anchor="ctr"/>
          <a:lstStyle/>
          <a:p>
            <a:pPr indent="0" marL="0">
              <a:buNone/>
            </a:pPr>
            <a:r>
              <a:rPr lang="en-US" sz="1100" b="1" dirty="0">
                <a:solidFill>
                  <a:srgbClr val="0D2B4E"/>
                </a:solidFill>
                <a:latin typeface="Arial" pitchFamily="34" charset="0"/>
                <a:ea typeface="Arial" pitchFamily="34" charset="-122"/>
                <a:cs typeface="Arial" pitchFamily="34" charset="-120"/>
              </a:rPr>
              <a:t>TAM</a:t>
            </a:r>
            <a:endParaRPr lang="en-US" sz="1100" dirty="0"/>
          </a:p>
        </p:txBody>
      </p:sp>
      <p:sp>
        <p:nvSpPr>
          <p:cNvPr id="8" name="Text 6"/>
          <p:cNvSpPr/>
          <p:nvPr/>
        </p:nvSpPr>
        <p:spPr>
          <a:xfrm>
            <a:off x="960120" y="1298448"/>
            <a:ext cx="2286000" cy="256032"/>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India Vehicle Safety Market</a:t>
            </a:r>
            <a:endParaRPr lang="en-US" sz="1000" dirty="0"/>
          </a:p>
        </p:txBody>
      </p:sp>
      <p:sp>
        <p:nvSpPr>
          <p:cNvPr id="9" name="Text 7"/>
          <p:cNvSpPr/>
          <p:nvPr/>
        </p:nvSpPr>
        <p:spPr>
          <a:xfrm>
            <a:off x="3108960" y="1298448"/>
            <a:ext cx="1005840" cy="256032"/>
          </a:xfrm>
          <a:prstGeom prst="rect">
            <a:avLst/>
          </a:prstGeom>
          <a:noFill/>
          <a:ln/>
        </p:spPr>
        <p:txBody>
          <a:bodyPr wrap="square" lIns="0" tIns="0" rIns="0" bIns="0" rtlCol="0" anchor="ctr"/>
          <a:lstStyle/>
          <a:p>
            <a:pPr algn="r" indent="0" marL="0">
              <a:buNone/>
            </a:pPr>
            <a:r>
              <a:rPr lang="en-US" sz="1400" b="1" dirty="0">
                <a:solidFill>
                  <a:srgbClr val="0D2B4E"/>
                </a:solidFill>
                <a:latin typeface="Arial" pitchFamily="34" charset="0"/>
                <a:ea typeface="Arial" pitchFamily="34" charset="-122"/>
                <a:cs typeface="Arial" pitchFamily="34" charset="-120"/>
              </a:rPr>
              <a:t>$7.12 Bn</a:t>
            </a:r>
            <a:endParaRPr lang="en-US" sz="1400" dirty="0"/>
          </a:p>
        </p:txBody>
      </p:sp>
      <p:sp>
        <p:nvSpPr>
          <p:cNvPr id="10" name="Text 8"/>
          <p:cNvSpPr/>
          <p:nvPr/>
        </p:nvSpPr>
        <p:spPr>
          <a:xfrm>
            <a:off x="457200" y="1609344"/>
            <a:ext cx="3657600" cy="228600"/>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CAGR: 8.57%</a:t>
            </a:r>
            <a:endParaRPr lang="en-US" sz="900" dirty="0"/>
          </a:p>
        </p:txBody>
      </p:sp>
      <p:sp>
        <p:nvSpPr>
          <p:cNvPr id="11" name="Shape 9"/>
          <p:cNvSpPr/>
          <p:nvPr/>
        </p:nvSpPr>
        <p:spPr>
          <a:xfrm>
            <a:off x="530352" y="2103120"/>
            <a:ext cx="3511296" cy="749808"/>
          </a:xfrm>
          <a:prstGeom prst="rect">
            <a:avLst/>
          </a:prstGeom>
          <a:solidFill>
            <a:srgbClr val="E1F5EE"/>
          </a:solidFill>
          <a:ln w="19050">
            <a:solidFill>
              <a:srgbClr val="0A6E6E"/>
            </a:solidFill>
            <a:prstDash val="solid"/>
          </a:ln>
        </p:spPr>
      </p:sp>
      <p:sp>
        <p:nvSpPr>
          <p:cNvPr id="12" name="Text 10"/>
          <p:cNvSpPr/>
          <p:nvPr/>
        </p:nvSpPr>
        <p:spPr>
          <a:xfrm>
            <a:off x="713232" y="2176272"/>
            <a:ext cx="457200" cy="256032"/>
          </a:xfrm>
          <a:prstGeom prst="rect">
            <a:avLst/>
          </a:prstGeom>
          <a:noFill/>
          <a:ln/>
        </p:spPr>
        <p:txBody>
          <a:bodyPr wrap="square" lIns="0" tIns="0" rIns="0" bIns="0" rtlCol="0" anchor="ctr"/>
          <a:lstStyle/>
          <a:p>
            <a:pPr indent="0" marL="0">
              <a:buNone/>
            </a:pPr>
            <a:r>
              <a:rPr lang="en-US" sz="1100" b="1" dirty="0">
                <a:solidFill>
                  <a:srgbClr val="0A6E6E"/>
                </a:solidFill>
                <a:latin typeface="Arial" pitchFamily="34" charset="0"/>
                <a:ea typeface="Arial" pitchFamily="34" charset="-122"/>
                <a:cs typeface="Arial" pitchFamily="34" charset="-120"/>
              </a:rPr>
              <a:t>SAM</a:t>
            </a:r>
            <a:endParaRPr lang="en-US" sz="1100" dirty="0"/>
          </a:p>
        </p:txBody>
      </p:sp>
      <p:sp>
        <p:nvSpPr>
          <p:cNvPr id="13" name="Text 11"/>
          <p:cNvSpPr/>
          <p:nvPr/>
        </p:nvSpPr>
        <p:spPr>
          <a:xfrm>
            <a:off x="1216152" y="2176272"/>
            <a:ext cx="2286000" cy="256032"/>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Commercial Fleet AI Safety</a:t>
            </a:r>
            <a:endParaRPr lang="en-US" sz="1000" dirty="0"/>
          </a:p>
        </p:txBody>
      </p:sp>
      <p:sp>
        <p:nvSpPr>
          <p:cNvPr id="14" name="Text 12"/>
          <p:cNvSpPr/>
          <p:nvPr/>
        </p:nvSpPr>
        <p:spPr>
          <a:xfrm>
            <a:off x="3364992" y="2176272"/>
            <a:ext cx="1005840" cy="256032"/>
          </a:xfrm>
          <a:prstGeom prst="rect">
            <a:avLst/>
          </a:prstGeom>
          <a:noFill/>
          <a:ln/>
        </p:spPr>
        <p:txBody>
          <a:bodyPr wrap="square" lIns="0" tIns="0" rIns="0" bIns="0" rtlCol="0" anchor="ctr"/>
          <a:lstStyle/>
          <a:p>
            <a:pPr algn="r" indent="0" marL="0">
              <a:buNone/>
            </a:pPr>
            <a:r>
              <a:rPr lang="en-US" sz="1400" b="1" dirty="0">
                <a:solidFill>
                  <a:srgbClr val="0A6E6E"/>
                </a:solidFill>
                <a:latin typeface="Arial" pitchFamily="34" charset="0"/>
                <a:ea typeface="Arial" pitchFamily="34" charset="-122"/>
                <a:cs typeface="Arial" pitchFamily="34" charset="-120"/>
              </a:rPr>
              <a:t>~$1.1 Bn</a:t>
            </a:r>
            <a:endParaRPr lang="en-US" sz="1400" dirty="0"/>
          </a:p>
        </p:txBody>
      </p:sp>
      <p:sp>
        <p:nvSpPr>
          <p:cNvPr id="15" name="Text 13"/>
          <p:cNvSpPr/>
          <p:nvPr/>
        </p:nvSpPr>
        <p:spPr>
          <a:xfrm>
            <a:off x="713232" y="2487168"/>
            <a:ext cx="3145536" cy="228600"/>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CAGR: 16.4%</a:t>
            </a:r>
            <a:endParaRPr lang="en-US" sz="900" dirty="0"/>
          </a:p>
        </p:txBody>
      </p:sp>
      <p:sp>
        <p:nvSpPr>
          <p:cNvPr id="16" name="Shape 14"/>
          <p:cNvSpPr/>
          <p:nvPr/>
        </p:nvSpPr>
        <p:spPr>
          <a:xfrm>
            <a:off x="786384" y="2962656"/>
            <a:ext cx="2999232" cy="749808"/>
          </a:xfrm>
          <a:prstGeom prst="rect">
            <a:avLst/>
          </a:prstGeom>
          <a:solidFill>
            <a:srgbClr val="FEF0E7"/>
          </a:solidFill>
          <a:ln w="19050">
            <a:solidFill>
              <a:srgbClr val="C94A0A"/>
            </a:solidFill>
            <a:prstDash val="solid"/>
          </a:ln>
        </p:spPr>
      </p:sp>
      <p:sp>
        <p:nvSpPr>
          <p:cNvPr id="17" name="Text 15"/>
          <p:cNvSpPr/>
          <p:nvPr/>
        </p:nvSpPr>
        <p:spPr>
          <a:xfrm>
            <a:off x="969264" y="3035808"/>
            <a:ext cx="457200" cy="256032"/>
          </a:xfrm>
          <a:prstGeom prst="rect">
            <a:avLst/>
          </a:prstGeom>
          <a:noFill/>
          <a:ln/>
        </p:spPr>
        <p:txBody>
          <a:bodyPr wrap="square" lIns="0" tIns="0" rIns="0" bIns="0" rtlCol="0" anchor="ctr"/>
          <a:lstStyle/>
          <a:p>
            <a:pPr indent="0" marL="0">
              <a:buNone/>
            </a:pPr>
            <a:r>
              <a:rPr lang="en-US" sz="1100" b="1" dirty="0">
                <a:solidFill>
                  <a:srgbClr val="C94A0A"/>
                </a:solidFill>
                <a:latin typeface="Arial" pitchFamily="34" charset="0"/>
                <a:ea typeface="Arial" pitchFamily="34" charset="-122"/>
                <a:cs typeface="Arial" pitchFamily="34" charset="-120"/>
              </a:rPr>
              <a:t>SOM</a:t>
            </a:r>
            <a:endParaRPr lang="en-US" sz="1100" dirty="0"/>
          </a:p>
        </p:txBody>
      </p:sp>
      <p:sp>
        <p:nvSpPr>
          <p:cNvPr id="18" name="Text 16"/>
          <p:cNvSpPr/>
          <p:nvPr/>
        </p:nvSpPr>
        <p:spPr>
          <a:xfrm>
            <a:off x="1472184" y="3035808"/>
            <a:ext cx="2286000" cy="256032"/>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Garuda Year 2 Target</a:t>
            </a:r>
            <a:endParaRPr lang="en-US" sz="1000" dirty="0"/>
          </a:p>
        </p:txBody>
      </p:sp>
      <p:sp>
        <p:nvSpPr>
          <p:cNvPr id="19" name="Text 17"/>
          <p:cNvSpPr/>
          <p:nvPr/>
        </p:nvSpPr>
        <p:spPr>
          <a:xfrm>
            <a:off x="3621024" y="3035808"/>
            <a:ext cx="1005840" cy="256032"/>
          </a:xfrm>
          <a:prstGeom prst="rect">
            <a:avLst/>
          </a:prstGeom>
          <a:noFill/>
          <a:ln/>
        </p:spPr>
        <p:txBody>
          <a:bodyPr wrap="square" lIns="0" tIns="0" rIns="0" bIns="0" rtlCol="0" anchor="ctr"/>
          <a:lstStyle/>
          <a:p>
            <a:pPr algn="r" indent="0" marL="0">
              <a:buNone/>
            </a:pPr>
            <a:r>
              <a:rPr lang="en-US" sz="1400" b="1" dirty="0">
                <a:solidFill>
                  <a:srgbClr val="C94A0A"/>
                </a:solidFill>
                <a:latin typeface="Arial" pitchFamily="34" charset="0"/>
                <a:ea typeface="Arial" pitchFamily="34" charset="-122"/>
                <a:cs typeface="Arial" pitchFamily="34" charset="-120"/>
              </a:rPr>
              <a:t>₹120L MRR</a:t>
            </a:r>
            <a:endParaRPr lang="en-US" sz="1400" dirty="0"/>
          </a:p>
        </p:txBody>
      </p:sp>
      <p:sp>
        <p:nvSpPr>
          <p:cNvPr id="20" name="Text 18"/>
          <p:cNvSpPr/>
          <p:nvPr/>
        </p:nvSpPr>
        <p:spPr>
          <a:xfrm>
            <a:off x="969264" y="3346704"/>
            <a:ext cx="2633472" cy="228600"/>
          </a:xfrm>
          <a:prstGeom prst="rect">
            <a:avLst/>
          </a:prstGeom>
          <a:noFill/>
          <a:ln/>
        </p:spPr>
        <p:txBody>
          <a:bodyPr wrap="square" lIns="0" tIns="0" rIns="0" bIns="0" rtlCol="0" anchor="ctr"/>
          <a:lstStyle/>
          <a:p>
            <a:pPr indent="0" marL="0">
              <a:buNone/>
            </a:pPr>
            <a:r>
              <a:rPr lang="en-US" sz="900" i="1" dirty="0">
                <a:solidFill>
                  <a:srgbClr val="64748B"/>
                </a:solidFill>
                <a:latin typeface="Arial" pitchFamily="34" charset="0"/>
                <a:ea typeface="Arial" pitchFamily="34" charset="-122"/>
                <a:cs typeface="Arial" pitchFamily="34" charset="-120"/>
              </a:rPr>
              <a:t>CAGR: 20.7%+</a:t>
            </a:r>
            <a:endParaRPr lang="en-US" sz="900" dirty="0"/>
          </a:p>
        </p:txBody>
      </p:sp>
      <p:sp>
        <p:nvSpPr>
          <p:cNvPr id="21" name="Text 19"/>
          <p:cNvSpPr/>
          <p:nvPr/>
        </p:nvSpPr>
        <p:spPr>
          <a:xfrm>
            <a:off x="4572000" y="896112"/>
            <a:ext cx="4297680" cy="274320"/>
          </a:xfrm>
          <a:prstGeom prst="rect">
            <a:avLst/>
          </a:prstGeom>
          <a:noFill/>
          <a:ln/>
        </p:spPr>
        <p:txBody>
          <a:bodyPr wrap="square" rtlCol="0" anchor="ctr"/>
          <a:lstStyle/>
          <a:p>
            <a:pPr indent="0" marL="0">
              <a:buNone/>
            </a:pPr>
            <a:r>
              <a:rPr lang="en-US" sz="1300" b="1" dirty="0">
                <a:solidFill>
                  <a:srgbClr val="0D2B4E"/>
                </a:solidFill>
                <a:latin typeface="Arial" pitchFamily="34" charset="0"/>
                <a:ea typeface="Arial" pitchFamily="34" charset="-122"/>
                <a:cs typeface="Arial" pitchFamily="34" charset="-120"/>
              </a:rPr>
              <a:t>The Regulatory Trigger</a:t>
            </a:r>
            <a:endParaRPr lang="en-US" sz="1300" dirty="0"/>
          </a:p>
        </p:txBody>
      </p:sp>
      <p:sp>
        <p:nvSpPr>
          <p:cNvPr id="22" name="Shape 20"/>
          <p:cNvSpPr/>
          <p:nvPr/>
        </p:nvSpPr>
        <p:spPr>
          <a:xfrm>
            <a:off x="4572000" y="1463040"/>
            <a:ext cx="201168" cy="201168"/>
          </a:xfrm>
          <a:prstGeom prst="oval">
            <a:avLst/>
          </a:prstGeom>
          <a:solidFill>
            <a:srgbClr val="64748B"/>
          </a:solidFill>
          <a:ln/>
        </p:spPr>
      </p:sp>
      <p:sp>
        <p:nvSpPr>
          <p:cNvPr id="23" name="Shape 21"/>
          <p:cNvSpPr/>
          <p:nvPr/>
        </p:nvSpPr>
        <p:spPr>
          <a:xfrm>
            <a:off x="4663440" y="1664208"/>
            <a:ext cx="18288" cy="548640"/>
          </a:xfrm>
          <a:prstGeom prst="rect">
            <a:avLst/>
          </a:prstGeom>
          <a:solidFill>
            <a:srgbClr val="CBD5E1"/>
          </a:solidFill>
          <a:ln/>
        </p:spPr>
      </p:sp>
      <p:sp>
        <p:nvSpPr>
          <p:cNvPr id="24" name="Text 22"/>
          <p:cNvSpPr/>
          <p:nvPr/>
        </p:nvSpPr>
        <p:spPr>
          <a:xfrm>
            <a:off x="4864608" y="1261872"/>
            <a:ext cx="914400" cy="256032"/>
          </a:xfrm>
          <a:prstGeom prst="rect">
            <a:avLst/>
          </a:prstGeom>
          <a:noFill/>
          <a:ln/>
        </p:spPr>
        <p:txBody>
          <a:bodyPr wrap="square" lIns="0" tIns="0" rIns="0" bIns="0" rtlCol="0" anchor="ctr"/>
          <a:lstStyle/>
          <a:p>
            <a:pPr indent="0" marL="0">
              <a:buNone/>
            </a:pPr>
            <a:r>
              <a:rPr lang="en-US" sz="1000" b="1" dirty="0">
                <a:solidFill>
                  <a:srgbClr val="64748B"/>
                </a:solidFill>
                <a:latin typeface="Arial" pitchFamily="34" charset="0"/>
                <a:ea typeface="Arial" pitchFamily="34" charset="-122"/>
                <a:cs typeface="Arial" pitchFamily="34" charset="-120"/>
              </a:rPr>
              <a:t>Mar 2025</a:t>
            </a:r>
            <a:endParaRPr lang="en-US" sz="1000" dirty="0"/>
          </a:p>
        </p:txBody>
      </p:sp>
      <p:sp>
        <p:nvSpPr>
          <p:cNvPr id="25" name="Text 23"/>
          <p:cNvSpPr/>
          <p:nvPr/>
        </p:nvSpPr>
        <p:spPr>
          <a:xfrm>
            <a:off x="4864608" y="1517904"/>
            <a:ext cx="4023360" cy="402336"/>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MoRTH issues G.S.R. 184(E) — ADAS mandate for trucks &amp; buses</a:t>
            </a:r>
            <a:endParaRPr lang="en-US" sz="950" dirty="0"/>
          </a:p>
        </p:txBody>
      </p:sp>
      <p:sp>
        <p:nvSpPr>
          <p:cNvPr id="26" name="Shape 24"/>
          <p:cNvSpPr/>
          <p:nvPr/>
        </p:nvSpPr>
        <p:spPr>
          <a:xfrm>
            <a:off x="4572000" y="2212848"/>
            <a:ext cx="201168" cy="201168"/>
          </a:xfrm>
          <a:prstGeom prst="oval">
            <a:avLst/>
          </a:prstGeom>
          <a:solidFill>
            <a:srgbClr val="C94A0A"/>
          </a:solidFill>
          <a:ln/>
        </p:spPr>
      </p:sp>
      <p:sp>
        <p:nvSpPr>
          <p:cNvPr id="27" name="Shape 25"/>
          <p:cNvSpPr/>
          <p:nvPr/>
        </p:nvSpPr>
        <p:spPr>
          <a:xfrm>
            <a:off x="4663440" y="2414016"/>
            <a:ext cx="18288" cy="548640"/>
          </a:xfrm>
          <a:prstGeom prst="rect">
            <a:avLst/>
          </a:prstGeom>
          <a:solidFill>
            <a:srgbClr val="CBD5E1"/>
          </a:solidFill>
          <a:ln/>
        </p:spPr>
      </p:sp>
      <p:sp>
        <p:nvSpPr>
          <p:cNvPr id="28" name="Text 26"/>
          <p:cNvSpPr/>
          <p:nvPr/>
        </p:nvSpPr>
        <p:spPr>
          <a:xfrm>
            <a:off x="4864608" y="2011680"/>
            <a:ext cx="914400" cy="256032"/>
          </a:xfrm>
          <a:prstGeom prst="rect">
            <a:avLst/>
          </a:prstGeom>
          <a:noFill/>
          <a:ln/>
        </p:spPr>
        <p:txBody>
          <a:bodyPr wrap="square" lIns="0" tIns="0" rIns="0" bIns="0" rtlCol="0" anchor="ctr"/>
          <a:lstStyle/>
          <a:p>
            <a:pPr indent="0" marL="0">
              <a:buNone/>
            </a:pPr>
            <a:r>
              <a:rPr lang="en-US" sz="1000" b="1" dirty="0">
                <a:solidFill>
                  <a:srgbClr val="C94A0A"/>
                </a:solidFill>
                <a:latin typeface="Arial" pitchFamily="34" charset="0"/>
                <a:ea typeface="Arial" pitchFamily="34" charset="-122"/>
                <a:cs typeface="Arial" pitchFamily="34" charset="-120"/>
              </a:rPr>
              <a:t>Apr 2026</a:t>
            </a:r>
            <a:endParaRPr lang="en-US" sz="1000" dirty="0"/>
          </a:p>
        </p:txBody>
      </p:sp>
      <p:sp>
        <p:nvSpPr>
          <p:cNvPr id="29" name="Text 27"/>
          <p:cNvSpPr/>
          <p:nvPr/>
        </p:nvSpPr>
        <p:spPr>
          <a:xfrm>
            <a:off x="4864608" y="2267712"/>
            <a:ext cx="4023360" cy="402336"/>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ADAS mandatory for ALL NEW truck/bus models. AIS-184 (drowsiness) required.</a:t>
            </a:r>
            <a:endParaRPr lang="en-US" sz="950" dirty="0"/>
          </a:p>
        </p:txBody>
      </p:sp>
      <p:sp>
        <p:nvSpPr>
          <p:cNvPr id="30" name="Shape 28"/>
          <p:cNvSpPr/>
          <p:nvPr/>
        </p:nvSpPr>
        <p:spPr>
          <a:xfrm>
            <a:off x="4572000" y="2962656"/>
            <a:ext cx="201168" cy="201168"/>
          </a:xfrm>
          <a:prstGeom prst="oval">
            <a:avLst/>
          </a:prstGeom>
          <a:solidFill>
            <a:srgbClr val="8B1A1A"/>
          </a:solidFill>
          <a:ln/>
        </p:spPr>
      </p:sp>
      <p:sp>
        <p:nvSpPr>
          <p:cNvPr id="31" name="Shape 29"/>
          <p:cNvSpPr/>
          <p:nvPr/>
        </p:nvSpPr>
        <p:spPr>
          <a:xfrm>
            <a:off x="4663440" y="3163824"/>
            <a:ext cx="18288" cy="548640"/>
          </a:xfrm>
          <a:prstGeom prst="rect">
            <a:avLst/>
          </a:prstGeom>
          <a:solidFill>
            <a:srgbClr val="CBD5E1"/>
          </a:solidFill>
          <a:ln/>
        </p:spPr>
      </p:sp>
      <p:sp>
        <p:nvSpPr>
          <p:cNvPr id="32" name="Text 30"/>
          <p:cNvSpPr/>
          <p:nvPr/>
        </p:nvSpPr>
        <p:spPr>
          <a:xfrm>
            <a:off x="4864608" y="2761488"/>
            <a:ext cx="914400" cy="256032"/>
          </a:xfrm>
          <a:prstGeom prst="rect">
            <a:avLst/>
          </a:prstGeom>
          <a:noFill/>
          <a:ln/>
        </p:spPr>
        <p:txBody>
          <a:bodyPr wrap="square" lIns="0" tIns="0" rIns="0" bIns="0" rtlCol="0" anchor="ctr"/>
          <a:lstStyle/>
          <a:p>
            <a:pPr indent="0" marL="0">
              <a:buNone/>
            </a:pPr>
            <a:r>
              <a:rPr lang="en-US" sz="1000" b="1" dirty="0">
                <a:solidFill>
                  <a:srgbClr val="8B1A1A"/>
                </a:solidFill>
                <a:latin typeface="Arial" pitchFamily="34" charset="0"/>
                <a:ea typeface="Arial" pitchFamily="34" charset="-122"/>
                <a:cs typeface="Arial" pitchFamily="34" charset="-120"/>
              </a:rPr>
              <a:t>Oct 2026</a:t>
            </a:r>
            <a:endParaRPr lang="en-US" sz="1000" dirty="0"/>
          </a:p>
        </p:txBody>
      </p:sp>
      <p:sp>
        <p:nvSpPr>
          <p:cNvPr id="33" name="Text 31"/>
          <p:cNvSpPr/>
          <p:nvPr/>
        </p:nvSpPr>
        <p:spPr>
          <a:xfrm>
            <a:off x="4864608" y="3017520"/>
            <a:ext cx="4023360" cy="402336"/>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ADAS mandatory for ALL EXISTING trucks/buses — 10M+ vehicles must comply</a:t>
            </a:r>
            <a:endParaRPr lang="en-US" sz="950" dirty="0"/>
          </a:p>
        </p:txBody>
      </p:sp>
      <p:sp>
        <p:nvSpPr>
          <p:cNvPr id="34" name="Shape 32"/>
          <p:cNvSpPr/>
          <p:nvPr/>
        </p:nvSpPr>
        <p:spPr>
          <a:xfrm>
            <a:off x="4572000" y="3712464"/>
            <a:ext cx="201168" cy="201168"/>
          </a:xfrm>
          <a:prstGeom prst="oval">
            <a:avLst/>
          </a:prstGeom>
          <a:solidFill>
            <a:srgbClr val="1A5C35"/>
          </a:solidFill>
          <a:ln/>
        </p:spPr>
      </p:sp>
      <p:sp>
        <p:nvSpPr>
          <p:cNvPr id="35" name="Text 33"/>
          <p:cNvSpPr/>
          <p:nvPr/>
        </p:nvSpPr>
        <p:spPr>
          <a:xfrm>
            <a:off x="4864608" y="3511296"/>
            <a:ext cx="914400" cy="256032"/>
          </a:xfrm>
          <a:prstGeom prst="rect">
            <a:avLst/>
          </a:prstGeom>
          <a:noFill/>
          <a:ln/>
        </p:spPr>
        <p:txBody>
          <a:bodyPr wrap="square" lIns="0" tIns="0" rIns="0" bIns="0" rtlCol="0" anchor="ctr"/>
          <a:lstStyle/>
          <a:p>
            <a:pPr indent="0" marL="0">
              <a:buNone/>
            </a:pPr>
            <a:r>
              <a:rPr lang="en-US" sz="1000" b="1" dirty="0">
                <a:solidFill>
                  <a:srgbClr val="1A5C35"/>
                </a:solidFill>
                <a:latin typeface="Arial" pitchFamily="34" charset="0"/>
                <a:ea typeface="Arial" pitchFamily="34" charset="-122"/>
                <a:cs typeface="Arial" pitchFamily="34" charset="-120"/>
              </a:rPr>
              <a:t>2027</a:t>
            </a:r>
            <a:endParaRPr lang="en-US" sz="1000" dirty="0"/>
          </a:p>
        </p:txBody>
      </p:sp>
      <p:sp>
        <p:nvSpPr>
          <p:cNvPr id="36" name="Text 34"/>
          <p:cNvSpPr/>
          <p:nvPr/>
        </p:nvSpPr>
        <p:spPr>
          <a:xfrm>
            <a:off x="4864608" y="3767328"/>
            <a:ext cx="4023360" cy="402336"/>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Bharat NCAP 2.0 includes ADAS assessments for private cars</a:t>
            </a:r>
            <a:endParaRPr lang="en-US" sz="950" dirty="0"/>
          </a:p>
        </p:txBody>
      </p:sp>
      <p:sp>
        <p:nvSpPr>
          <p:cNvPr id="37" name="Shape 35"/>
          <p:cNvSpPr/>
          <p:nvPr/>
        </p:nvSpPr>
        <p:spPr>
          <a:xfrm>
            <a:off x="274320" y="3858768"/>
            <a:ext cx="8595360" cy="566928"/>
          </a:xfrm>
          <a:prstGeom prst="rect">
            <a:avLst/>
          </a:prstGeom>
          <a:solidFill>
            <a:srgbClr val="FEF0E7"/>
          </a:solidFill>
          <a:ln/>
        </p:spPr>
      </p:sp>
      <p:sp>
        <p:nvSpPr>
          <p:cNvPr id="38" name="Shape 36"/>
          <p:cNvSpPr/>
          <p:nvPr/>
        </p:nvSpPr>
        <p:spPr>
          <a:xfrm>
            <a:off x="274320" y="3858768"/>
            <a:ext cx="54864" cy="566928"/>
          </a:xfrm>
          <a:prstGeom prst="rect">
            <a:avLst/>
          </a:prstGeom>
          <a:solidFill>
            <a:srgbClr val="C94A0A"/>
          </a:solidFill>
          <a:ln/>
        </p:spPr>
      </p:sp>
      <p:sp>
        <p:nvSpPr>
          <p:cNvPr id="39" name="Text 37"/>
          <p:cNvSpPr/>
          <p:nvPr/>
        </p:nvSpPr>
        <p:spPr>
          <a:xfrm>
            <a:off x="402336" y="3950208"/>
            <a:ext cx="8412480" cy="256032"/>
          </a:xfrm>
          <a:prstGeom prst="rect">
            <a:avLst/>
          </a:prstGeom>
          <a:noFill/>
          <a:ln/>
        </p:spPr>
        <p:txBody>
          <a:bodyPr wrap="square" lIns="0" tIns="0" rIns="0" bIns="0" rtlCol="0" anchor="ctr"/>
          <a:lstStyle/>
          <a:p>
            <a:pPr indent="0" marL="0">
              <a:buNone/>
            </a:pPr>
            <a:r>
              <a:rPr lang="en-US" sz="1200" b="1" dirty="0">
                <a:solidFill>
                  <a:srgbClr val="C94A0A"/>
                </a:solidFill>
                <a:latin typeface="Arial" pitchFamily="34" charset="0"/>
                <a:ea typeface="Arial" pitchFamily="34" charset="-122"/>
                <a:cs typeface="Arial" pitchFamily="34" charset="-120"/>
              </a:rPr>
              <a:t>The Garuda Advantage</a:t>
            </a:r>
            <a:endParaRPr lang="en-US" sz="1200" dirty="0"/>
          </a:p>
        </p:txBody>
      </p:sp>
      <p:sp>
        <p:nvSpPr>
          <p:cNvPr id="40" name="Text 38"/>
          <p:cNvSpPr/>
          <p:nvPr/>
        </p:nvSpPr>
        <p:spPr>
          <a:xfrm>
            <a:off x="402336" y="4206240"/>
            <a:ext cx="8412480" cy="128016"/>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Garuda's core features — drowsiness detection, forward collision warning, and offline V2V communication — directly satisfy AIS-184, AIS-162, and AIS-188 standards. The government has mandated our product.</a:t>
            </a:r>
            <a:endParaRPr lang="en-US" sz="1100" dirty="0"/>
          </a:p>
        </p:txBody>
      </p:sp>
      <p:sp>
        <p:nvSpPr>
          <p:cNvPr id="41" name="Text 39"/>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42" name="Text 40"/>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06  —  Competitive Landscape</a:t>
            </a:r>
            <a:endParaRPr lang="en-US" sz="1300" dirty="0"/>
          </a:p>
        </p:txBody>
      </p:sp>
      <p:sp>
        <p:nvSpPr>
          <p:cNvPr id="4" name="Text 2"/>
          <p:cNvSpPr/>
          <p:nvPr/>
        </p:nvSpPr>
        <p:spPr>
          <a:xfrm>
            <a:off x="274320" y="457200"/>
            <a:ext cx="8595360" cy="310896"/>
          </a:xfrm>
          <a:prstGeom prst="rect">
            <a:avLst/>
          </a:prstGeom>
          <a:noFill/>
          <a:ln/>
        </p:spPr>
        <p:txBody>
          <a:bodyPr wrap="square" rtlCol="0" anchor="ctr"/>
          <a:lstStyle/>
          <a:p>
            <a:pPr indent="0" marL="0">
              <a:buNone/>
            </a:pPr>
            <a:r>
              <a:rPr lang="en-US" sz="1600" b="1" dirty="0">
                <a:solidFill>
                  <a:srgbClr val="0D2B4E"/>
                </a:solidFill>
                <a:latin typeface="Arial" pitchFamily="34" charset="0"/>
                <a:ea typeface="Arial" pitchFamily="34" charset="-122"/>
                <a:cs typeface="Arial" pitchFamily="34" charset="-120"/>
              </a:rPr>
              <a:t>Current solutions fail India's 10M commercial fleet vehicles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877824"/>
          <a:ext cx="8595360" cy="3474720"/>
        </p:xfrm>
        <a:graphic>
          <a:graphicData uri="http://schemas.openxmlformats.org/drawingml/2006/table">
            <a:tbl>
              <a:tblPr/>
              <a:tblGrid>
                <a:gridCol w="2011680"/>
                <a:gridCol w="1554480"/>
                <a:gridCol w="1554480"/>
                <a:gridCol w="1554480"/>
                <a:gridCol w="1920240"/>
              </a:tblGrid>
              <a:tr h="374904">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Feature</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Mobileye</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Bosch ADAS</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GPS Trackers</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GARUDA</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C94A0A"/>
                    </a:solidFill>
                  </a:tcPr>
                </a:tc>
              </a:tr>
              <a:tr h="374904">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Price per vehicle</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Arial" pitchFamily="34" charset="0"/>
                          <a:ea typeface="Arial" pitchFamily="34" charset="-122"/>
                          <a:cs typeface="Arial" pitchFamily="34" charset="-120"/>
                        </a:rPr>
                        <a:t>₹40,000+</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Arial" pitchFamily="34" charset="0"/>
                          <a:ea typeface="Arial" pitchFamily="34" charset="-122"/>
                          <a:cs typeface="Arial" pitchFamily="34" charset="-120"/>
                        </a:rPr>
                        <a:t>₹35,000+</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Arial" pitchFamily="34" charset="0"/>
                          <a:ea typeface="Arial" pitchFamily="34" charset="-122"/>
                          <a:cs typeface="Arial" pitchFamily="34" charset="-120"/>
                        </a:rPr>
                        <a:t>₹3,000 one-time</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D2B4E"/>
                          </a:solidFill>
                          <a:latin typeface="Arial" pitchFamily="34" charset="0"/>
                          <a:ea typeface="Arial" pitchFamily="34" charset="-122"/>
                          <a:cs typeface="Arial" pitchFamily="34" charset="-120"/>
                        </a:rPr>
                        <a:t>₹4,000/month</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E7"/>
                    </a:solidFill>
                  </a:tcPr>
                </a:tc>
              </a:tr>
              <a:tr h="374904">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India road AI training</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b="1" dirty="0">
                          <a:solidFill>
                            <a:srgbClr val="1A5C35"/>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E7"/>
                    </a:solidFill>
                  </a:tcPr>
                </a:tc>
              </a:tr>
              <a:tr h="374904">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Retrofit-ready (existing fleets)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Arial" pitchFamily="34" charset="0"/>
                          <a:ea typeface="Arial" pitchFamily="34" charset="-122"/>
                          <a:cs typeface="Arial" pitchFamily="34" charset="-120"/>
                        </a:rPr>
                        <a:t>Partial</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5C35"/>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5C35"/>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E7"/>
                    </a:solidFill>
                  </a:tcPr>
                </a:tc>
              </a:tr>
              <a:tr h="374904">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Works offline (no internet)</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b="1" dirty="0">
                          <a:solidFill>
                            <a:srgbClr val="1A5C35"/>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E7"/>
                    </a:solidFill>
                  </a:tcPr>
                </a:tc>
              </a:tr>
              <a:tr h="374904">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Vernacular voice (Hindi etc.)</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5C35"/>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E7"/>
                    </a:solidFill>
                  </a:tcPr>
                </a:tc>
              </a:tr>
              <a:tr h="374904">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Fleet SaaS dashboard</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334155"/>
                          </a:solidFill>
                          <a:latin typeface="Arial" pitchFamily="34" charset="0"/>
                          <a:ea typeface="Arial" pitchFamily="34" charset="-122"/>
                          <a:cs typeface="Arial" pitchFamily="34" charset="-120"/>
                        </a:rPr>
                        <a:t>Partial</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b="1" dirty="0">
                          <a:solidFill>
                            <a:srgbClr val="1A5C35"/>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E7"/>
                    </a:solidFill>
                  </a:tcPr>
                </a:tc>
              </a:tr>
              <a:tr h="374904">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AIS-184 compliant (2026 mandate)</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Arial" pitchFamily="34" charset="0"/>
                          <a:ea typeface="Arial" pitchFamily="34" charset="-122"/>
                          <a:cs typeface="Arial" pitchFamily="34" charset="-120"/>
                        </a:rPr>
                        <a:t>Partial</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Arial" pitchFamily="34" charset="0"/>
                          <a:ea typeface="Arial" pitchFamily="34" charset="-122"/>
                          <a:cs typeface="Arial" pitchFamily="34" charset="-120"/>
                        </a:rPr>
                        <a:t>Partial</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5C35"/>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E7"/>
                    </a:solidFill>
                  </a:tcPr>
                </a:tc>
              </a:tr>
              <a:tr h="374904">
                <a:tc>
                  <a:txBody>
                    <a:bodyPr/>
                    <a:lstStyle/>
                    <a:p>
                      <a:pPr algn="l" indent="0" marL="0">
                        <a:buNone/>
                      </a:pPr>
                      <a:r>
                        <a:rPr lang="en-US" sz="1000" dirty="0">
                          <a:solidFill>
                            <a:srgbClr val="334155"/>
                          </a:solidFill>
                          <a:latin typeface="Arial" pitchFamily="34" charset="0"/>
                          <a:ea typeface="Arial" pitchFamily="34" charset="-122"/>
                          <a:cs typeface="Arial" pitchFamily="34" charset="-120"/>
                        </a:rPr>
                        <a:t>Continuous learning / OTA</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94A3B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algn="ctr" indent="0" marL="0">
                        <a:buNone/>
                      </a:pPr>
                      <a:r>
                        <a:rPr lang="en-US" sz="1100" b="1" dirty="0">
                          <a:solidFill>
                            <a:srgbClr val="1A5C35"/>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E7"/>
                    </a:solidFill>
                  </a:tcPr>
                </a:tc>
              </a:tr>
            </a:tbl>
          </a:graphicData>
        </a:graphic>
      </p:graphicFrame>
      <p:sp>
        <p:nvSpPr>
          <p:cNvPr id="6" name="Shape 3"/>
          <p:cNvSpPr/>
          <p:nvPr/>
        </p:nvSpPr>
        <p:spPr>
          <a:xfrm>
            <a:off x="274320" y="4480560"/>
            <a:ext cx="8595360" cy="530352"/>
          </a:xfrm>
          <a:prstGeom prst="rect">
            <a:avLst/>
          </a:prstGeom>
          <a:solidFill>
            <a:srgbClr val="FEF0E7"/>
          </a:solidFill>
          <a:ln/>
        </p:spPr>
      </p:sp>
      <p:sp>
        <p:nvSpPr>
          <p:cNvPr id="7" name="Shape 4"/>
          <p:cNvSpPr/>
          <p:nvPr/>
        </p:nvSpPr>
        <p:spPr>
          <a:xfrm>
            <a:off x="274320" y="4480560"/>
            <a:ext cx="54864" cy="530352"/>
          </a:xfrm>
          <a:prstGeom prst="rect">
            <a:avLst/>
          </a:prstGeom>
          <a:solidFill>
            <a:srgbClr val="C94A0A"/>
          </a:solidFill>
          <a:ln/>
        </p:spPr>
      </p:sp>
      <p:sp>
        <p:nvSpPr>
          <p:cNvPr id="8" name="Text 5"/>
          <p:cNvSpPr/>
          <p:nvPr/>
        </p:nvSpPr>
        <p:spPr>
          <a:xfrm>
            <a:off x="402336" y="4572000"/>
            <a:ext cx="8412480" cy="256032"/>
          </a:xfrm>
          <a:prstGeom prst="rect">
            <a:avLst/>
          </a:prstGeom>
          <a:noFill/>
          <a:ln/>
        </p:spPr>
        <p:txBody>
          <a:bodyPr wrap="square" lIns="0" tIns="0" rIns="0" bIns="0" rtlCol="0" anchor="ctr"/>
          <a:lstStyle/>
          <a:p>
            <a:pPr indent="0" marL="0">
              <a:buNone/>
            </a:pPr>
            <a:r>
              <a:rPr lang="en-US" sz="1200" b="1" dirty="0">
                <a:solidFill>
                  <a:srgbClr val="C94A0A"/>
                </a:solidFill>
                <a:latin typeface="Arial" pitchFamily="34" charset="0"/>
                <a:ea typeface="Arial" pitchFamily="34" charset="-122"/>
                <a:cs typeface="Arial" pitchFamily="34" charset="-120"/>
              </a:rPr>
              <a:t>The Garuda Difference</a:t>
            </a:r>
            <a:endParaRPr lang="en-US" sz="1200" dirty="0"/>
          </a:p>
        </p:txBody>
      </p:sp>
      <p:sp>
        <p:nvSpPr>
          <p:cNvPr id="9" name="Text 6"/>
          <p:cNvSpPr/>
          <p:nvPr/>
        </p:nvSpPr>
        <p:spPr>
          <a:xfrm>
            <a:off x="402336" y="4828032"/>
            <a:ext cx="8412480" cy="914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Built from scratch for Indian roads, Indian drivers, Indian price points. The only solution that works offline, speaks Hindi, and turns regulatory compliance into a competitive advantage.</a:t>
            </a:r>
            <a:endParaRPr lang="en-US" sz="1100" dirty="0"/>
          </a:p>
        </p:txBody>
      </p:sp>
      <p:sp>
        <p:nvSpPr>
          <p:cNvPr id="10" name="Text 7"/>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11" name="Text 8"/>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07  —  Our Competitive Moats</a:t>
            </a:r>
            <a:endParaRPr lang="en-US" sz="1300" dirty="0"/>
          </a:p>
        </p:txBody>
      </p:sp>
      <p:sp>
        <p:nvSpPr>
          <p:cNvPr id="4" name="Text 2"/>
          <p:cNvSpPr/>
          <p:nvPr/>
        </p:nvSpPr>
        <p:spPr>
          <a:xfrm>
            <a:off x="274320" y="457200"/>
            <a:ext cx="8595360" cy="310896"/>
          </a:xfrm>
          <a:prstGeom prst="rect">
            <a:avLst/>
          </a:prstGeom>
          <a:noFill/>
          <a:ln/>
        </p:spPr>
        <p:txBody>
          <a:bodyPr wrap="square" rtlCol="0" anchor="ctr"/>
          <a:lstStyle/>
          <a:p>
            <a:pPr indent="0" marL="0">
              <a:buNone/>
            </a:pPr>
            <a:r>
              <a:rPr lang="en-US" sz="1700" b="1" dirty="0">
                <a:solidFill>
                  <a:srgbClr val="0D2B4E"/>
                </a:solidFill>
                <a:latin typeface="Arial" pitchFamily="34" charset="0"/>
                <a:ea typeface="Arial" pitchFamily="34" charset="-122"/>
                <a:cs typeface="Arial" pitchFamily="34" charset="-120"/>
              </a:rPr>
              <a:t>Five moats. Each one compounds over time.</a:t>
            </a:r>
            <a:endParaRPr lang="en-US" sz="1700" dirty="0"/>
          </a:p>
        </p:txBody>
      </p:sp>
      <p:sp>
        <p:nvSpPr>
          <p:cNvPr id="5" name="Shape 3"/>
          <p:cNvSpPr/>
          <p:nvPr/>
        </p:nvSpPr>
        <p:spPr>
          <a:xfrm>
            <a:off x="274320" y="914400"/>
            <a:ext cx="4160520" cy="1481328"/>
          </a:xfrm>
          <a:prstGeom prst="rect">
            <a:avLst/>
          </a:prstGeom>
          <a:solidFill>
            <a:srgbClr val="EAF0F8"/>
          </a:solidFill>
          <a:ln/>
          <a:effectLst>
            <a:outerShdw sx="100000" sy="100000" kx="0" ky="0" algn="bl" rotWithShape="0" blurRad="76200" dist="25400" dir="8100000">
              <a:srgbClr val="000000">
                <a:alpha val="7000"/>
              </a:srgbClr>
            </a:outerShdw>
          </a:effectLst>
        </p:spPr>
      </p:sp>
      <p:sp>
        <p:nvSpPr>
          <p:cNvPr id="6" name="Shape 4"/>
          <p:cNvSpPr/>
          <p:nvPr/>
        </p:nvSpPr>
        <p:spPr>
          <a:xfrm>
            <a:off x="274320" y="914400"/>
            <a:ext cx="4160520" cy="54864"/>
          </a:xfrm>
          <a:prstGeom prst="rect">
            <a:avLst/>
          </a:prstGeom>
          <a:solidFill>
            <a:srgbClr val="0D2B4E"/>
          </a:solidFill>
          <a:ln/>
        </p:spPr>
      </p:sp>
      <p:sp>
        <p:nvSpPr>
          <p:cNvPr id="7" name="Text 5"/>
          <p:cNvSpPr/>
          <p:nvPr/>
        </p:nvSpPr>
        <p:spPr>
          <a:xfrm>
            <a:off x="402336" y="1005840"/>
            <a:ext cx="3959352" cy="292608"/>
          </a:xfrm>
          <a:prstGeom prst="rect">
            <a:avLst/>
          </a:prstGeom>
          <a:noFill/>
          <a:ln/>
        </p:spPr>
        <p:txBody>
          <a:bodyPr wrap="square" lIns="0" tIns="0" rIns="0" bIns="0" rtlCol="0" anchor="ctr"/>
          <a:lstStyle/>
          <a:p>
            <a:pPr indent="0" marL="0">
              <a:buNone/>
            </a:pPr>
            <a:r>
              <a:rPr lang="en-US" sz="1300" b="1" dirty="0">
                <a:solidFill>
                  <a:srgbClr val="0D2B4E"/>
                </a:solidFill>
                <a:latin typeface="Arial" pitchFamily="34" charset="0"/>
                <a:ea typeface="Arial" pitchFamily="34" charset="-122"/>
                <a:cs typeface="Arial" pitchFamily="34" charset="-120"/>
              </a:rPr>
              <a:t>Data Moat</a:t>
            </a:r>
            <a:endParaRPr lang="en-US" sz="1300" dirty="0"/>
          </a:p>
        </p:txBody>
      </p:sp>
      <p:sp>
        <p:nvSpPr>
          <p:cNvPr id="8" name="Text 6"/>
          <p:cNvSpPr/>
          <p:nvPr/>
        </p:nvSpPr>
        <p:spPr>
          <a:xfrm>
            <a:off x="402336" y="1316736"/>
            <a:ext cx="3959352" cy="969264"/>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50M+ km of labeled Indian road data by Year 3. Competitors need 3+ years of physical deployment to replicate. Data moats compound — Garuda gets more accurate every km.</a:t>
            </a:r>
            <a:endParaRPr lang="en-US" sz="1000" dirty="0"/>
          </a:p>
        </p:txBody>
      </p:sp>
      <p:sp>
        <p:nvSpPr>
          <p:cNvPr id="9" name="Shape 7"/>
          <p:cNvSpPr/>
          <p:nvPr/>
        </p:nvSpPr>
        <p:spPr>
          <a:xfrm>
            <a:off x="4709160" y="914400"/>
            <a:ext cx="4160520" cy="1481328"/>
          </a:xfrm>
          <a:prstGeom prst="rect">
            <a:avLst/>
          </a:prstGeom>
          <a:solidFill>
            <a:srgbClr val="E5F4F4"/>
          </a:solidFill>
          <a:ln/>
          <a:effectLst>
            <a:outerShdw sx="100000" sy="100000" kx="0" ky="0" algn="bl" rotWithShape="0" blurRad="76200" dist="25400" dir="8100000">
              <a:srgbClr val="000000">
                <a:alpha val="7000"/>
              </a:srgbClr>
            </a:outerShdw>
          </a:effectLst>
        </p:spPr>
      </p:sp>
      <p:sp>
        <p:nvSpPr>
          <p:cNvPr id="10" name="Shape 8"/>
          <p:cNvSpPr/>
          <p:nvPr/>
        </p:nvSpPr>
        <p:spPr>
          <a:xfrm>
            <a:off x="4709160" y="914400"/>
            <a:ext cx="4160520" cy="54864"/>
          </a:xfrm>
          <a:prstGeom prst="rect">
            <a:avLst/>
          </a:prstGeom>
          <a:solidFill>
            <a:srgbClr val="0A6E6E"/>
          </a:solidFill>
          <a:ln/>
        </p:spPr>
      </p:sp>
      <p:sp>
        <p:nvSpPr>
          <p:cNvPr id="11" name="Text 9"/>
          <p:cNvSpPr/>
          <p:nvPr/>
        </p:nvSpPr>
        <p:spPr>
          <a:xfrm>
            <a:off x="4837176" y="1005840"/>
            <a:ext cx="3959352" cy="292608"/>
          </a:xfrm>
          <a:prstGeom prst="rect">
            <a:avLst/>
          </a:prstGeom>
          <a:noFill/>
          <a:ln/>
        </p:spPr>
        <p:txBody>
          <a:bodyPr wrap="square" lIns="0" tIns="0" rIns="0" bIns="0" rtlCol="0" anchor="ctr"/>
          <a:lstStyle/>
          <a:p>
            <a:pPr indent="0" marL="0">
              <a:buNone/>
            </a:pPr>
            <a:r>
              <a:rPr lang="en-US" sz="1300" b="1" dirty="0">
                <a:solidFill>
                  <a:srgbClr val="0A6E6E"/>
                </a:solidFill>
                <a:latin typeface="Arial" pitchFamily="34" charset="0"/>
                <a:ea typeface="Arial" pitchFamily="34" charset="-122"/>
                <a:cs typeface="Arial" pitchFamily="34" charset="-120"/>
              </a:rPr>
              <a:t>Network Effect</a:t>
            </a:r>
            <a:endParaRPr lang="en-US" sz="1300" dirty="0"/>
          </a:p>
        </p:txBody>
      </p:sp>
      <p:sp>
        <p:nvSpPr>
          <p:cNvPr id="12" name="Text 10"/>
          <p:cNvSpPr/>
          <p:nvPr/>
        </p:nvSpPr>
        <p:spPr>
          <a:xfrm>
            <a:off x="4837176" y="1316736"/>
            <a:ext cx="3959352" cy="969264"/>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Each new vehicle improves the BLE hazard layer for ALL existing vehicles. Non-linear value growth — 1,000 trucks is more than 10× better than 100.</a:t>
            </a:r>
            <a:endParaRPr lang="en-US" sz="1000" dirty="0"/>
          </a:p>
        </p:txBody>
      </p:sp>
      <p:sp>
        <p:nvSpPr>
          <p:cNvPr id="13" name="Shape 11"/>
          <p:cNvSpPr/>
          <p:nvPr/>
        </p:nvSpPr>
        <p:spPr>
          <a:xfrm>
            <a:off x="274320" y="2505456"/>
            <a:ext cx="2651760" cy="1481328"/>
          </a:xfrm>
          <a:prstGeom prst="rect">
            <a:avLst/>
          </a:prstGeom>
          <a:solidFill>
            <a:srgbClr val="FEF0E7"/>
          </a:solidFill>
          <a:ln/>
          <a:effectLst>
            <a:outerShdw sx="100000" sy="100000" kx="0" ky="0" algn="bl" rotWithShape="0" blurRad="76200" dist="25400" dir="8100000">
              <a:srgbClr val="000000">
                <a:alpha val="7000"/>
              </a:srgbClr>
            </a:outerShdw>
          </a:effectLst>
        </p:spPr>
      </p:sp>
      <p:sp>
        <p:nvSpPr>
          <p:cNvPr id="14" name="Shape 12"/>
          <p:cNvSpPr/>
          <p:nvPr/>
        </p:nvSpPr>
        <p:spPr>
          <a:xfrm>
            <a:off x="274320" y="2505456"/>
            <a:ext cx="2651760" cy="54864"/>
          </a:xfrm>
          <a:prstGeom prst="rect">
            <a:avLst/>
          </a:prstGeom>
          <a:solidFill>
            <a:srgbClr val="C94A0A"/>
          </a:solidFill>
          <a:ln/>
        </p:spPr>
      </p:sp>
      <p:sp>
        <p:nvSpPr>
          <p:cNvPr id="15" name="Text 13"/>
          <p:cNvSpPr/>
          <p:nvPr/>
        </p:nvSpPr>
        <p:spPr>
          <a:xfrm>
            <a:off x="402336" y="2596896"/>
            <a:ext cx="2450592" cy="292608"/>
          </a:xfrm>
          <a:prstGeom prst="rect">
            <a:avLst/>
          </a:prstGeom>
          <a:noFill/>
          <a:ln/>
        </p:spPr>
        <p:txBody>
          <a:bodyPr wrap="square" lIns="0" tIns="0" rIns="0" bIns="0" rtlCol="0" anchor="ctr"/>
          <a:lstStyle/>
          <a:p>
            <a:pPr indent="0" marL="0">
              <a:buNone/>
            </a:pPr>
            <a:r>
              <a:rPr lang="en-US" sz="1300" b="1" dirty="0">
                <a:solidFill>
                  <a:srgbClr val="C94A0A"/>
                </a:solidFill>
                <a:latin typeface="Arial" pitchFamily="34" charset="0"/>
                <a:ea typeface="Arial" pitchFamily="34" charset="-122"/>
                <a:cs typeface="Arial" pitchFamily="34" charset="-120"/>
              </a:rPr>
              <a:t>The Friend Factor</a:t>
            </a:r>
            <a:endParaRPr lang="en-US" sz="1300" dirty="0"/>
          </a:p>
        </p:txBody>
      </p:sp>
      <p:sp>
        <p:nvSpPr>
          <p:cNvPr id="16" name="Text 14"/>
          <p:cNvSpPr/>
          <p:nvPr/>
        </p:nvSpPr>
        <p:spPr>
          <a:xfrm>
            <a:off x="402336" y="2907792"/>
            <a:ext cx="2450592" cy="969264"/>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Drivers who trust Garuda never disable it. A disabled device generates zero data. The emotional design is not soft strategy — it is the data collection mechanism.</a:t>
            </a:r>
            <a:endParaRPr lang="en-US" sz="1000" dirty="0"/>
          </a:p>
        </p:txBody>
      </p:sp>
      <p:sp>
        <p:nvSpPr>
          <p:cNvPr id="17" name="Shape 15"/>
          <p:cNvSpPr/>
          <p:nvPr/>
        </p:nvSpPr>
        <p:spPr>
          <a:xfrm>
            <a:off x="3090672" y="2505456"/>
            <a:ext cx="2651760" cy="1481328"/>
          </a:xfrm>
          <a:prstGeom prst="rect">
            <a:avLst/>
          </a:prstGeom>
          <a:solidFill>
            <a:srgbClr val="F0EBF8"/>
          </a:solidFill>
          <a:ln/>
          <a:effectLst>
            <a:outerShdw sx="100000" sy="100000" kx="0" ky="0" algn="bl" rotWithShape="0" blurRad="76200" dist="25400" dir="8100000">
              <a:srgbClr val="000000">
                <a:alpha val="7000"/>
              </a:srgbClr>
            </a:outerShdw>
          </a:effectLst>
        </p:spPr>
      </p:sp>
      <p:sp>
        <p:nvSpPr>
          <p:cNvPr id="18" name="Shape 16"/>
          <p:cNvSpPr/>
          <p:nvPr/>
        </p:nvSpPr>
        <p:spPr>
          <a:xfrm>
            <a:off x="3090672" y="2505456"/>
            <a:ext cx="2651760" cy="54864"/>
          </a:xfrm>
          <a:prstGeom prst="rect">
            <a:avLst/>
          </a:prstGeom>
          <a:solidFill>
            <a:srgbClr val="4A2D7A"/>
          </a:solidFill>
          <a:ln/>
        </p:spPr>
      </p:sp>
      <p:sp>
        <p:nvSpPr>
          <p:cNvPr id="19" name="Text 17"/>
          <p:cNvSpPr/>
          <p:nvPr/>
        </p:nvSpPr>
        <p:spPr>
          <a:xfrm>
            <a:off x="3218688" y="2596896"/>
            <a:ext cx="2450592" cy="292608"/>
          </a:xfrm>
          <a:prstGeom prst="rect">
            <a:avLst/>
          </a:prstGeom>
          <a:noFill/>
          <a:ln/>
        </p:spPr>
        <p:txBody>
          <a:bodyPr wrap="square" lIns="0" tIns="0" rIns="0" bIns="0" rtlCol="0" anchor="ctr"/>
          <a:lstStyle/>
          <a:p>
            <a:pPr indent="0" marL="0">
              <a:buNone/>
            </a:pPr>
            <a:r>
              <a:rPr lang="en-US" sz="1300" b="1" dirty="0">
                <a:solidFill>
                  <a:srgbClr val="4A2D7A"/>
                </a:solidFill>
                <a:latin typeface="Arial" pitchFamily="34" charset="0"/>
                <a:ea typeface="Arial" pitchFamily="34" charset="-122"/>
                <a:cs typeface="Arial" pitchFamily="34" charset="-120"/>
              </a:rPr>
              <a:t>Vernacular Depth</a:t>
            </a:r>
            <a:endParaRPr lang="en-US" sz="1300" dirty="0"/>
          </a:p>
        </p:txBody>
      </p:sp>
      <p:sp>
        <p:nvSpPr>
          <p:cNvPr id="20" name="Text 18"/>
          <p:cNvSpPr/>
          <p:nvPr/>
        </p:nvSpPr>
        <p:spPr>
          <a:xfrm>
            <a:off x="3218688" y="2907792"/>
            <a:ext cx="2450592" cy="969264"/>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Hindi + 6 regional languages with warm, unhurried voice. No global competitor (Mobileye, Bosch) will ever invest in this. It is Garuda's permanent local advantage.</a:t>
            </a:r>
            <a:endParaRPr lang="en-US" sz="1000" dirty="0"/>
          </a:p>
        </p:txBody>
      </p:sp>
      <p:sp>
        <p:nvSpPr>
          <p:cNvPr id="21" name="Shape 19"/>
          <p:cNvSpPr/>
          <p:nvPr/>
        </p:nvSpPr>
        <p:spPr>
          <a:xfrm>
            <a:off x="5897880" y="2505456"/>
            <a:ext cx="2971800" cy="1481328"/>
          </a:xfrm>
          <a:prstGeom prst="rect">
            <a:avLst/>
          </a:prstGeom>
          <a:solidFill>
            <a:srgbClr val="EBF5EE"/>
          </a:solidFill>
          <a:ln/>
          <a:effectLst>
            <a:outerShdw sx="100000" sy="100000" kx="0" ky="0" algn="bl" rotWithShape="0" blurRad="76200" dist="25400" dir="8100000">
              <a:srgbClr val="000000">
                <a:alpha val="7000"/>
              </a:srgbClr>
            </a:outerShdw>
          </a:effectLst>
        </p:spPr>
      </p:sp>
      <p:sp>
        <p:nvSpPr>
          <p:cNvPr id="22" name="Shape 20"/>
          <p:cNvSpPr/>
          <p:nvPr/>
        </p:nvSpPr>
        <p:spPr>
          <a:xfrm>
            <a:off x="5897880" y="2505456"/>
            <a:ext cx="2971800" cy="54864"/>
          </a:xfrm>
          <a:prstGeom prst="rect">
            <a:avLst/>
          </a:prstGeom>
          <a:solidFill>
            <a:srgbClr val="1A5C35"/>
          </a:solidFill>
          <a:ln/>
        </p:spPr>
      </p:sp>
      <p:sp>
        <p:nvSpPr>
          <p:cNvPr id="23" name="Text 21"/>
          <p:cNvSpPr/>
          <p:nvPr/>
        </p:nvSpPr>
        <p:spPr>
          <a:xfrm>
            <a:off x="6025896" y="2596896"/>
            <a:ext cx="2770632" cy="292608"/>
          </a:xfrm>
          <a:prstGeom prst="rect">
            <a:avLst/>
          </a:prstGeom>
          <a:noFill/>
          <a:ln/>
        </p:spPr>
        <p:txBody>
          <a:bodyPr wrap="square" lIns="0" tIns="0" rIns="0" bIns="0" rtlCol="0" anchor="ctr"/>
          <a:lstStyle/>
          <a:p>
            <a:pPr indent="0" marL="0">
              <a:buNone/>
            </a:pPr>
            <a:r>
              <a:rPr lang="en-US" sz="1300" b="1" dirty="0">
                <a:solidFill>
                  <a:srgbClr val="1A5C35"/>
                </a:solidFill>
                <a:latin typeface="Arial" pitchFamily="34" charset="0"/>
                <a:ea typeface="Arial" pitchFamily="34" charset="-122"/>
                <a:cs typeface="Arial" pitchFamily="34" charset="-120"/>
              </a:rPr>
              <a:t>Regulatory Moat</a:t>
            </a:r>
            <a:endParaRPr lang="en-US" sz="1300" dirty="0"/>
          </a:p>
        </p:txBody>
      </p:sp>
      <p:sp>
        <p:nvSpPr>
          <p:cNvPr id="24" name="Text 22"/>
          <p:cNvSpPr/>
          <p:nvPr/>
        </p:nvSpPr>
        <p:spPr>
          <a:xfrm>
            <a:off x="6025896" y="2907792"/>
            <a:ext cx="2770632" cy="969264"/>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First to co-develop AIS-184 compliance standards with MoRTH becomes the reference implementation for every future mandate. Policy positioning = long-term defensibility.</a:t>
            </a:r>
            <a:endParaRPr lang="en-US" sz="1000" dirty="0"/>
          </a:p>
        </p:txBody>
      </p:sp>
      <p:sp>
        <p:nvSpPr>
          <p:cNvPr id="25" name="Shape 23"/>
          <p:cNvSpPr/>
          <p:nvPr/>
        </p:nvSpPr>
        <p:spPr>
          <a:xfrm>
            <a:off x="274320" y="4096512"/>
            <a:ext cx="8595360" cy="548640"/>
          </a:xfrm>
          <a:prstGeom prst="rect">
            <a:avLst/>
          </a:prstGeom>
          <a:solidFill>
            <a:srgbClr val="EAF0F8"/>
          </a:solidFill>
          <a:ln/>
        </p:spPr>
      </p:sp>
      <p:sp>
        <p:nvSpPr>
          <p:cNvPr id="26" name="Shape 24"/>
          <p:cNvSpPr/>
          <p:nvPr/>
        </p:nvSpPr>
        <p:spPr>
          <a:xfrm>
            <a:off x="274320" y="4096512"/>
            <a:ext cx="54864" cy="548640"/>
          </a:xfrm>
          <a:prstGeom prst="rect">
            <a:avLst/>
          </a:prstGeom>
          <a:solidFill>
            <a:srgbClr val="0D2B4E"/>
          </a:solidFill>
          <a:ln/>
        </p:spPr>
      </p:sp>
      <p:sp>
        <p:nvSpPr>
          <p:cNvPr id="27" name="Text 25"/>
          <p:cNvSpPr/>
          <p:nvPr/>
        </p:nvSpPr>
        <p:spPr>
          <a:xfrm>
            <a:off x="402336" y="4187952"/>
            <a:ext cx="8412480" cy="256032"/>
          </a:xfrm>
          <a:prstGeom prst="rect">
            <a:avLst/>
          </a:prstGeom>
          <a:noFill/>
          <a:ln/>
        </p:spPr>
        <p:txBody>
          <a:bodyPr wrap="square" lIns="0" tIns="0" rIns="0" bIns="0" rtlCol="0" anchor="ctr"/>
          <a:lstStyle/>
          <a:p>
            <a:pPr indent="0" marL="0">
              <a:buNone/>
            </a:pPr>
            <a:r>
              <a:rPr lang="en-US" sz="1200" b="1" dirty="0">
                <a:solidFill>
                  <a:srgbClr val="0D2B4E"/>
                </a:solidFill>
                <a:latin typeface="Arial" pitchFamily="34" charset="0"/>
                <a:ea typeface="Arial" pitchFamily="34" charset="-122"/>
                <a:cs typeface="Arial" pitchFamily="34" charset="-120"/>
              </a:rPr>
              <a:t>Why This Matters to Investors</a:t>
            </a:r>
            <a:endParaRPr lang="en-US" sz="1200" dirty="0"/>
          </a:p>
        </p:txBody>
      </p:sp>
      <p:sp>
        <p:nvSpPr>
          <p:cNvPr id="28" name="Text 26"/>
          <p:cNvSpPr/>
          <p:nvPr/>
        </p:nvSpPr>
        <p:spPr>
          <a:xfrm>
            <a:off x="402336" y="4443984"/>
            <a:ext cx="8412480" cy="10972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Garuda's moats are structural, not feature-based. No competitor can buy the data, replicate the network effect, or fast-follow the regulatory position. The longer Garuda deploys, the wider the gap grows.</a:t>
            </a:r>
            <a:endParaRPr lang="en-US" sz="1100" dirty="0"/>
          </a:p>
        </p:txBody>
      </p:sp>
      <p:sp>
        <p:nvSpPr>
          <p:cNvPr id="29" name="Text 27"/>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30" name="Text 28"/>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08  —  Business Model</a:t>
            </a:r>
            <a:endParaRPr lang="en-US" sz="1300" dirty="0"/>
          </a:p>
        </p:txBody>
      </p:sp>
      <p:sp>
        <p:nvSpPr>
          <p:cNvPr id="4" name="Text 2"/>
          <p:cNvSpPr/>
          <p:nvPr/>
        </p:nvSpPr>
        <p:spPr>
          <a:xfrm>
            <a:off x="274320" y="457200"/>
            <a:ext cx="8595360" cy="310896"/>
          </a:xfrm>
          <a:prstGeom prst="rect">
            <a:avLst/>
          </a:prstGeom>
          <a:noFill/>
          <a:ln/>
        </p:spPr>
        <p:txBody>
          <a:bodyPr wrap="square" rtlCol="0" anchor="ctr"/>
          <a:lstStyle/>
          <a:p>
            <a:pPr indent="0" marL="0">
              <a:buNone/>
            </a:pPr>
            <a:r>
              <a:rPr lang="en-US" sz="1600" b="1" dirty="0">
                <a:solidFill>
                  <a:srgbClr val="0D2B4E"/>
                </a:solidFill>
                <a:latin typeface="Arial" pitchFamily="34" charset="0"/>
                <a:ea typeface="Arial" pitchFamily="34" charset="-122"/>
                <a:cs typeface="Arial" pitchFamily="34" charset="-120"/>
              </a:rPr>
              <a:t>Three stacked revenue layers — each funds and unlocks the next</a:t>
            </a:r>
            <a:endParaRPr lang="en-US" sz="1600" dirty="0"/>
          </a:p>
        </p:txBody>
      </p:sp>
      <p:sp>
        <p:nvSpPr>
          <p:cNvPr id="5" name="Shape 3"/>
          <p:cNvSpPr/>
          <p:nvPr/>
        </p:nvSpPr>
        <p:spPr>
          <a:xfrm>
            <a:off x="274320" y="914400"/>
            <a:ext cx="8595360" cy="1024128"/>
          </a:xfrm>
          <a:prstGeom prst="rect">
            <a:avLst/>
          </a:prstGeom>
          <a:solidFill>
            <a:srgbClr val="EAF0F8"/>
          </a:solidFill>
          <a:ln/>
        </p:spPr>
      </p:sp>
      <p:sp>
        <p:nvSpPr>
          <p:cNvPr id="6" name="Shape 4"/>
          <p:cNvSpPr/>
          <p:nvPr/>
        </p:nvSpPr>
        <p:spPr>
          <a:xfrm>
            <a:off x="274320" y="914400"/>
            <a:ext cx="64008" cy="1024128"/>
          </a:xfrm>
          <a:prstGeom prst="rect">
            <a:avLst/>
          </a:prstGeom>
          <a:solidFill>
            <a:srgbClr val="0D2B4E"/>
          </a:solidFill>
          <a:ln/>
        </p:spPr>
      </p:sp>
      <p:sp>
        <p:nvSpPr>
          <p:cNvPr id="7" name="Text 5"/>
          <p:cNvSpPr/>
          <p:nvPr/>
        </p:nvSpPr>
        <p:spPr>
          <a:xfrm>
            <a:off x="438912" y="969264"/>
            <a:ext cx="3657600" cy="219456"/>
          </a:xfrm>
          <a:prstGeom prst="rect">
            <a:avLst/>
          </a:prstGeom>
          <a:noFill/>
          <a:ln/>
        </p:spPr>
        <p:txBody>
          <a:bodyPr wrap="square" lIns="0" tIns="0" rIns="0" bIns="0" rtlCol="0" anchor="ctr"/>
          <a:lstStyle/>
          <a:p>
            <a:pPr indent="0" marL="0">
              <a:buNone/>
            </a:pPr>
            <a:r>
              <a:rPr lang="en-US" sz="900" b="1" i="1" dirty="0">
                <a:solidFill>
                  <a:srgbClr val="0D2B4E"/>
                </a:solidFill>
                <a:latin typeface="Arial" pitchFamily="34" charset="0"/>
                <a:ea typeface="Arial" pitchFamily="34" charset="-122"/>
                <a:cs typeface="Arial" pitchFamily="34" charset="-120"/>
              </a:rPr>
              <a:t>LAYER 1  —  Primary Revenue  (Year 1+)</a:t>
            </a:r>
            <a:endParaRPr lang="en-US" sz="900" dirty="0"/>
          </a:p>
        </p:txBody>
      </p:sp>
      <p:sp>
        <p:nvSpPr>
          <p:cNvPr id="8" name="Text 6"/>
          <p:cNvSpPr/>
          <p:nvPr/>
        </p:nvSpPr>
        <p:spPr>
          <a:xfrm>
            <a:off x="438912" y="1170432"/>
            <a:ext cx="3200400" cy="274320"/>
          </a:xfrm>
          <a:prstGeom prst="rect">
            <a:avLst/>
          </a:prstGeom>
          <a:noFill/>
          <a:ln/>
        </p:spPr>
        <p:txBody>
          <a:bodyPr wrap="square" lIns="0" tIns="0" rIns="0" bIns="0" rtlCol="0" anchor="ctr"/>
          <a:lstStyle/>
          <a:p>
            <a:pPr indent="0" marL="0">
              <a:buNone/>
            </a:pPr>
            <a:r>
              <a:rPr lang="en-US" sz="1500" b="1" dirty="0">
                <a:solidFill>
                  <a:srgbClr val="0D2B4E"/>
                </a:solidFill>
                <a:latin typeface="Arial" pitchFamily="34" charset="0"/>
                <a:ea typeface="Arial" pitchFamily="34" charset="-122"/>
                <a:cs typeface="Arial" pitchFamily="34" charset="-120"/>
              </a:rPr>
              <a:t>Fleet SaaS Subscription</a:t>
            </a:r>
            <a:endParaRPr lang="en-US" sz="1500" dirty="0"/>
          </a:p>
        </p:txBody>
      </p:sp>
      <p:sp>
        <p:nvSpPr>
          <p:cNvPr id="9" name="Text 7"/>
          <p:cNvSpPr/>
          <p:nvPr/>
        </p:nvSpPr>
        <p:spPr>
          <a:xfrm>
            <a:off x="438912" y="1444752"/>
            <a:ext cx="3200400" cy="237744"/>
          </a:xfrm>
          <a:prstGeom prst="rect">
            <a:avLst/>
          </a:prstGeom>
          <a:noFill/>
          <a:ln/>
        </p:spPr>
        <p:txBody>
          <a:bodyPr wrap="square" lIns="0" tIns="0" rIns="0" bIns="0" rtlCol="0" anchor="ctr"/>
          <a:lstStyle/>
          <a:p>
            <a:pPr indent="0" marL="0">
              <a:buNone/>
            </a:pPr>
            <a:r>
              <a:rPr lang="en-US" sz="1100" i="1" dirty="0">
                <a:solidFill>
                  <a:srgbClr val="0D2B4E"/>
                </a:solidFill>
                <a:latin typeface="Arial" pitchFamily="34" charset="0"/>
                <a:ea typeface="Arial" pitchFamily="34" charset="-122"/>
                <a:cs typeface="Arial" pitchFamily="34" charset="-120"/>
              </a:rPr>
              <a:t>₹3,500 – ₹6,000 / vehicle / month</a:t>
            </a:r>
            <a:endParaRPr lang="en-US" sz="1100" dirty="0"/>
          </a:p>
        </p:txBody>
      </p:sp>
      <p:sp>
        <p:nvSpPr>
          <p:cNvPr id="10" name="Text 8"/>
          <p:cNvSpPr/>
          <p:nvPr/>
        </p:nvSpPr>
        <p:spPr>
          <a:xfrm>
            <a:off x="3749040" y="969264"/>
            <a:ext cx="4983480" cy="914400"/>
          </a:xfrm>
          <a:prstGeom prst="rect">
            <a:avLst/>
          </a:prstGeom>
          <a:noFill/>
          <a:ln/>
        </p:spPr>
        <p:txBody>
          <a:bodyPr wrap="square" lIns="0" tIns="0" rIns="0" bIns="0" rtlCol="0" anchor="ctr"/>
          <a:lstStyle/>
          <a:p>
            <a:pPr marL="342900" indent="-342900">
              <a:buSzPct val="100000"/>
              <a:buChar char="•"/>
            </a:pPr>
            <a:r>
              <a:rPr lang="en-US" sz="1000" dirty="0">
                <a:solidFill>
                  <a:srgbClr val="334155"/>
                </a:solidFill>
                <a:latin typeface="Arial" pitchFamily="34" charset="0"/>
                <a:ea typeface="Arial" pitchFamily="34" charset="-122"/>
                <a:cs typeface="Arial" pitchFamily="34" charset="-120"/>
              </a:rPr>
              <a:t>₹0 upfront — hardware leased, cost amortized over 18 months</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Base tier: accident prediction + voice alerts + BLE mesh</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Premium tier: fleet analytics + route AI + driver scoring</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12-month minimum contracts · 3% monthly churn target</a:t>
            </a:r>
            <a:endParaRPr lang="en-US" sz="1000" dirty="0"/>
          </a:p>
        </p:txBody>
      </p:sp>
      <p:sp>
        <p:nvSpPr>
          <p:cNvPr id="11" name="Shape 9"/>
          <p:cNvSpPr/>
          <p:nvPr/>
        </p:nvSpPr>
        <p:spPr>
          <a:xfrm>
            <a:off x="274320" y="2011680"/>
            <a:ext cx="8595360" cy="1024128"/>
          </a:xfrm>
          <a:prstGeom prst="rect">
            <a:avLst/>
          </a:prstGeom>
          <a:solidFill>
            <a:srgbClr val="E5F4F4"/>
          </a:solidFill>
          <a:ln/>
        </p:spPr>
      </p:sp>
      <p:sp>
        <p:nvSpPr>
          <p:cNvPr id="12" name="Shape 10"/>
          <p:cNvSpPr/>
          <p:nvPr/>
        </p:nvSpPr>
        <p:spPr>
          <a:xfrm>
            <a:off x="274320" y="2011680"/>
            <a:ext cx="64008" cy="1024128"/>
          </a:xfrm>
          <a:prstGeom prst="rect">
            <a:avLst/>
          </a:prstGeom>
          <a:solidFill>
            <a:srgbClr val="0A6E6E"/>
          </a:solidFill>
          <a:ln/>
        </p:spPr>
      </p:sp>
      <p:sp>
        <p:nvSpPr>
          <p:cNvPr id="13" name="Text 11"/>
          <p:cNvSpPr/>
          <p:nvPr/>
        </p:nvSpPr>
        <p:spPr>
          <a:xfrm>
            <a:off x="438912" y="2066544"/>
            <a:ext cx="3657600" cy="219456"/>
          </a:xfrm>
          <a:prstGeom prst="rect">
            <a:avLst/>
          </a:prstGeom>
          <a:noFill/>
          <a:ln/>
        </p:spPr>
        <p:txBody>
          <a:bodyPr wrap="square" lIns="0" tIns="0" rIns="0" bIns="0" rtlCol="0" anchor="ctr"/>
          <a:lstStyle/>
          <a:p>
            <a:pPr indent="0" marL="0">
              <a:buNone/>
            </a:pPr>
            <a:r>
              <a:rPr lang="en-US" sz="900" b="1" i="1" dirty="0">
                <a:solidFill>
                  <a:srgbClr val="0A6E6E"/>
                </a:solidFill>
                <a:latin typeface="Arial" pitchFamily="34" charset="0"/>
                <a:ea typeface="Arial" pitchFamily="34" charset="-122"/>
                <a:cs typeface="Arial" pitchFamily="34" charset="-120"/>
              </a:rPr>
              <a:t>LAYER 2  —  Distribution Accelerant  (Year 1–2)</a:t>
            </a:r>
            <a:endParaRPr lang="en-US" sz="900" dirty="0"/>
          </a:p>
        </p:txBody>
      </p:sp>
      <p:sp>
        <p:nvSpPr>
          <p:cNvPr id="14" name="Text 12"/>
          <p:cNvSpPr/>
          <p:nvPr/>
        </p:nvSpPr>
        <p:spPr>
          <a:xfrm>
            <a:off x="438912" y="2267712"/>
            <a:ext cx="3200400" cy="274320"/>
          </a:xfrm>
          <a:prstGeom prst="rect">
            <a:avLst/>
          </a:prstGeom>
          <a:noFill/>
          <a:ln/>
        </p:spPr>
        <p:txBody>
          <a:bodyPr wrap="square" lIns="0" tIns="0" rIns="0" bIns="0" rtlCol="0" anchor="ctr"/>
          <a:lstStyle/>
          <a:p>
            <a:pPr indent="0" marL="0">
              <a:buNone/>
            </a:pPr>
            <a:r>
              <a:rPr lang="en-US" sz="1500" b="1" dirty="0">
                <a:solidFill>
                  <a:srgbClr val="0D2B4E"/>
                </a:solidFill>
                <a:latin typeface="Arial" pitchFamily="34" charset="0"/>
                <a:ea typeface="Arial" pitchFamily="34" charset="-122"/>
                <a:cs typeface="Arial" pitchFamily="34" charset="-120"/>
              </a:rPr>
              <a:t>Insurance Partnership</a:t>
            </a:r>
            <a:endParaRPr lang="en-US" sz="1500" dirty="0"/>
          </a:p>
        </p:txBody>
      </p:sp>
      <p:sp>
        <p:nvSpPr>
          <p:cNvPr id="15" name="Text 13"/>
          <p:cNvSpPr/>
          <p:nvPr/>
        </p:nvSpPr>
        <p:spPr>
          <a:xfrm>
            <a:off x="438912" y="2542032"/>
            <a:ext cx="3200400" cy="237744"/>
          </a:xfrm>
          <a:prstGeom prst="rect">
            <a:avLst/>
          </a:prstGeom>
          <a:noFill/>
          <a:ln/>
        </p:spPr>
        <p:txBody>
          <a:bodyPr wrap="square" lIns="0" tIns="0" rIns="0" bIns="0" rtlCol="0" anchor="ctr"/>
          <a:lstStyle/>
          <a:p>
            <a:pPr indent="0" marL="0">
              <a:buNone/>
            </a:pPr>
            <a:r>
              <a:rPr lang="en-US" sz="1100" i="1" dirty="0">
                <a:solidFill>
                  <a:srgbClr val="0A6E6E"/>
                </a:solidFill>
                <a:latin typeface="Arial" pitchFamily="34" charset="0"/>
                <a:ea typeface="Arial" pitchFamily="34" charset="-122"/>
                <a:cs typeface="Arial" pitchFamily="34" charset="-120"/>
              </a:rPr>
              <a:t>₹80 – ₹200 / vehicle / year  (data royalty)</a:t>
            </a:r>
            <a:endParaRPr lang="en-US" sz="1100" dirty="0"/>
          </a:p>
        </p:txBody>
      </p:sp>
      <p:sp>
        <p:nvSpPr>
          <p:cNvPr id="16" name="Text 14"/>
          <p:cNvSpPr/>
          <p:nvPr/>
        </p:nvSpPr>
        <p:spPr>
          <a:xfrm>
            <a:off x="3749040" y="2066544"/>
            <a:ext cx="4983480" cy="914400"/>
          </a:xfrm>
          <a:prstGeom prst="rect">
            <a:avLst/>
          </a:prstGeom>
          <a:noFill/>
          <a:ln/>
        </p:spPr>
        <p:txBody>
          <a:bodyPr wrap="square" lIns="0" tIns="0" rIns="0" bIns="0" rtlCol="0" anchor="ctr"/>
          <a:lstStyle/>
          <a:p>
            <a:pPr marL="342900" indent="-342900">
              <a:buSzPct val="100000"/>
              <a:buChar char="•"/>
            </a:pPr>
            <a:r>
              <a:rPr lang="en-US" sz="1000" dirty="0">
                <a:solidFill>
                  <a:srgbClr val="334155"/>
                </a:solidFill>
                <a:latin typeface="Arial" pitchFamily="34" charset="0"/>
                <a:ea typeface="Arial" pitchFamily="34" charset="-122"/>
                <a:cs typeface="Arial" pitchFamily="34" charset="-120"/>
              </a:rPr>
              <a:t>Co-sell with ICICI Lombard, Acko, Bajaj Allianz</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Fleets get 10–15% premium discount → device pays for itself in 5 months</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Garuda receives data royalty + 35% CAC reduction</a:t>
            </a:r>
            <a:endParaRPr lang="en-US" sz="1000" dirty="0"/>
          </a:p>
        </p:txBody>
      </p:sp>
      <p:sp>
        <p:nvSpPr>
          <p:cNvPr id="17" name="Shape 15"/>
          <p:cNvSpPr/>
          <p:nvPr/>
        </p:nvSpPr>
        <p:spPr>
          <a:xfrm>
            <a:off x="274320" y="3108960"/>
            <a:ext cx="8595360" cy="1024128"/>
          </a:xfrm>
          <a:prstGeom prst="rect">
            <a:avLst/>
          </a:prstGeom>
          <a:solidFill>
            <a:srgbClr val="FEF8EC"/>
          </a:solidFill>
          <a:ln/>
        </p:spPr>
      </p:sp>
      <p:sp>
        <p:nvSpPr>
          <p:cNvPr id="18" name="Shape 16"/>
          <p:cNvSpPr/>
          <p:nvPr/>
        </p:nvSpPr>
        <p:spPr>
          <a:xfrm>
            <a:off x="274320" y="3108960"/>
            <a:ext cx="64008" cy="1024128"/>
          </a:xfrm>
          <a:prstGeom prst="rect">
            <a:avLst/>
          </a:prstGeom>
          <a:solidFill>
            <a:srgbClr val="8B6200"/>
          </a:solidFill>
          <a:ln/>
        </p:spPr>
      </p:sp>
      <p:sp>
        <p:nvSpPr>
          <p:cNvPr id="19" name="Text 17"/>
          <p:cNvSpPr/>
          <p:nvPr/>
        </p:nvSpPr>
        <p:spPr>
          <a:xfrm>
            <a:off x="438912" y="3163824"/>
            <a:ext cx="3657600" cy="219456"/>
          </a:xfrm>
          <a:prstGeom prst="rect">
            <a:avLst/>
          </a:prstGeom>
          <a:noFill/>
          <a:ln/>
        </p:spPr>
        <p:txBody>
          <a:bodyPr wrap="square" lIns="0" tIns="0" rIns="0" bIns="0" rtlCol="0" anchor="ctr"/>
          <a:lstStyle/>
          <a:p>
            <a:pPr indent="0" marL="0">
              <a:buNone/>
            </a:pPr>
            <a:r>
              <a:rPr lang="en-US" sz="900" b="1" i="1" dirty="0">
                <a:solidFill>
                  <a:srgbClr val="8B6200"/>
                </a:solidFill>
                <a:latin typeface="Arial" pitchFamily="34" charset="0"/>
                <a:ea typeface="Arial" pitchFamily="34" charset="-122"/>
                <a:cs typeface="Arial" pitchFamily="34" charset="-120"/>
              </a:rPr>
              <a:t>LAYER 3  —  Long-Term Platform  (Year 3+)</a:t>
            </a:r>
            <a:endParaRPr lang="en-US" sz="900" dirty="0"/>
          </a:p>
        </p:txBody>
      </p:sp>
      <p:sp>
        <p:nvSpPr>
          <p:cNvPr id="20" name="Text 18"/>
          <p:cNvSpPr/>
          <p:nvPr/>
        </p:nvSpPr>
        <p:spPr>
          <a:xfrm>
            <a:off x="438912" y="3364992"/>
            <a:ext cx="3200400" cy="274320"/>
          </a:xfrm>
          <a:prstGeom prst="rect">
            <a:avLst/>
          </a:prstGeom>
          <a:noFill/>
          <a:ln/>
        </p:spPr>
        <p:txBody>
          <a:bodyPr wrap="square" lIns="0" tIns="0" rIns="0" bIns="0" rtlCol="0" anchor="ctr"/>
          <a:lstStyle/>
          <a:p>
            <a:pPr indent="0" marL="0">
              <a:buNone/>
            </a:pPr>
            <a:r>
              <a:rPr lang="en-US" sz="1500" b="1" dirty="0">
                <a:solidFill>
                  <a:srgbClr val="0D2B4E"/>
                </a:solidFill>
                <a:latin typeface="Arial" pitchFamily="34" charset="0"/>
                <a:ea typeface="Arial" pitchFamily="34" charset="-122"/>
                <a:cs typeface="Arial" pitchFamily="34" charset="-120"/>
              </a:rPr>
              <a:t>Road Intelligence Data Platform</a:t>
            </a:r>
            <a:endParaRPr lang="en-US" sz="1500" dirty="0"/>
          </a:p>
        </p:txBody>
      </p:sp>
      <p:sp>
        <p:nvSpPr>
          <p:cNvPr id="21" name="Text 19"/>
          <p:cNvSpPr/>
          <p:nvPr/>
        </p:nvSpPr>
        <p:spPr>
          <a:xfrm>
            <a:off x="438912" y="3639312"/>
            <a:ext cx="3200400" cy="237744"/>
          </a:xfrm>
          <a:prstGeom prst="rect">
            <a:avLst/>
          </a:prstGeom>
          <a:noFill/>
          <a:ln/>
        </p:spPr>
        <p:txBody>
          <a:bodyPr wrap="square" lIns="0" tIns="0" rIns="0" bIns="0" rtlCol="0" anchor="ctr"/>
          <a:lstStyle/>
          <a:p>
            <a:pPr indent="0" marL="0">
              <a:buNone/>
            </a:pPr>
            <a:r>
              <a:rPr lang="en-US" sz="1100" i="1" dirty="0">
                <a:solidFill>
                  <a:srgbClr val="8B6200"/>
                </a:solidFill>
                <a:latin typeface="Arial" pitchFamily="34" charset="0"/>
                <a:ea typeface="Arial" pitchFamily="34" charset="-122"/>
                <a:cs typeface="Arial" pitchFamily="34" charset="-120"/>
              </a:rPr>
              <a:t>₹200 – ₹500 / vehicle / year  (API licensing)</a:t>
            </a:r>
            <a:endParaRPr lang="en-US" sz="1100" dirty="0"/>
          </a:p>
        </p:txBody>
      </p:sp>
      <p:sp>
        <p:nvSpPr>
          <p:cNvPr id="22" name="Text 20"/>
          <p:cNvSpPr/>
          <p:nvPr/>
        </p:nvSpPr>
        <p:spPr>
          <a:xfrm>
            <a:off x="3749040" y="3163824"/>
            <a:ext cx="4983480" cy="914400"/>
          </a:xfrm>
          <a:prstGeom prst="rect">
            <a:avLst/>
          </a:prstGeom>
          <a:noFill/>
          <a:ln/>
        </p:spPr>
        <p:txBody>
          <a:bodyPr wrap="square" lIns="0" tIns="0" rIns="0" bIns="0" rtlCol="0" anchor="ctr"/>
          <a:lstStyle/>
          <a:p>
            <a:pPr marL="342900" indent="-342900">
              <a:buSzPct val="100000"/>
              <a:buChar char="•"/>
            </a:pPr>
            <a:r>
              <a:rPr lang="en-US" sz="1000" dirty="0">
                <a:solidFill>
                  <a:srgbClr val="334155"/>
                </a:solidFill>
                <a:latin typeface="Arial" pitchFamily="34" charset="0"/>
                <a:ea typeface="Arial" pitchFamily="34" charset="-122"/>
                <a:cs typeface="Arial" pitchFamily="34" charset="-120"/>
              </a:rPr>
              <a:t>Road risk intelligence sold to OEMs, insurers, NHAI</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Driver risk scores for gig platforms (Ola, Rapido, Porter)</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International licensing: SEA, Africa, LATAM markets</a:t>
            </a:r>
            <a:endParaRPr lang="en-US" sz="1000" dirty="0"/>
          </a:p>
        </p:txBody>
      </p:sp>
      <p:sp>
        <p:nvSpPr>
          <p:cNvPr id="23" name="Text 21"/>
          <p:cNvSpPr/>
          <p:nvPr/>
        </p:nvSpPr>
        <p:spPr>
          <a:xfrm>
            <a:off x="274320" y="4279392"/>
            <a:ext cx="1097280" cy="256032"/>
          </a:xfrm>
          <a:prstGeom prst="rect">
            <a:avLst/>
          </a:prstGeom>
          <a:noFill/>
          <a:ln/>
        </p:spPr>
        <p:txBody>
          <a:bodyPr wrap="square" lIns="0" tIns="0" rIns="0" bIns="0" rtlCol="0" anchor="ctr"/>
          <a:lstStyle/>
          <a:p>
            <a:pPr indent="0" marL="0">
              <a:buNone/>
            </a:pPr>
            <a:r>
              <a:rPr lang="en-US" sz="1100" b="1" dirty="0">
                <a:solidFill>
                  <a:srgbClr val="0D2B4E"/>
                </a:solidFill>
                <a:latin typeface="Arial" pitchFamily="34" charset="0"/>
                <a:ea typeface="Arial" pitchFamily="34" charset="-122"/>
                <a:cs typeface="Arial" pitchFamily="34" charset="-120"/>
              </a:rPr>
              <a:t>GTM Sequence:</a:t>
            </a:r>
            <a:endParaRPr lang="en-US" sz="1100" dirty="0"/>
          </a:p>
        </p:txBody>
      </p:sp>
      <p:sp>
        <p:nvSpPr>
          <p:cNvPr id="24" name="Shape 22"/>
          <p:cNvSpPr/>
          <p:nvPr/>
        </p:nvSpPr>
        <p:spPr>
          <a:xfrm>
            <a:off x="1554480" y="4224528"/>
            <a:ext cx="2103120" cy="621792"/>
          </a:xfrm>
          <a:prstGeom prst="rect">
            <a:avLst>
              <a:gd name="adj" fmla="val 11765"/>
            </a:avLst>
          </a:prstGeom>
          <a:solidFill>
            <a:srgbClr val="0D2B4E"/>
          </a:solidFill>
          <a:ln/>
        </p:spPr>
      </p:sp>
      <p:sp>
        <p:nvSpPr>
          <p:cNvPr id="25" name="Text 23"/>
          <p:cNvSpPr/>
          <p:nvPr/>
        </p:nvSpPr>
        <p:spPr>
          <a:xfrm>
            <a:off x="1645920" y="4270248"/>
            <a:ext cx="192024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TRUCKS  (Year 1–2)</a:t>
            </a:r>
            <a:endParaRPr lang="en-US" sz="1100" dirty="0"/>
          </a:p>
        </p:txBody>
      </p:sp>
      <p:sp>
        <p:nvSpPr>
          <p:cNvPr id="26" name="Text 24"/>
          <p:cNvSpPr/>
          <p:nvPr/>
        </p:nvSpPr>
        <p:spPr>
          <a:xfrm>
            <a:off x="1645920" y="4544568"/>
            <a:ext cx="1920240" cy="219456"/>
          </a:xfrm>
          <a:prstGeom prst="rect">
            <a:avLst/>
          </a:prstGeom>
          <a:noFill/>
          <a:ln/>
        </p:spPr>
        <p:txBody>
          <a:bodyPr wrap="square" lIns="0" tIns="0" rIns="0" bIns="0" rtlCol="0" anchor="ctr"/>
          <a:lstStyle/>
          <a:p>
            <a:pPr indent="0" marL="0">
              <a:buNone/>
            </a:pPr>
            <a:r>
              <a:rPr lang="en-US" sz="900" dirty="0">
                <a:solidFill>
                  <a:srgbClr val="BDD5EE"/>
                </a:solidFill>
                <a:latin typeface="Arial" pitchFamily="34" charset="0"/>
                <a:ea typeface="Arial" pitchFamily="34" charset="-122"/>
                <a:cs typeface="Arial" pitchFamily="34" charset="-120"/>
              </a:rPr>
              <a:t>Direct B2B · 30-truck pilot</a:t>
            </a:r>
            <a:endParaRPr lang="en-US" sz="900" dirty="0"/>
          </a:p>
        </p:txBody>
      </p:sp>
      <p:sp>
        <p:nvSpPr>
          <p:cNvPr id="27" name="Text 25"/>
          <p:cNvSpPr/>
          <p:nvPr/>
        </p:nvSpPr>
        <p:spPr>
          <a:xfrm>
            <a:off x="3703320" y="4425696"/>
            <a:ext cx="274320" cy="256032"/>
          </a:xfrm>
          <a:prstGeom prst="rect">
            <a:avLst/>
          </a:prstGeom>
          <a:noFill/>
          <a:ln/>
        </p:spPr>
        <p:txBody>
          <a:bodyPr wrap="square" lIns="0" tIns="0" rIns="0" bIns="0" rtlCol="0" anchor="ctr"/>
          <a:lstStyle/>
          <a:p>
            <a:pPr algn="ctr" indent="0" marL="0">
              <a:buNone/>
            </a:pPr>
            <a:r>
              <a:rPr lang="en-US" sz="1800" dirty="0">
                <a:solidFill>
                  <a:srgbClr val="64748B"/>
                </a:solidFill>
                <a:latin typeface="Arial" pitchFamily="34" charset="0"/>
                <a:ea typeface="Arial" pitchFamily="34" charset="-122"/>
                <a:cs typeface="Arial" pitchFamily="34" charset="-120"/>
              </a:rPr>
              <a:t>→</a:t>
            </a:r>
            <a:endParaRPr lang="en-US" sz="1800" dirty="0"/>
          </a:p>
        </p:txBody>
      </p:sp>
      <p:sp>
        <p:nvSpPr>
          <p:cNvPr id="28" name="Shape 26"/>
          <p:cNvSpPr/>
          <p:nvPr/>
        </p:nvSpPr>
        <p:spPr>
          <a:xfrm>
            <a:off x="3840480" y="4224528"/>
            <a:ext cx="2103120" cy="621792"/>
          </a:xfrm>
          <a:prstGeom prst="rect">
            <a:avLst>
              <a:gd name="adj" fmla="val 11765"/>
            </a:avLst>
          </a:prstGeom>
          <a:solidFill>
            <a:srgbClr val="0A6E6E"/>
          </a:solidFill>
          <a:ln/>
        </p:spPr>
      </p:sp>
      <p:sp>
        <p:nvSpPr>
          <p:cNvPr id="29" name="Text 27"/>
          <p:cNvSpPr/>
          <p:nvPr/>
        </p:nvSpPr>
        <p:spPr>
          <a:xfrm>
            <a:off x="3931920" y="4270248"/>
            <a:ext cx="192024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BUSES  (Year 2–3)</a:t>
            </a:r>
            <a:endParaRPr lang="en-US" sz="1100" dirty="0"/>
          </a:p>
        </p:txBody>
      </p:sp>
      <p:sp>
        <p:nvSpPr>
          <p:cNvPr id="30" name="Text 28"/>
          <p:cNvSpPr/>
          <p:nvPr/>
        </p:nvSpPr>
        <p:spPr>
          <a:xfrm>
            <a:off x="3931920" y="4544568"/>
            <a:ext cx="1920240" cy="219456"/>
          </a:xfrm>
          <a:prstGeom prst="rect">
            <a:avLst/>
          </a:prstGeom>
          <a:noFill/>
          <a:ln/>
        </p:spPr>
        <p:txBody>
          <a:bodyPr wrap="square" lIns="0" tIns="0" rIns="0" bIns="0" rtlCol="0" anchor="ctr"/>
          <a:lstStyle/>
          <a:p>
            <a:pPr indent="0" marL="0">
              <a:buNone/>
            </a:pPr>
            <a:r>
              <a:rPr lang="en-US" sz="900" dirty="0">
                <a:solidFill>
                  <a:srgbClr val="BDD5EE"/>
                </a:solidFill>
                <a:latin typeface="Arial" pitchFamily="34" charset="0"/>
                <a:ea typeface="Arial" pitchFamily="34" charset="-122"/>
                <a:cs typeface="Arial" pitchFamily="34" charset="-120"/>
              </a:rPr>
              <a:t>AIS-184 compliance hook</a:t>
            </a:r>
            <a:endParaRPr lang="en-US" sz="900" dirty="0"/>
          </a:p>
        </p:txBody>
      </p:sp>
      <p:sp>
        <p:nvSpPr>
          <p:cNvPr id="31" name="Text 29"/>
          <p:cNvSpPr/>
          <p:nvPr/>
        </p:nvSpPr>
        <p:spPr>
          <a:xfrm>
            <a:off x="5989320" y="4425696"/>
            <a:ext cx="274320" cy="256032"/>
          </a:xfrm>
          <a:prstGeom prst="rect">
            <a:avLst/>
          </a:prstGeom>
          <a:noFill/>
          <a:ln/>
        </p:spPr>
        <p:txBody>
          <a:bodyPr wrap="square" lIns="0" tIns="0" rIns="0" bIns="0" rtlCol="0" anchor="ctr"/>
          <a:lstStyle/>
          <a:p>
            <a:pPr algn="ctr" indent="0" marL="0">
              <a:buNone/>
            </a:pPr>
            <a:r>
              <a:rPr lang="en-US" sz="1800" dirty="0">
                <a:solidFill>
                  <a:srgbClr val="64748B"/>
                </a:solidFill>
                <a:latin typeface="Arial" pitchFamily="34" charset="0"/>
                <a:ea typeface="Arial" pitchFamily="34" charset="-122"/>
                <a:cs typeface="Arial" pitchFamily="34" charset="-120"/>
              </a:rPr>
              <a:t>→</a:t>
            </a:r>
            <a:endParaRPr lang="en-US" sz="1800" dirty="0"/>
          </a:p>
        </p:txBody>
      </p:sp>
      <p:sp>
        <p:nvSpPr>
          <p:cNvPr id="32" name="Shape 30"/>
          <p:cNvSpPr/>
          <p:nvPr/>
        </p:nvSpPr>
        <p:spPr>
          <a:xfrm>
            <a:off x="6126480" y="4224528"/>
            <a:ext cx="2103120" cy="621792"/>
          </a:xfrm>
          <a:prstGeom prst="rect">
            <a:avLst>
              <a:gd name="adj" fmla="val 11765"/>
            </a:avLst>
          </a:prstGeom>
          <a:solidFill>
            <a:srgbClr val="C94A0A"/>
          </a:solidFill>
          <a:ln/>
        </p:spPr>
      </p:sp>
      <p:sp>
        <p:nvSpPr>
          <p:cNvPr id="33" name="Text 31"/>
          <p:cNvSpPr/>
          <p:nvPr/>
        </p:nvSpPr>
        <p:spPr>
          <a:xfrm>
            <a:off x="6217920" y="4270248"/>
            <a:ext cx="192024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CARS  (Year 3+)</a:t>
            </a:r>
            <a:endParaRPr lang="en-US" sz="1100" dirty="0"/>
          </a:p>
        </p:txBody>
      </p:sp>
      <p:sp>
        <p:nvSpPr>
          <p:cNvPr id="34" name="Text 32"/>
          <p:cNvSpPr/>
          <p:nvPr/>
        </p:nvSpPr>
        <p:spPr>
          <a:xfrm>
            <a:off x="6217920" y="4544568"/>
            <a:ext cx="1920240" cy="219456"/>
          </a:xfrm>
          <a:prstGeom prst="rect">
            <a:avLst/>
          </a:prstGeom>
          <a:noFill/>
          <a:ln/>
        </p:spPr>
        <p:txBody>
          <a:bodyPr wrap="square" lIns="0" tIns="0" rIns="0" bIns="0" rtlCol="0" anchor="ctr"/>
          <a:lstStyle/>
          <a:p>
            <a:pPr indent="0" marL="0">
              <a:buNone/>
            </a:pPr>
            <a:r>
              <a:rPr lang="en-US" sz="900" dirty="0">
                <a:solidFill>
                  <a:srgbClr val="BDD5EE"/>
                </a:solidFill>
                <a:latin typeface="Arial" pitchFamily="34" charset="0"/>
                <a:ea typeface="Arial" pitchFamily="34" charset="-122"/>
                <a:cs typeface="Arial" pitchFamily="34" charset="-120"/>
              </a:rPr>
              <a:t>OEM white-label + D2C</a:t>
            </a:r>
            <a:endParaRPr lang="en-US" sz="900" dirty="0"/>
          </a:p>
        </p:txBody>
      </p:sp>
      <p:sp>
        <p:nvSpPr>
          <p:cNvPr id="35" name="Text 33"/>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36" name="Text 34"/>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09  —  Financials</a:t>
            </a:r>
            <a:endParaRPr lang="en-US" sz="1300" dirty="0"/>
          </a:p>
        </p:txBody>
      </p:sp>
      <p:sp>
        <p:nvSpPr>
          <p:cNvPr id="4" name="Text 2"/>
          <p:cNvSpPr/>
          <p:nvPr/>
        </p:nvSpPr>
        <p:spPr>
          <a:xfrm>
            <a:off x="274320" y="457200"/>
            <a:ext cx="8595360" cy="292608"/>
          </a:xfrm>
          <a:prstGeom prst="rect">
            <a:avLst/>
          </a:prstGeom>
          <a:noFill/>
          <a:ln/>
        </p:spPr>
        <p:txBody>
          <a:bodyPr wrap="square" rtlCol="0" anchor="ctr"/>
          <a:lstStyle/>
          <a:p>
            <a:pPr indent="0" marL="0">
              <a:buNone/>
            </a:pPr>
            <a:r>
              <a:rPr lang="en-US" sz="1500" b="1" dirty="0">
                <a:solidFill>
                  <a:srgbClr val="0D2B4E"/>
                </a:solidFill>
                <a:latin typeface="Arial" pitchFamily="34" charset="0"/>
                <a:ea typeface="Arial" pitchFamily="34" charset="-122"/>
                <a:cs typeface="Arial" pitchFamily="34" charset="-120"/>
              </a:rPr>
              <a:t>Pre-revenue · Seed stage · Exceptional unit economics</a:t>
            </a:r>
            <a:endParaRPr lang="en-US" sz="1500" dirty="0"/>
          </a:p>
        </p:txBody>
      </p:sp>
      <p:sp>
        <p:nvSpPr>
          <p:cNvPr id="5" name="Shape 3"/>
          <p:cNvSpPr/>
          <p:nvPr/>
        </p:nvSpPr>
        <p:spPr>
          <a:xfrm>
            <a:off x="274320" y="841248"/>
            <a:ext cx="2057400" cy="914400"/>
          </a:xfrm>
          <a:prstGeom prst="rect">
            <a:avLst/>
          </a:prstGeom>
          <a:solidFill>
            <a:srgbClr val="F4F7FB"/>
          </a:solidFill>
          <a:ln/>
          <a:effectLst>
            <a:outerShdw sx="100000" sy="100000" kx="0" ky="0" algn="bl" rotWithShape="0" blurRad="63500" dist="25400" dir="8100000">
              <a:srgbClr val="000000">
                <a:alpha val="7000"/>
              </a:srgbClr>
            </a:outerShdw>
          </a:effectLst>
        </p:spPr>
      </p:sp>
      <p:sp>
        <p:nvSpPr>
          <p:cNvPr id="6" name="Text 4"/>
          <p:cNvSpPr/>
          <p:nvPr/>
        </p:nvSpPr>
        <p:spPr>
          <a:xfrm>
            <a:off x="365760" y="886968"/>
            <a:ext cx="1874520" cy="475488"/>
          </a:xfrm>
          <a:prstGeom prst="rect">
            <a:avLst/>
          </a:prstGeom>
          <a:noFill/>
          <a:ln/>
        </p:spPr>
        <p:txBody>
          <a:bodyPr wrap="square" lIns="0" tIns="0" rIns="0" bIns="0" rtlCol="0" anchor="b"/>
          <a:lstStyle/>
          <a:p>
            <a:pPr algn="ctr" indent="0" marL="0">
              <a:buNone/>
            </a:pPr>
            <a:r>
              <a:rPr lang="en-US" sz="1600" b="1" dirty="0">
                <a:solidFill>
                  <a:srgbClr val="0D2B4E"/>
                </a:solidFill>
                <a:latin typeface="Arial" pitchFamily="34" charset="0"/>
                <a:ea typeface="Arial" pitchFamily="34" charset="-122"/>
                <a:cs typeface="Arial" pitchFamily="34" charset="-120"/>
              </a:rPr>
              <a:t>Pre-Revenue</a:t>
            </a:r>
            <a:endParaRPr lang="en-US" sz="1600" dirty="0"/>
          </a:p>
        </p:txBody>
      </p:sp>
      <p:sp>
        <p:nvSpPr>
          <p:cNvPr id="7" name="Text 5"/>
          <p:cNvSpPr/>
          <p:nvPr/>
        </p:nvSpPr>
        <p:spPr>
          <a:xfrm>
            <a:off x="365760" y="1371600"/>
            <a:ext cx="1874520" cy="310896"/>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Current status</a:t>
            </a:r>
            <a:endParaRPr lang="en-US" sz="900" dirty="0"/>
          </a:p>
          <a:p>
            <a:pPr algn="ctr" indent="0" marL="0">
              <a:buNone/>
            </a:pPr>
            <a:r>
              <a:rPr lang="en-US" sz="900" dirty="0">
                <a:solidFill>
                  <a:srgbClr val="64748B"/>
                </a:solidFill>
                <a:latin typeface="Arial" pitchFamily="34" charset="0"/>
                <a:ea typeface="Arial" pitchFamily="34" charset="-122"/>
                <a:cs typeface="Arial" pitchFamily="34" charset="-120"/>
              </a:rPr>
              <a:t>(Pilot stage)</a:t>
            </a:r>
            <a:endParaRPr lang="en-US" sz="900" dirty="0"/>
          </a:p>
        </p:txBody>
      </p:sp>
      <p:sp>
        <p:nvSpPr>
          <p:cNvPr id="8" name="Shape 6"/>
          <p:cNvSpPr/>
          <p:nvPr/>
        </p:nvSpPr>
        <p:spPr>
          <a:xfrm>
            <a:off x="2450592" y="841248"/>
            <a:ext cx="2057400" cy="914400"/>
          </a:xfrm>
          <a:prstGeom prst="rect">
            <a:avLst/>
          </a:prstGeom>
          <a:solidFill>
            <a:srgbClr val="FEF0E7"/>
          </a:solidFill>
          <a:ln/>
          <a:effectLst>
            <a:outerShdw sx="100000" sy="100000" kx="0" ky="0" algn="bl" rotWithShape="0" blurRad="63500" dist="25400" dir="8100000">
              <a:srgbClr val="000000">
                <a:alpha val="7000"/>
              </a:srgbClr>
            </a:outerShdw>
          </a:effectLst>
        </p:spPr>
      </p:sp>
      <p:sp>
        <p:nvSpPr>
          <p:cNvPr id="9" name="Text 7"/>
          <p:cNvSpPr/>
          <p:nvPr/>
        </p:nvSpPr>
        <p:spPr>
          <a:xfrm>
            <a:off x="2542032" y="886968"/>
            <a:ext cx="1874520" cy="475488"/>
          </a:xfrm>
          <a:prstGeom prst="rect">
            <a:avLst/>
          </a:prstGeom>
          <a:noFill/>
          <a:ln/>
        </p:spPr>
        <p:txBody>
          <a:bodyPr wrap="square" lIns="0" tIns="0" rIns="0" bIns="0" rtlCol="0" anchor="b"/>
          <a:lstStyle/>
          <a:p>
            <a:pPr algn="ctr" indent="0" marL="0">
              <a:buNone/>
            </a:pPr>
            <a:r>
              <a:rPr lang="en-US" sz="2400" b="1" dirty="0">
                <a:solidFill>
                  <a:srgbClr val="C94A0A"/>
                </a:solidFill>
                <a:latin typeface="Arial" pitchFamily="34" charset="0"/>
                <a:ea typeface="Arial" pitchFamily="34" charset="-122"/>
                <a:cs typeface="Arial" pitchFamily="34" charset="-120"/>
              </a:rPr>
              <a:t>₹28L/mo</a:t>
            </a:r>
            <a:endParaRPr lang="en-US" sz="2400" dirty="0"/>
          </a:p>
        </p:txBody>
      </p:sp>
      <p:sp>
        <p:nvSpPr>
          <p:cNvPr id="10" name="Text 8"/>
          <p:cNvSpPr/>
          <p:nvPr/>
        </p:nvSpPr>
        <p:spPr>
          <a:xfrm>
            <a:off x="2542032" y="1371600"/>
            <a:ext cx="1874520" cy="310896"/>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Average monthly</a:t>
            </a:r>
            <a:endParaRPr lang="en-US" sz="900" dirty="0"/>
          </a:p>
          <a:p>
            <a:pPr algn="ctr" indent="0" marL="0">
              <a:buNone/>
            </a:pPr>
            <a:r>
              <a:rPr lang="en-US" sz="900" dirty="0">
                <a:solidFill>
                  <a:srgbClr val="64748B"/>
                </a:solidFill>
                <a:latin typeface="Arial" pitchFamily="34" charset="0"/>
                <a:ea typeface="Arial" pitchFamily="34" charset="-122"/>
                <a:cs typeface="Arial" pitchFamily="34" charset="-120"/>
              </a:rPr>
              <a:t>burn rate</a:t>
            </a:r>
            <a:endParaRPr lang="en-US" sz="900" dirty="0"/>
          </a:p>
        </p:txBody>
      </p:sp>
      <p:sp>
        <p:nvSpPr>
          <p:cNvPr id="11" name="Shape 9"/>
          <p:cNvSpPr/>
          <p:nvPr/>
        </p:nvSpPr>
        <p:spPr>
          <a:xfrm>
            <a:off x="4626864" y="841248"/>
            <a:ext cx="2057400" cy="914400"/>
          </a:xfrm>
          <a:prstGeom prst="rect">
            <a:avLst/>
          </a:prstGeom>
          <a:solidFill>
            <a:srgbClr val="EBF5EE"/>
          </a:solidFill>
          <a:ln/>
          <a:effectLst>
            <a:outerShdw sx="100000" sy="100000" kx="0" ky="0" algn="bl" rotWithShape="0" blurRad="63500" dist="25400" dir="8100000">
              <a:srgbClr val="000000">
                <a:alpha val="7000"/>
              </a:srgbClr>
            </a:outerShdw>
          </a:effectLst>
        </p:spPr>
      </p:sp>
      <p:sp>
        <p:nvSpPr>
          <p:cNvPr id="12" name="Text 10"/>
          <p:cNvSpPr/>
          <p:nvPr/>
        </p:nvSpPr>
        <p:spPr>
          <a:xfrm>
            <a:off x="4718304" y="886968"/>
            <a:ext cx="1874520" cy="475488"/>
          </a:xfrm>
          <a:prstGeom prst="rect">
            <a:avLst/>
          </a:prstGeom>
          <a:noFill/>
          <a:ln/>
        </p:spPr>
        <p:txBody>
          <a:bodyPr wrap="square" lIns="0" tIns="0" rIns="0" bIns="0" rtlCol="0" anchor="b"/>
          <a:lstStyle/>
          <a:p>
            <a:pPr algn="ctr" indent="0" marL="0">
              <a:buNone/>
            </a:pPr>
            <a:r>
              <a:rPr lang="en-US" sz="2400" b="1" dirty="0">
                <a:solidFill>
                  <a:srgbClr val="1A5C35"/>
                </a:solidFill>
                <a:latin typeface="Arial" pitchFamily="34" charset="0"/>
                <a:ea typeface="Arial" pitchFamily="34" charset="-122"/>
                <a:cs typeface="Arial" pitchFamily="34" charset="-120"/>
              </a:rPr>
              <a:t>68%</a:t>
            </a:r>
            <a:endParaRPr lang="en-US" sz="2400" dirty="0"/>
          </a:p>
        </p:txBody>
      </p:sp>
      <p:sp>
        <p:nvSpPr>
          <p:cNvPr id="13" name="Text 11"/>
          <p:cNvSpPr/>
          <p:nvPr/>
        </p:nvSpPr>
        <p:spPr>
          <a:xfrm>
            <a:off x="4718304" y="1371600"/>
            <a:ext cx="1874520" cy="310896"/>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Gross margin</a:t>
            </a:r>
            <a:endParaRPr lang="en-US" sz="900" dirty="0"/>
          </a:p>
          <a:p>
            <a:pPr algn="ctr" indent="0" marL="0">
              <a:buNone/>
            </a:pPr>
            <a:r>
              <a:rPr lang="en-US" sz="900" dirty="0">
                <a:solidFill>
                  <a:srgbClr val="64748B"/>
                </a:solidFill>
                <a:latin typeface="Arial" pitchFamily="34" charset="0"/>
                <a:ea typeface="Arial" pitchFamily="34" charset="-122"/>
                <a:cs typeface="Arial" pitchFamily="34" charset="-120"/>
              </a:rPr>
              <a:t>(SaaS, Year 2)</a:t>
            </a:r>
            <a:endParaRPr lang="en-US" sz="900" dirty="0"/>
          </a:p>
        </p:txBody>
      </p:sp>
      <p:sp>
        <p:nvSpPr>
          <p:cNvPr id="14" name="Shape 12"/>
          <p:cNvSpPr/>
          <p:nvPr/>
        </p:nvSpPr>
        <p:spPr>
          <a:xfrm>
            <a:off x="6803136" y="841248"/>
            <a:ext cx="2057400" cy="914400"/>
          </a:xfrm>
          <a:prstGeom prst="rect">
            <a:avLst/>
          </a:prstGeom>
          <a:solidFill>
            <a:srgbClr val="E5F4F4"/>
          </a:solidFill>
          <a:ln/>
          <a:effectLst>
            <a:outerShdw sx="100000" sy="100000" kx="0" ky="0" algn="bl" rotWithShape="0" blurRad="63500" dist="25400" dir="8100000">
              <a:srgbClr val="000000">
                <a:alpha val="7000"/>
              </a:srgbClr>
            </a:outerShdw>
          </a:effectLst>
        </p:spPr>
      </p:sp>
      <p:sp>
        <p:nvSpPr>
          <p:cNvPr id="15" name="Text 13"/>
          <p:cNvSpPr/>
          <p:nvPr/>
        </p:nvSpPr>
        <p:spPr>
          <a:xfrm>
            <a:off x="6894576" y="886968"/>
            <a:ext cx="1874520" cy="475488"/>
          </a:xfrm>
          <a:prstGeom prst="rect">
            <a:avLst/>
          </a:prstGeom>
          <a:noFill/>
          <a:ln/>
        </p:spPr>
        <p:txBody>
          <a:bodyPr wrap="square" lIns="0" tIns="0" rIns="0" bIns="0" rtlCol="0" anchor="b"/>
          <a:lstStyle/>
          <a:p>
            <a:pPr algn="ctr" indent="0" marL="0">
              <a:buNone/>
            </a:pPr>
            <a:r>
              <a:rPr lang="en-US" sz="2400" b="1" dirty="0">
                <a:solidFill>
                  <a:srgbClr val="0A6E6E"/>
                </a:solidFill>
                <a:latin typeface="Arial" pitchFamily="34" charset="0"/>
                <a:ea typeface="Arial" pitchFamily="34" charset="-122"/>
                <a:cs typeface="Arial" pitchFamily="34" charset="-120"/>
              </a:rPr>
              <a:t>40x</a:t>
            </a:r>
            <a:endParaRPr lang="en-US" sz="2400" dirty="0"/>
          </a:p>
        </p:txBody>
      </p:sp>
      <p:sp>
        <p:nvSpPr>
          <p:cNvPr id="16" name="Text 14"/>
          <p:cNvSpPr/>
          <p:nvPr/>
        </p:nvSpPr>
        <p:spPr>
          <a:xfrm>
            <a:off x="6894576" y="1371600"/>
            <a:ext cx="1874520" cy="310896"/>
          </a:xfrm>
          <a:prstGeom prst="rect">
            <a:avLst/>
          </a:prstGeom>
          <a:noFill/>
          <a:ln/>
        </p:spPr>
        <p:txBody>
          <a:bodyPr wrap="square" lIns="0" tIns="0" rIns="0" bIns="0"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LTV:CAC ratio</a:t>
            </a:r>
            <a:endParaRPr lang="en-US" sz="900" dirty="0"/>
          </a:p>
          <a:p>
            <a:pPr algn="ctr" indent="0" marL="0">
              <a:buNone/>
            </a:pPr>
            <a:r>
              <a:rPr lang="en-US" sz="900" dirty="0">
                <a:solidFill>
                  <a:srgbClr val="64748B"/>
                </a:solidFill>
                <a:latin typeface="Arial" pitchFamily="34" charset="0"/>
                <a:ea typeface="Arial" pitchFamily="34" charset="-122"/>
                <a:cs typeface="Arial" pitchFamily="34" charset="-120"/>
              </a:rPr>
              <a:t>(base case)</a:t>
            </a:r>
            <a:endParaRPr lang="en-US" sz="900" dirty="0"/>
          </a:p>
        </p:txBody>
      </p:sp>
      <p:sp>
        <p:nvSpPr>
          <p:cNvPr id="17" name="Text 15"/>
          <p:cNvSpPr/>
          <p:nvPr/>
        </p:nvSpPr>
        <p:spPr>
          <a:xfrm>
            <a:off x="274320" y="1901952"/>
            <a:ext cx="8595360" cy="274320"/>
          </a:xfrm>
          <a:prstGeom prst="rect">
            <a:avLst/>
          </a:prstGeom>
          <a:noFill/>
          <a:ln/>
        </p:spPr>
        <p:txBody>
          <a:bodyPr wrap="square" rtlCol="0" anchor="ctr"/>
          <a:lstStyle/>
          <a:p>
            <a:pPr indent="0" marL="0">
              <a:buNone/>
            </a:pPr>
            <a:r>
              <a:rPr lang="en-US" sz="1300" b="1" dirty="0">
                <a:solidFill>
                  <a:srgbClr val="0D2B4E"/>
                </a:solidFill>
                <a:latin typeface="Arial" pitchFamily="34" charset="0"/>
                <a:ea typeface="Arial" pitchFamily="34" charset="-122"/>
                <a:cs typeface="Arial" pitchFamily="34" charset="-120"/>
              </a:rPr>
              <a:t>2-Year Financial Projection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2231136"/>
          <a:ext cx="8595360" cy="1572768"/>
        </p:xfrm>
        <a:graphic>
          <a:graphicData uri="http://schemas.openxmlformats.org/drawingml/2006/table">
            <a:tbl>
              <a:tblPr/>
              <a:tblGrid>
                <a:gridCol w="2743200"/>
                <a:gridCol w="2926080"/>
                <a:gridCol w="2926080"/>
              </a:tblGrid>
              <a:tr h="283464">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Year 1 End (Month 12)</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Year 2 End (Month 24)</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4E"/>
                    </a:solidFill>
                  </a:tcPr>
                </a:tc>
              </a:tr>
              <a:tr h="283464">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Units deployed</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~200 vehicles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~800 vehicles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MRR</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₹8 Lakhs/month</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₹28 Lakhs/month</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ARR</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₹96 Lakhs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₹3.36 Crores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Gross margin</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N/A (pre-revenue)</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65–72%</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83464">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Monthly burn</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₹18–28 Lakhs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Arial" pitchFamily="34" charset="0"/>
                          <a:ea typeface="Arial" pitchFamily="34" charset="-122"/>
                          <a:cs typeface="Arial" pitchFamily="34" charset="-120"/>
                        </a:rPr>
                        <a:t>₹28–35 Lakhs</a:t>
                      </a:r>
                      <a:endParaRPr lang="en-US" sz="1000" dirty="0">
                        <a:latin typeface="Arial" charset="0"/>
                        <a:ea typeface="Arial" charset="0"/>
                        <a:cs typeface="Arial"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9" name="Text 16"/>
          <p:cNvSpPr/>
          <p:nvPr/>
        </p:nvSpPr>
        <p:spPr>
          <a:xfrm>
            <a:off x="274320" y="3913632"/>
            <a:ext cx="8595360" cy="256032"/>
          </a:xfrm>
          <a:prstGeom prst="rect">
            <a:avLst/>
          </a:prstGeom>
          <a:noFill/>
          <a:ln/>
        </p:spPr>
        <p:txBody>
          <a:bodyPr wrap="square" rtlCol="0" anchor="ctr"/>
          <a:lstStyle/>
          <a:p>
            <a:pPr indent="0" marL="0">
              <a:buNone/>
            </a:pPr>
            <a:r>
              <a:rPr lang="en-US" sz="1200" b="1" dirty="0">
                <a:solidFill>
                  <a:srgbClr val="0D2B4E"/>
                </a:solidFill>
                <a:latin typeface="Arial" pitchFamily="34" charset="0"/>
                <a:ea typeface="Arial" pitchFamily="34" charset="-122"/>
                <a:cs typeface="Arial" pitchFamily="34" charset="-120"/>
              </a:rPr>
              <a:t>Use of ₹6 Crore Seed Round</a:t>
            </a:r>
            <a:endParaRPr lang="en-US" sz="1200" dirty="0"/>
          </a:p>
        </p:txBody>
      </p:sp>
      <p:sp>
        <p:nvSpPr>
          <p:cNvPr id="20" name="Shape 17"/>
          <p:cNvSpPr/>
          <p:nvPr/>
        </p:nvSpPr>
        <p:spPr>
          <a:xfrm>
            <a:off x="274320" y="4224528"/>
            <a:ext cx="2912364" cy="347472"/>
          </a:xfrm>
          <a:prstGeom prst="rect">
            <a:avLst/>
          </a:prstGeom>
          <a:solidFill>
            <a:srgbClr val="0D2B4E"/>
          </a:solidFill>
          <a:ln/>
        </p:spPr>
      </p:sp>
      <p:sp>
        <p:nvSpPr>
          <p:cNvPr id="21" name="Text 18"/>
          <p:cNvSpPr/>
          <p:nvPr/>
        </p:nvSpPr>
        <p:spPr>
          <a:xfrm>
            <a:off x="310896" y="4242816"/>
            <a:ext cx="28575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35%</a:t>
            </a:r>
            <a:endParaRPr lang="en-US" sz="900" dirty="0"/>
          </a:p>
        </p:txBody>
      </p:sp>
      <p:sp>
        <p:nvSpPr>
          <p:cNvPr id="22" name="Shape 19"/>
          <p:cNvSpPr/>
          <p:nvPr/>
        </p:nvSpPr>
        <p:spPr>
          <a:xfrm>
            <a:off x="3186684" y="4224528"/>
            <a:ext cx="1456182" cy="347472"/>
          </a:xfrm>
          <a:prstGeom prst="rect">
            <a:avLst/>
          </a:prstGeom>
          <a:solidFill>
            <a:srgbClr val="0A6E6E"/>
          </a:solidFill>
          <a:ln/>
        </p:spPr>
      </p:sp>
      <p:sp>
        <p:nvSpPr>
          <p:cNvPr id="23" name="Text 20"/>
          <p:cNvSpPr/>
          <p:nvPr/>
        </p:nvSpPr>
        <p:spPr>
          <a:xfrm>
            <a:off x="3223260" y="4242816"/>
            <a:ext cx="140131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17.5%</a:t>
            </a:r>
            <a:endParaRPr lang="en-US" sz="900" dirty="0"/>
          </a:p>
        </p:txBody>
      </p:sp>
      <p:sp>
        <p:nvSpPr>
          <p:cNvPr id="24" name="Shape 21"/>
          <p:cNvSpPr/>
          <p:nvPr/>
        </p:nvSpPr>
        <p:spPr>
          <a:xfrm>
            <a:off x="4642866" y="4224528"/>
            <a:ext cx="624078" cy="347472"/>
          </a:xfrm>
          <a:prstGeom prst="rect">
            <a:avLst/>
          </a:prstGeom>
          <a:solidFill>
            <a:srgbClr val="1A5C35"/>
          </a:solidFill>
          <a:ln/>
        </p:spPr>
      </p:sp>
      <p:sp>
        <p:nvSpPr>
          <p:cNvPr id="25" name="Shape 22"/>
          <p:cNvSpPr/>
          <p:nvPr/>
        </p:nvSpPr>
        <p:spPr>
          <a:xfrm>
            <a:off x="5266944" y="4224528"/>
            <a:ext cx="416052" cy="347472"/>
          </a:xfrm>
          <a:prstGeom prst="rect">
            <a:avLst/>
          </a:prstGeom>
          <a:solidFill>
            <a:srgbClr val="4A2D7A"/>
          </a:solidFill>
          <a:ln/>
        </p:spPr>
      </p:sp>
      <p:sp>
        <p:nvSpPr>
          <p:cNvPr id="26" name="Shape 23"/>
          <p:cNvSpPr/>
          <p:nvPr/>
        </p:nvSpPr>
        <p:spPr>
          <a:xfrm>
            <a:off x="5682996" y="4224528"/>
            <a:ext cx="665683" cy="347472"/>
          </a:xfrm>
          <a:prstGeom prst="rect">
            <a:avLst/>
          </a:prstGeom>
          <a:solidFill>
            <a:srgbClr val="C94A0A"/>
          </a:solidFill>
          <a:ln/>
        </p:spPr>
      </p:sp>
      <p:sp>
        <p:nvSpPr>
          <p:cNvPr id="27" name="Text 24"/>
          <p:cNvSpPr/>
          <p:nvPr/>
        </p:nvSpPr>
        <p:spPr>
          <a:xfrm>
            <a:off x="5719572" y="4242816"/>
            <a:ext cx="610819"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28" name="Shape 25"/>
          <p:cNvSpPr/>
          <p:nvPr/>
        </p:nvSpPr>
        <p:spPr>
          <a:xfrm>
            <a:off x="6348679" y="4224528"/>
            <a:ext cx="582473" cy="347472"/>
          </a:xfrm>
          <a:prstGeom prst="rect">
            <a:avLst/>
          </a:prstGeom>
          <a:solidFill>
            <a:srgbClr val="8B6200"/>
          </a:solidFill>
          <a:ln/>
        </p:spPr>
      </p:sp>
      <p:sp>
        <p:nvSpPr>
          <p:cNvPr id="29" name="Shape 26"/>
          <p:cNvSpPr/>
          <p:nvPr/>
        </p:nvSpPr>
        <p:spPr>
          <a:xfrm>
            <a:off x="6931152" y="4224528"/>
            <a:ext cx="249631" cy="347472"/>
          </a:xfrm>
          <a:prstGeom prst="rect">
            <a:avLst/>
          </a:prstGeom>
          <a:solidFill>
            <a:srgbClr val="8B1A1A"/>
          </a:solidFill>
          <a:ln/>
        </p:spPr>
      </p:sp>
      <p:sp>
        <p:nvSpPr>
          <p:cNvPr id="30" name="Shape 27"/>
          <p:cNvSpPr/>
          <p:nvPr/>
        </p:nvSpPr>
        <p:spPr>
          <a:xfrm>
            <a:off x="7180783" y="4224528"/>
            <a:ext cx="1248156" cy="347472"/>
          </a:xfrm>
          <a:prstGeom prst="rect">
            <a:avLst/>
          </a:prstGeom>
          <a:solidFill>
            <a:srgbClr val="64748B"/>
          </a:solidFill>
          <a:ln/>
        </p:spPr>
      </p:sp>
      <p:sp>
        <p:nvSpPr>
          <p:cNvPr id="31" name="Text 28"/>
          <p:cNvSpPr/>
          <p:nvPr/>
        </p:nvSpPr>
        <p:spPr>
          <a:xfrm>
            <a:off x="7217359" y="4242816"/>
            <a:ext cx="119329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15%</a:t>
            </a:r>
            <a:endParaRPr lang="en-US" sz="900" dirty="0"/>
          </a:p>
        </p:txBody>
      </p:sp>
      <p:sp>
        <p:nvSpPr>
          <p:cNvPr id="32" name="Shape 29"/>
          <p:cNvSpPr/>
          <p:nvPr/>
        </p:nvSpPr>
        <p:spPr>
          <a:xfrm>
            <a:off x="274320" y="4645152"/>
            <a:ext cx="128016" cy="128016"/>
          </a:xfrm>
          <a:prstGeom prst="rect">
            <a:avLst/>
          </a:prstGeom>
          <a:solidFill>
            <a:srgbClr val="0D2B4E"/>
          </a:solidFill>
          <a:ln/>
        </p:spPr>
      </p:sp>
      <p:sp>
        <p:nvSpPr>
          <p:cNvPr id="33" name="Text 30"/>
          <p:cNvSpPr/>
          <p:nvPr/>
        </p:nvSpPr>
        <p:spPr>
          <a:xfrm>
            <a:off x="438912" y="4626864"/>
            <a:ext cx="914400" cy="164592"/>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Team Salaries</a:t>
            </a:r>
            <a:endParaRPr lang="en-US" sz="800" dirty="0"/>
          </a:p>
        </p:txBody>
      </p:sp>
      <p:sp>
        <p:nvSpPr>
          <p:cNvPr id="34" name="Shape 31"/>
          <p:cNvSpPr/>
          <p:nvPr/>
        </p:nvSpPr>
        <p:spPr>
          <a:xfrm>
            <a:off x="1335024" y="4645152"/>
            <a:ext cx="128016" cy="128016"/>
          </a:xfrm>
          <a:prstGeom prst="rect">
            <a:avLst/>
          </a:prstGeom>
          <a:solidFill>
            <a:srgbClr val="0A6E6E"/>
          </a:solidFill>
          <a:ln/>
        </p:spPr>
      </p:sp>
      <p:sp>
        <p:nvSpPr>
          <p:cNvPr id="35" name="Text 32"/>
          <p:cNvSpPr/>
          <p:nvPr/>
        </p:nvSpPr>
        <p:spPr>
          <a:xfrm>
            <a:off x="1499616" y="4626864"/>
            <a:ext cx="914400" cy="164592"/>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Hardware</a:t>
            </a:r>
            <a:endParaRPr lang="en-US" sz="800" dirty="0"/>
          </a:p>
        </p:txBody>
      </p:sp>
      <p:sp>
        <p:nvSpPr>
          <p:cNvPr id="36" name="Shape 33"/>
          <p:cNvSpPr/>
          <p:nvPr/>
        </p:nvSpPr>
        <p:spPr>
          <a:xfrm>
            <a:off x="2395728" y="4645152"/>
            <a:ext cx="128016" cy="128016"/>
          </a:xfrm>
          <a:prstGeom prst="rect">
            <a:avLst/>
          </a:prstGeom>
          <a:solidFill>
            <a:srgbClr val="1A5C35"/>
          </a:solidFill>
          <a:ln/>
        </p:spPr>
      </p:sp>
      <p:sp>
        <p:nvSpPr>
          <p:cNvPr id="37" name="Text 34"/>
          <p:cNvSpPr/>
          <p:nvPr/>
        </p:nvSpPr>
        <p:spPr>
          <a:xfrm>
            <a:off x="2560320" y="4626864"/>
            <a:ext cx="914400" cy="164592"/>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AI/ML + Data</a:t>
            </a:r>
            <a:endParaRPr lang="en-US" sz="800" dirty="0"/>
          </a:p>
        </p:txBody>
      </p:sp>
      <p:sp>
        <p:nvSpPr>
          <p:cNvPr id="38" name="Shape 35"/>
          <p:cNvSpPr/>
          <p:nvPr/>
        </p:nvSpPr>
        <p:spPr>
          <a:xfrm>
            <a:off x="3456432" y="4645152"/>
            <a:ext cx="128016" cy="128016"/>
          </a:xfrm>
          <a:prstGeom prst="rect">
            <a:avLst/>
          </a:prstGeom>
          <a:solidFill>
            <a:srgbClr val="4A2D7A"/>
          </a:solidFill>
          <a:ln/>
        </p:spPr>
      </p:sp>
      <p:sp>
        <p:nvSpPr>
          <p:cNvPr id="39" name="Text 36"/>
          <p:cNvSpPr/>
          <p:nvPr/>
        </p:nvSpPr>
        <p:spPr>
          <a:xfrm>
            <a:off x="3621024" y="4626864"/>
            <a:ext cx="914400" cy="164592"/>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Software + Cloud</a:t>
            </a:r>
            <a:endParaRPr lang="en-US" sz="800" dirty="0"/>
          </a:p>
        </p:txBody>
      </p:sp>
      <p:sp>
        <p:nvSpPr>
          <p:cNvPr id="40" name="Shape 37"/>
          <p:cNvSpPr/>
          <p:nvPr/>
        </p:nvSpPr>
        <p:spPr>
          <a:xfrm>
            <a:off x="4517136" y="4645152"/>
            <a:ext cx="128016" cy="128016"/>
          </a:xfrm>
          <a:prstGeom prst="rect">
            <a:avLst/>
          </a:prstGeom>
          <a:solidFill>
            <a:srgbClr val="C94A0A"/>
          </a:solidFill>
          <a:ln/>
        </p:spPr>
      </p:sp>
      <p:sp>
        <p:nvSpPr>
          <p:cNvPr id="41" name="Text 38"/>
          <p:cNvSpPr/>
          <p:nvPr/>
        </p:nvSpPr>
        <p:spPr>
          <a:xfrm>
            <a:off x="4681728" y="4626864"/>
            <a:ext cx="914400" cy="164592"/>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GTM + Sales</a:t>
            </a:r>
            <a:endParaRPr lang="en-US" sz="800" dirty="0"/>
          </a:p>
        </p:txBody>
      </p:sp>
      <p:sp>
        <p:nvSpPr>
          <p:cNvPr id="42" name="Shape 39"/>
          <p:cNvSpPr/>
          <p:nvPr/>
        </p:nvSpPr>
        <p:spPr>
          <a:xfrm>
            <a:off x="5577840" y="4645152"/>
            <a:ext cx="128016" cy="128016"/>
          </a:xfrm>
          <a:prstGeom prst="rect">
            <a:avLst/>
          </a:prstGeom>
          <a:solidFill>
            <a:srgbClr val="8B6200"/>
          </a:solidFill>
          <a:ln/>
        </p:spPr>
      </p:sp>
      <p:sp>
        <p:nvSpPr>
          <p:cNvPr id="43" name="Text 40"/>
          <p:cNvSpPr/>
          <p:nvPr/>
        </p:nvSpPr>
        <p:spPr>
          <a:xfrm>
            <a:off x="5742432" y="4626864"/>
            <a:ext cx="914400" cy="164592"/>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Field Ops</a:t>
            </a:r>
            <a:endParaRPr lang="en-US" sz="800" dirty="0"/>
          </a:p>
        </p:txBody>
      </p:sp>
      <p:sp>
        <p:nvSpPr>
          <p:cNvPr id="44" name="Shape 41"/>
          <p:cNvSpPr/>
          <p:nvPr/>
        </p:nvSpPr>
        <p:spPr>
          <a:xfrm>
            <a:off x="6638544" y="4645152"/>
            <a:ext cx="128016" cy="128016"/>
          </a:xfrm>
          <a:prstGeom prst="rect">
            <a:avLst/>
          </a:prstGeom>
          <a:solidFill>
            <a:srgbClr val="8B1A1A"/>
          </a:solidFill>
          <a:ln/>
        </p:spPr>
      </p:sp>
      <p:sp>
        <p:nvSpPr>
          <p:cNvPr id="45" name="Text 42"/>
          <p:cNvSpPr/>
          <p:nvPr/>
        </p:nvSpPr>
        <p:spPr>
          <a:xfrm>
            <a:off x="6803136" y="4626864"/>
            <a:ext cx="914400" cy="164592"/>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Legal + IP</a:t>
            </a:r>
            <a:endParaRPr lang="en-US" sz="800" dirty="0"/>
          </a:p>
        </p:txBody>
      </p:sp>
      <p:sp>
        <p:nvSpPr>
          <p:cNvPr id="46" name="Shape 43"/>
          <p:cNvSpPr/>
          <p:nvPr/>
        </p:nvSpPr>
        <p:spPr>
          <a:xfrm>
            <a:off x="7699248" y="4645152"/>
            <a:ext cx="128016" cy="128016"/>
          </a:xfrm>
          <a:prstGeom prst="rect">
            <a:avLst/>
          </a:prstGeom>
          <a:solidFill>
            <a:srgbClr val="64748B"/>
          </a:solidFill>
          <a:ln/>
        </p:spPr>
      </p:sp>
      <p:sp>
        <p:nvSpPr>
          <p:cNvPr id="47" name="Text 44"/>
          <p:cNvSpPr/>
          <p:nvPr/>
        </p:nvSpPr>
        <p:spPr>
          <a:xfrm>
            <a:off x="7863840" y="4626864"/>
            <a:ext cx="914400" cy="164592"/>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Contingency</a:t>
            </a:r>
            <a:endParaRPr lang="en-US" sz="800" dirty="0"/>
          </a:p>
        </p:txBody>
      </p:sp>
      <p:sp>
        <p:nvSpPr>
          <p:cNvPr id="48" name="Text 45"/>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49" name="Text 46"/>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10  —  Roadmap &amp; The Ask</a:t>
            </a:r>
            <a:endParaRPr lang="en-US" sz="1300" dirty="0"/>
          </a:p>
        </p:txBody>
      </p:sp>
      <p:sp>
        <p:nvSpPr>
          <p:cNvPr id="4" name="Text 2"/>
          <p:cNvSpPr/>
          <p:nvPr/>
        </p:nvSpPr>
        <p:spPr>
          <a:xfrm>
            <a:off x="274320" y="457200"/>
            <a:ext cx="8595360" cy="292608"/>
          </a:xfrm>
          <a:prstGeom prst="rect">
            <a:avLst/>
          </a:prstGeom>
          <a:noFill/>
          <a:ln/>
        </p:spPr>
        <p:txBody>
          <a:bodyPr wrap="square" rtlCol="0" anchor="ctr"/>
          <a:lstStyle/>
          <a:p>
            <a:pPr indent="0" marL="0">
              <a:buNone/>
            </a:pPr>
            <a:r>
              <a:rPr lang="en-US" sz="1500" b="1" dirty="0">
                <a:solidFill>
                  <a:srgbClr val="0D2B4E"/>
                </a:solidFill>
                <a:latin typeface="Arial" pitchFamily="34" charset="0"/>
                <a:ea typeface="Arial" pitchFamily="34" charset="-122"/>
                <a:cs typeface="Arial" pitchFamily="34" charset="-120"/>
              </a:rPr>
              <a:t>12-month milestone timeline to Series A</a:t>
            </a:r>
            <a:endParaRPr lang="en-US" sz="1500" dirty="0"/>
          </a:p>
        </p:txBody>
      </p:sp>
      <p:sp>
        <p:nvSpPr>
          <p:cNvPr id="5" name="Shape 3"/>
          <p:cNvSpPr/>
          <p:nvPr/>
        </p:nvSpPr>
        <p:spPr>
          <a:xfrm>
            <a:off x="457200" y="1499616"/>
            <a:ext cx="8229600" cy="36576"/>
          </a:xfrm>
          <a:prstGeom prst="rect">
            <a:avLst/>
          </a:prstGeom>
          <a:solidFill>
            <a:srgbClr val="CBD5E1"/>
          </a:solidFill>
          <a:ln/>
        </p:spPr>
      </p:sp>
      <p:sp>
        <p:nvSpPr>
          <p:cNvPr id="6" name="Shape 4"/>
          <p:cNvSpPr/>
          <p:nvPr/>
        </p:nvSpPr>
        <p:spPr>
          <a:xfrm>
            <a:off x="996696" y="1371600"/>
            <a:ext cx="292608" cy="292608"/>
          </a:xfrm>
          <a:prstGeom prst="oval">
            <a:avLst/>
          </a:prstGeom>
          <a:solidFill>
            <a:srgbClr val="0A6E6E"/>
          </a:solidFill>
          <a:ln/>
        </p:spPr>
      </p:sp>
      <p:sp>
        <p:nvSpPr>
          <p:cNvPr id="7" name="Text 5"/>
          <p:cNvSpPr/>
          <p:nvPr/>
        </p:nvSpPr>
        <p:spPr>
          <a:xfrm>
            <a:off x="914400" y="914400"/>
            <a:ext cx="457200" cy="256032"/>
          </a:xfrm>
          <a:prstGeom prst="rect">
            <a:avLst/>
          </a:prstGeom>
          <a:noFill/>
          <a:ln/>
        </p:spPr>
        <p:txBody>
          <a:bodyPr wrap="square" lIns="0" tIns="0" rIns="0" bIns="0" rtlCol="0" anchor="ctr"/>
          <a:lstStyle/>
          <a:p>
            <a:pPr algn="ctr" indent="0" marL="0">
              <a:buNone/>
            </a:pPr>
            <a:r>
              <a:rPr lang="en-US" sz="1100" b="1" dirty="0">
                <a:solidFill>
                  <a:srgbClr val="0A6E6E"/>
                </a:solidFill>
                <a:latin typeface="Arial" pitchFamily="34" charset="0"/>
                <a:ea typeface="Arial" pitchFamily="34" charset="-122"/>
                <a:cs typeface="Arial" pitchFamily="34" charset="-120"/>
              </a:rPr>
              <a:t>M3</a:t>
            </a:r>
            <a:endParaRPr lang="en-US" sz="1100" dirty="0"/>
          </a:p>
        </p:txBody>
      </p:sp>
      <p:sp>
        <p:nvSpPr>
          <p:cNvPr id="8" name="Text 6"/>
          <p:cNvSpPr/>
          <p:nvPr/>
        </p:nvSpPr>
        <p:spPr>
          <a:xfrm>
            <a:off x="731520" y="1755648"/>
            <a:ext cx="1005840" cy="402336"/>
          </a:xfrm>
          <a:prstGeom prst="rect">
            <a:avLst/>
          </a:prstGeom>
          <a:noFill/>
          <a:ln/>
        </p:spPr>
        <p:txBody>
          <a:bodyPr wrap="square" lIns="0" tIns="0" rIns="0" bIns="0" rtlCol="0" anchor="ctr"/>
          <a:lstStyle/>
          <a:p>
            <a:pPr algn="ctr" indent="0" marL="0">
              <a:buNone/>
            </a:pPr>
            <a:r>
              <a:rPr lang="en-US" sz="950" dirty="0">
                <a:solidFill>
                  <a:srgbClr val="334155"/>
                </a:solidFill>
                <a:latin typeface="Arial" pitchFamily="34" charset="0"/>
                <a:ea typeface="Arial" pitchFamily="34" charset="-122"/>
                <a:cs typeface="Arial" pitchFamily="34" charset="-120"/>
              </a:rPr>
              <a:t>Prototype</a:t>
            </a:r>
            <a:endParaRPr lang="en-US" sz="950" dirty="0"/>
          </a:p>
          <a:p>
            <a:pPr algn="ctr" indent="0" marL="0">
              <a:buNone/>
            </a:pPr>
            <a:r>
              <a:rPr lang="en-US" sz="950" dirty="0">
                <a:solidFill>
                  <a:srgbClr val="334155"/>
                </a:solidFill>
                <a:latin typeface="Arial" pitchFamily="34" charset="0"/>
                <a:ea typeface="Arial" pitchFamily="34" charset="-122"/>
                <a:cs typeface="Arial" pitchFamily="34" charset="-120"/>
              </a:rPr>
              <a:t>complete</a:t>
            </a:r>
            <a:endParaRPr lang="en-US" sz="950" dirty="0"/>
          </a:p>
        </p:txBody>
      </p:sp>
      <p:sp>
        <p:nvSpPr>
          <p:cNvPr id="9" name="Shape 7"/>
          <p:cNvSpPr/>
          <p:nvPr/>
        </p:nvSpPr>
        <p:spPr>
          <a:xfrm>
            <a:off x="2642616" y="1371600"/>
            <a:ext cx="292608" cy="292608"/>
          </a:xfrm>
          <a:prstGeom prst="oval">
            <a:avLst/>
          </a:prstGeom>
          <a:solidFill>
            <a:srgbClr val="1A5C35"/>
          </a:solidFill>
          <a:ln/>
        </p:spPr>
      </p:sp>
      <p:sp>
        <p:nvSpPr>
          <p:cNvPr id="10" name="Text 8"/>
          <p:cNvSpPr/>
          <p:nvPr/>
        </p:nvSpPr>
        <p:spPr>
          <a:xfrm>
            <a:off x="2560320" y="914400"/>
            <a:ext cx="457200" cy="256032"/>
          </a:xfrm>
          <a:prstGeom prst="rect">
            <a:avLst/>
          </a:prstGeom>
          <a:noFill/>
          <a:ln/>
        </p:spPr>
        <p:txBody>
          <a:bodyPr wrap="square" lIns="0" tIns="0" rIns="0" bIns="0" rtlCol="0" anchor="ctr"/>
          <a:lstStyle/>
          <a:p>
            <a:pPr algn="ctr" indent="0" marL="0">
              <a:buNone/>
            </a:pPr>
            <a:r>
              <a:rPr lang="en-US" sz="1100" b="1" dirty="0">
                <a:solidFill>
                  <a:srgbClr val="1A5C35"/>
                </a:solidFill>
                <a:latin typeface="Arial" pitchFamily="34" charset="0"/>
                <a:ea typeface="Arial" pitchFamily="34" charset="-122"/>
                <a:cs typeface="Arial" pitchFamily="34" charset="-120"/>
              </a:rPr>
              <a:t>M4</a:t>
            </a:r>
            <a:endParaRPr lang="en-US" sz="1100" dirty="0"/>
          </a:p>
        </p:txBody>
      </p:sp>
      <p:sp>
        <p:nvSpPr>
          <p:cNvPr id="11" name="Text 9"/>
          <p:cNvSpPr/>
          <p:nvPr/>
        </p:nvSpPr>
        <p:spPr>
          <a:xfrm>
            <a:off x="2377440" y="1755648"/>
            <a:ext cx="1005840" cy="402336"/>
          </a:xfrm>
          <a:prstGeom prst="rect">
            <a:avLst/>
          </a:prstGeom>
          <a:noFill/>
          <a:ln/>
        </p:spPr>
        <p:txBody>
          <a:bodyPr wrap="square" lIns="0" tIns="0" rIns="0" bIns="0" rtlCol="0" anchor="ctr"/>
          <a:lstStyle/>
          <a:p>
            <a:pPr algn="ctr" indent="0" marL="0">
              <a:buNone/>
            </a:pPr>
            <a:r>
              <a:rPr lang="en-US" sz="950" dirty="0">
                <a:solidFill>
                  <a:srgbClr val="334155"/>
                </a:solidFill>
                <a:latin typeface="Arial" pitchFamily="34" charset="0"/>
                <a:ea typeface="Arial" pitchFamily="34" charset="-122"/>
                <a:cs typeface="Arial" pitchFamily="34" charset="-120"/>
              </a:rPr>
              <a:t>First pilot</a:t>
            </a:r>
            <a:endParaRPr lang="en-US" sz="950" dirty="0"/>
          </a:p>
          <a:p>
            <a:pPr algn="ctr" indent="0" marL="0">
              <a:buNone/>
            </a:pPr>
            <a:r>
              <a:rPr lang="en-US" sz="950" dirty="0">
                <a:solidFill>
                  <a:srgbClr val="334155"/>
                </a:solidFill>
                <a:latin typeface="Arial" pitchFamily="34" charset="0"/>
                <a:ea typeface="Arial" pitchFamily="34" charset="-122"/>
                <a:cs typeface="Arial" pitchFamily="34" charset="-120"/>
              </a:rPr>
              <a:t>(30 trucks)</a:t>
            </a:r>
            <a:endParaRPr lang="en-US" sz="950" dirty="0"/>
          </a:p>
        </p:txBody>
      </p:sp>
      <p:sp>
        <p:nvSpPr>
          <p:cNvPr id="12" name="Shape 10"/>
          <p:cNvSpPr/>
          <p:nvPr/>
        </p:nvSpPr>
        <p:spPr>
          <a:xfrm>
            <a:off x="4288536" y="1371600"/>
            <a:ext cx="292608" cy="292608"/>
          </a:xfrm>
          <a:prstGeom prst="oval">
            <a:avLst/>
          </a:prstGeom>
          <a:solidFill>
            <a:srgbClr val="C94A0A"/>
          </a:solidFill>
          <a:ln/>
        </p:spPr>
      </p:sp>
      <p:sp>
        <p:nvSpPr>
          <p:cNvPr id="13" name="Text 11"/>
          <p:cNvSpPr/>
          <p:nvPr/>
        </p:nvSpPr>
        <p:spPr>
          <a:xfrm>
            <a:off x="4206240" y="914400"/>
            <a:ext cx="457200" cy="256032"/>
          </a:xfrm>
          <a:prstGeom prst="rect">
            <a:avLst/>
          </a:prstGeom>
          <a:noFill/>
          <a:ln/>
        </p:spPr>
        <p:txBody>
          <a:bodyPr wrap="square" lIns="0" tIns="0" rIns="0" bIns="0" rtlCol="0" anchor="ctr"/>
          <a:lstStyle/>
          <a:p>
            <a:pPr algn="ctr" indent="0" marL="0">
              <a:buNone/>
            </a:pPr>
            <a:r>
              <a:rPr lang="en-US" sz="1100" b="1" dirty="0">
                <a:solidFill>
                  <a:srgbClr val="C94A0A"/>
                </a:solidFill>
                <a:latin typeface="Arial" pitchFamily="34" charset="0"/>
                <a:ea typeface="Arial" pitchFamily="34" charset="-122"/>
                <a:cs typeface="Arial" pitchFamily="34" charset="-120"/>
              </a:rPr>
              <a:t>M6</a:t>
            </a:r>
            <a:endParaRPr lang="en-US" sz="1100" dirty="0"/>
          </a:p>
        </p:txBody>
      </p:sp>
      <p:sp>
        <p:nvSpPr>
          <p:cNvPr id="14" name="Text 12"/>
          <p:cNvSpPr/>
          <p:nvPr/>
        </p:nvSpPr>
        <p:spPr>
          <a:xfrm>
            <a:off x="4023360" y="1755648"/>
            <a:ext cx="1005840" cy="402336"/>
          </a:xfrm>
          <a:prstGeom prst="rect">
            <a:avLst/>
          </a:prstGeom>
          <a:noFill/>
          <a:ln/>
        </p:spPr>
        <p:txBody>
          <a:bodyPr wrap="square" lIns="0" tIns="0" rIns="0" bIns="0" rtlCol="0" anchor="ctr"/>
          <a:lstStyle/>
          <a:p>
            <a:pPr algn="ctr" indent="0" marL="0">
              <a:buNone/>
            </a:pPr>
            <a:r>
              <a:rPr lang="en-US" sz="950" dirty="0">
                <a:solidFill>
                  <a:srgbClr val="334155"/>
                </a:solidFill>
                <a:latin typeface="Arial" pitchFamily="34" charset="0"/>
                <a:ea typeface="Arial" pitchFamily="34" charset="-122"/>
                <a:cs typeface="Arial" pitchFamily="34" charset="-120"/>
              </a:rPr>
              <a:t>30/30/30</a:t>
            </a:r>
            <a:endParaRPr lang="en-US" sz="950" dirty="0"/>
          </a:p>
          <a:p>
            <a:pPr algn="ctr" indent="0" marL="0">
              <a:buNone/>
            </a:pPr>
            <a:r>
              <a:rPr lang="en-US" sz="950" dirty="0">
                <a:solidFill>
                  <a:srgbClr val="334155"/>
                </a:solidFill>
                <a:latin typeface="Arial" pitchFamily="34" charset="0"/>
                <a:ea typeface="Arial" pitchFamily="34" charset="-122"/>
                <a:cs typeface="Arial" pitchFamily="34" charset="-120"/>
              </a:rPr>
              <a:t>pilot active</a:t>
            </a:r>
            <a:endParaRPr lang="en-US" sz="950" dirty="0"/>
          </a:p>
        </p:txBody>
      </p:sp>
      <p:sp>
        <p:nvSpPr>
          <p:cNvPr id="15" name="Shape 13"/>
          <p:cNvSpPr/>
          <p:nvPr/>
        </p:nvSpPr>
        <p:spPr>
          <a:xfrm>
            <a:off x="5934456" y="1371600"/>
            <a:ext cx="292608" cy="292608"/>
          </a:xfrm>
          <a:prstGeom prst="oval">
            <a:avLst/>
          </a:prstGeom>
          <a:solidFill>
            <a:srgbClr val="4A2D7A"/>
          </a:solidFill>
          <a:ln/>
        </p:spPr>
      </p:sp>
      <p:sp>
        <p:nvSpPr>
          <p:cNvPr id="16" name="Text 14"/>
          <p:cNvSpPr/>
          <p:nvPr/>
        </p:nvSpPr>
        <p:spPr>
          <a:xfrm>
            <a:off x="5852160" y="914400"/>
            <a:ext cx="457200" cy="256032"/>
          </a:xfrm>
          <a:prstGeom prst="rect">
            <a:avLst/>
          </a:prstGeom>
          <a:noFill/>
          <a:ln/>
        </p:spPr>
        <p:txBody>
          <a:bodyPr wrap="square" lIns="0" tIns="0" rIns="0" bIns="0" rtlCol="0" anchor="ctr"/>
          <a:lstStyle/>
          <a:p>
            <a:pPr algn="ctr" indent="0" marL="0">
              <a:buNone/>
            </a:pPr>
            <a:r>
              <a:rPr lang="en-US" sz="1100" b="1" dirty="0">
                <a:solidFill>
                  <a:srgbClr val="4A2D7A"/>
                </a:solidFill>
                <a:latin typeface="Arial" pitchFamily="34" charset="0"/>
                <a:ea typeface="Arial" pitchFamily="34" charset="-122"/>
                <a:cs typeface="Arial" pitchFamily="34" charset="-120"/>
              </a:rPr>
              <a:t>M9</a:t>
            </a:r>
            <a:endParaRPr lang="en-US" sz="1100" dirty="0"/>
          </a:p>
        </p:txBody>
      </p:sp>
      <p:sp>
        <p:nvSpPr>
          <p:cNvPr id="17" name="Text 15"/>
          <p:cNvSpPr/>
          <p:nvPr/>
        </p:nvSpPr>
        <p:spPr>
          <a:xfrm>
            <a:off x="5669280" y="1755648"/>
            <a:ext cx="1005840" cy="402336"/>
          </a:xfrm>
          <a:prstGeom prst="rect">
            <a:avLst/>
          </a:prstGeom>
          <a:noFill/>
          <a:ln/>
        </p:spPr>
        <p:txBody>
          <a:bodyPr wrap="square" lIns="0" tIns="0" rIns="0" bIns="0" rtlCol="0" anchor="ctr"/>
          <a:lstStyle/>
          <a:p>
            <a:pPr algn="ctr" indent="0" marL="0">
              <a:buNone/>
            </a:pPr>
            <a:r>
              <a:rPr lang="en-US" sz="950" dirty="0">
                <a:solidFill>
                  <a:srgbClr val="334155"/>
                </a:solidFill>
                <a:latin typeface="Arial" pitchFamily="34" charset="0"/>
                <a:ea typeface="Arial" pitchFamily="34" charset="-122"/>
                <a:cs typeface="Arial" pitchFamily="34" charset="-120"/>
              </a:rPr>
              <a:t>First paid</a:t>
            </a:r>
            <a:endParaRPr lang="en-US" sz="950" dirty="0"/>
          </a:p>
          <a:p>
            <a:pPr algn="ctr" indent="0" marL="0">
              <a:buNone/>
            </a:pPr>
            <a:r>
              <a:rPr lang="en-US" sz="950" dirty="0">
                <a:solidFill>
                  <a:srgbClr val="334155"/>
                </a:solidFill>
                <a:latin typeface="Arial" pitchFamily="34" charset="0"/>
                <a:ea typeface="Arial" pitchFamily="34" charset="-122"/>
                <a:cs typeface="Arial" pitchFamily="34" charset="-120"/>
              </a:rPr>
              <a:t>contract</a:t>
            </a:r>
            <a:endParaRPr lang="en-US" sz="950" dirty="0"/>
          </a:p>
        </p:txBody>
      </p:sp>
      <p:sp>
        <p:nvSpPr>
          <p:cNvPr id="18" name="Shape 16"/>
          <p:cNvSpPr/>
          <p:nvPr/>
        </p:nvSpPr>
        <p:spPr>
          <a:xfrm>
            <a:off x="7580376" y="1371600"/>
            <a:ext cx="292608" cy="292608"/>
          </a:xfrm>
          <a:prstGeom prst="oval">
            <a:avLst/>
          </a:prstGeom>
          <a:solidFill>
            <a:srgbClr val="8B1A1A"/>
          </a:solidFill>
          <a:ln/>
        </p:spPr>
      </p:sp>
      <p:sp>
        <p:nvSpPr>
          <p:cNvPr id="19" name="Text 17"/>
          <p:cNvSpPr/>
          <p:nvPr/>
        </p:nvSpPr>
        <p:spPr>
          <a:xfrm>
            <a:off x="7498080" y="914400"/>
            <a:ext cx="457200" cy="256032"/>
          </a:xfrm>
          <a:prstGeom prst="rect">
            <a:avLst/>
          </a:prstGeom>
          <a:noFill/>
          <a:ln/>
        </p:spPr>
        <p:txBody>
          <a:bodyPr wrap="square" lIns="0" tIns="0" rIns="0" bIns="0" rtlCol="0" anchor="ctr"/>
          <a:lstStyle/>
          <a:p>
            <a:pPr algn="ctr" indent="0" marL="0">
              <a:buNone/>
            </a:pPr>
            <a:r>
              <a:rPr lang="en-US" sz="1100" b="1" dirty="0">
                <a:solidFill>
                  <a:srgbClr val="8B1A1A"/>
                </a:solidFill>
                <a:latin typeface="Arial" pitchFamily="34" charset="0"/>
                <a:ea typeface="Arial" pitchFamily="34" charset="-122"/>
                <a:cs typeface="Arial" pitchFamily="34" charset="-120"/>
              </a:rPr>
              <a:t>M12</a:t>
            </a:r>
            <a:endParaRPr lang="en-US" sz="1100" dirty="0"/>
          </a:p>
        </p:txBody>
      </p:sp>
      <p:sp>
        <p:nvSpPr>
          <p:cNvPr id="20" name="Text 18"/>
          <p:cNvSpPr/>
          <p:nvPr/>
        </p:nvSpPr>
        <p:spPr>
          <a:xfrm>
            <a:off x="7315200" y="1755648"/>
            <a:ext cx="1005840" cy="402336"/>
          </a:xfrm>
          <a:prstGeom prst="rect">
            <a:avLst/>
          </a:prstGeom>
          <a:noFill/>
          <a:ln/>
        </p:spPr>
        <p:txBody>
          <a:bodyPr wrap="square" lIns="0" tIns="0" rIns="0" bIns="0" rtlCol="0" anchor="ctr"/>
          <a:lstStyle/>
          <a:p>
            <a:pPr algn="ctr" indent="0" marL="0">
              <a:buNone/>
            </a:pPr>
            <a:r>
              <a:rPr lang="en-US" sz="950" dirty="0">
                <a:solidFill>
                  <a:srgbClr val="334155"/>
                </a:solidFill>
                <a:latin typeface="Arial" pitchFamily="34" charset="0"/>
                <a:ea typeface="Arial" pitchFamily="34" charset="-122"/>
                <a:cs typeface="Arial" pitchFamily="34" charset="-120"/>
              </a:rPr>
              <a:t>500 units</a:t>
            </a:r>
            <a:endParaRPr lang="en-US" sz="950" dirty="0"/>
          </a:p>
          <a:p>
            <a:pPr algn="ctr" indent="0" marL="0">
              <a:buNone/>
            </a:pPr>
            <a:r>
              <a:rPr lang="en-US" sz="950" dirty="0">
                <a:solidFill>
                  <a:srgbClr val="334155"/>
                </a:solidFill>
                <a:latin typeface="Arial" pitchFamily="34" charset="0"/>
                <a:ea typeface="Arial" pitchFamily="34" charset="-122"/>
                <a:cs typeface="Arial" pitchFamily="34" charset="-120"/>
              </a:rPr>
              <a:t>Insurance LOI</a:t>
            </a:r>
            <a:endParaRPr lang="en-US" sz="950" dirty="0"/>
          </a:p>
        </p:txBody>
      </p:sp>
      <p:sp>
        <p:nvSpPr>
          <p:cNvPr id="21" name="Shape 19"/>
          <p:cNvSpPr/>
          <p:nvPr/>
        </p:nvSpPr>
        <p:spPr>
          <a:xfrm>
            <a:off x="9226296" y="1371600"/>
            <a:ext cx="292608" cy="292608"/>
          </a:xfrm>
          <a:prstGeom prst="oval">
            <a:avLst/>
          </a:prstGeom>
          <a:solidFill>
            <a:srgbClr val="0D2B4E"/>
          </a:solidFill>
          <a:ln/>
        </p:spPr>
      </p:sp>
      <p:sp>
        <p:nvSpPr>
          <p:cNvPr id="22" name="Text 20"/>
          <p:cNvSpPr/>
          <p:nvPr/>
        </p:nvSpPr>
        <p:spPr>
          <a:xfrm>
            <a:off x="9144000" y="914400"/>
            <a:ext cx="457200" cy="256032"/>
          </a:xfrm>
          <a:prstGeom prst="rect">
            <a:avLst/>
          </a:prstGeom>
          <a:noFill/>
          <a:ln/>
        </p:spPr>
        <p:txBody>
          <a:bodyPr wrap="square" lIns="0" tIns="0" rIns="0" bIns="0" rtlCol="0" anchor="ctr"/>
          <a:lstStyle/>
          <a:p>
            <a:pPr algn="ctr" indent="0" marL="0">
              <a:buNone/>
            </a:pPr>
            <a:r>
              <a:rPr lang="en-US" sz="1100" b="1" dirty="0">
                <a:solidFill>
                  <a:srgbClr val="0D2B4E"/>
                </a:solidFill>
                <a:latin typeface="Arial" pitchFamily="34" charset="0"/>
                <a:ea typeface="Arial" pitchFamily="34" charset="-122"/>
                <a:cs typeface="Arial" pitchFamily="34" charset="-120"/>
              </a:rPr>
              <a:t>M18</a:t>
            </a:r>
            <a:endParaRPr lang="en-US" sz="1100" dirty="0"/>
          </a:p>
        </p:txBody>
      </p:sp>
      <p:sp>
        <p:nvSpPr>
          <p:cNvPr id="23" name="Text 21"/>
          <p:cNvSpPr/>
          <p:nvPr/>
        </p:nvSpPr>
        <p:spPr>
          <a:xfrm>
            <a:off x="8961120" y="1755648"/>
            <a:ext cx="1005840" cy="402336"/>
          </a:xfrm>
          <a:prstGeom prst="rect">
            <a:avLst/>
          </a:prstGeom>
          <a:noFill/>
          <a:ln/>
        </p:spPr>
        <p:txBody>
          <a:bodyPr wrap="square" lIns="0" tIns="0" rIns="0" bIns="0" rtlCol="0" anchor="ctr"/>
          <a:lstStyle/>
          <a:p>
            <a:pPr algn="ctr" indent="0" marL="0">
              <a:buNone/>
            </a:pPr>
            <a:r>
              <a:rPr lang="en-US" sz="950" dirty="0">
                <a:solidFill>
                  <a:srgbClr val="334155"/>
                </a:solidFill>
                <a:latin typeface="Arial" pitchFamily="34" charset="0"/>
                <a:ea typeface="Arial" pitchFamily="34" charset="-122"/>
                <a:cs typeface="Arial" pitchFamily="34" charset="-120"/>
              </a:rPr>
              <a:t>3 customers</a:t>
            </a:r>
            <a:endParaRPr lang="en-US" sz="950" dirty="0"/>
          </a:p>
          <a:p>
            <a:pPr algn="ctr" indent="0" marL="0">
              <a:buNone/>
            </a:pPr>
            <a:r>
              <a:rPr lang="en-US" sz="950" dirty="0">
                <a:solidFill>
                  <a:srgbClr val="334155"/>
                </a:solidFill>
                <a:latin typeface="Arial" pitchFamily="34" charset="0"/>
                <a:ea typeface="Arial" pitchFamily="34" charset="-122"/>
                <a:cs typeface="Arial" pitchFamily="34" charset="-120"/>
              </a:rPr>
              <a:t>₹18L MRR</a:t>
            </a:r>
            <a:endParaRPr lang="en-US" sz="950" dirty="0"/>
          </a:p>
        </p:txBody>
      </p:sp>
      <p:sp>
        <p:nvSpPr>
          <p:cNvPr id="24" name="Shape 22"/>
          <p:cNvSpPr/>
          <p:nvPr/>
        </p:nvSpPr>
        <p:spPr>
          <a:xfrm>
            <a:off x="274320" y="2340864"/>
            <a:ext cx="4114800" cy="2212848"/>
          </a:xfrm>
          <a:prstGeom prst="rect">
            <a:avLst>
              <a:gd name="adj" fmla="val 4132"/>
            </a:avLst>
          </a:prstGeom>
          <a:solidFill>
            <a:srgbClr val="0D2B4E"/>
          </a:solidFill>
          <a:ln/>
        </p:spPr>
      </p:sp>
      <p:sp>
        <p:nvSpPr>
          <p:cNvPr id="25" name="Text 23"/>
          <p:cNvSpPr/>
          <p:nvPr/>
        </p:nvSpPr>
        <p:spPr>
          <a:xfrm>
            <a:off x="457200" y="2450592"/>
            <a:ext cx="3749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Ask</a:t>
            </a:r>
            <a:endParaRPr lang="en-US" sz="1600" dirty="0"/>
          </a:p>
        </p:txBody>
      </p:sp>
      <p:sp>
        <p:nvSpPr>
          <p:cNvPr id="26" name="Text 24"/>
          <p:cNvSpPr/>
          <p:nvPr/>
        </p:nvSpPr>
        <p:spPr>
          <a:xfrm>
            <a:off x="457200" y="2871216"/>
            <a:ext cx="1371600" cy="274320"/>
          </a:xfrm>
          <a:prstGeom prst="rect">
            <a:avLst/>
          </a:prstGeom>
          <a:noFill/>
          <a:ln/>
        </p:spPr>
        <p:txBody>
          <a:bodyPr wrap="square" lIns="0" tIns="0" rIns="0" bIns="0" rtlCol="0" anchor="ctr"/>
          <a:lstStyle/>
          <a:p>
            <a:pPr indent="0" marL="0">
              <a:buNone/>
            </a:pPr>
            <a:r>
              <a:rPr lang="en-US" sz="1100" dirty="0">
                <a:solidFill>
                  <a:srgbClr val="A8C4E8"/>
                </a:solidFill>
                <a:latin typeface="Arial" pitchFamily="34" charset="0"/>
                <a:ea typeface="Arial" pitchFamily="34" charset="-122"/>
                <a:cs typeface="Arial" pitchFamily="34" charset="-120"/>
              </a:rPr>
              <a:t>Raising:</a:t>
            </a:r>
            <a:endParaRPr lang="en-US" sz="1100" dirty="0"/>
          </a:p>
        </p:txBody>
      </p:sp>
      <p:sp>
        <p:nvSpPr>
          <p:cNvPr id="27" name="Text 25"/>
          <p:cNvSpPr/>
          <p:nvPr/>
        </p:nvSpPr>
        <p:spPr>
          <a:xfrm>
            <a:off x="1920240" y="2871216"/>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₹6 Crore  (Seed Round)</a:t>
            </a:r>
            <a:endParaRPr lang="en-US" sz="1100" dirty="0"/>
          </a:p>
        </p:txBody>
      </p:sp>
      <p:sp>
        <p:nvSpPr>
          <p:cNvPr id="28" name="Text 26"/>
          <p:cNvSpPr/>
          <p:nvPr/>
        </p:nvSpPr>
        <p:spPr>
          <a:xfrm>
            <a:off x="457200" y="3200400"/>
            <a:ext cx="1371600" cy="274320"/>
          </a:xfrm>
          <a:prstGeom prst="rect">
            <a:avLst/>
          </a:prstGeom>
          <a:noFill/>
          <a:ln/>
        </p:spPr>
        <p:txBody>
          <a:bodyPr wrap="square" lIns="0" tIns="0" rIns="0" bIns="0" rtlCol="0" anchor="ctr"/>
          <a:lstStyle/>
          <a:p>
            <a:pPr indent="0" marL="0">
              <a:buNone/>
            </a:pPr>
            <a:r>
              <a:rPr lang="en-US" sz="1100" dirty="0">
                <a:solidFill>
                  <a:srgbClr val="A8C4E8"/>
                </a:solidFill>
                <a:latin typeface="Arial" pitchFamily="34" charset="0"/>
                <a:ea typeface="Arial" pitchFamily="34" charset="-122"/>
                <a:cs typeface="Arial" pitchFamily="34" charset="-120"/>
              </a:rPr>
              <a:t>Runway:</a:t>
            </a:r>
            <a:endParaRPr lang="en-US" sz="1100" dirty="0"/>
          </a:p>
        </p:txBody>
      </p:sp>
      <p:sp>
        <p:nvSpPr>
          <p:cNvPr id="29" name="Text 27"/>
          <p:cNvSpPr/>
          <p:nvPr/>
        </p:nvSpPr>
        <p:spPr>
          <a:xfrm>
            <a:off x="1920240" y="320040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20 Months</a:t>
            </a:r>
            <a:endParaRPr lang="en-US" sz="1100" dirty="0"/>
          </a:p>
        </p:txBody>
      </p:sp>
      <p:sp>
        <p:nvSpPr>
          <p:cNvPr id="30" name="Text 28"/>
          <p:cNvSpPr/>
          <p:nvPr/>
        </p:nvSpPr>
        <p:spPr>
          <a:xfrm>
            <a:off x="457200" y="3529584"/>
            <a:ext cx="1371600" cy="274320"/>
          </a:xfrm>
          <a:prstGeom prst="rect">
            <a:avLst/>
          </a:prstGeom>
          <a:noFill/>
          <a:ln/>
        </p:spPr>
        <p:txBody>
          <a:bodyPr wrap="square" lIns="0" tIns="0" rIns="0" bIns="0" rtlCol="0" anchor="ctr"/>
          <a:lstStyle/>
          <a:p>
            <a:pPr indent="0" marL="0">
              <a:buNone/>
            </a:pPr>
            <a:r>
              <a:rPr lang="en-US" sz="1100" dirty="0">
                <a:solidFill>
                  <a:srgbClr val="A8C4E8"/>
                </a:solidFill>
                <a:latin typeface="Arial" pitchFamily="34" charset="0"/>
                <a:ea typeface="Arial" pitchFamily="34" charset="-122"/>
                <a:cs typeface="Arial" pitchFamily="34" charset="-120"/>
              </a:rPr>
              <a:t>Series A target:</a:t>
            </a:r>
            <a:endParaRPr lang="en-US" sz="1100" dirty="0"/>
          </a:p>
        </p:txBody>
      </p:sp>
      <p:sp>
        <p:nvSpPr>
          <p:cNvPr id="31" name="Text 29"/>
          <p:cNvSpPr/>
          <p:nvPr/>
        </p:nvSpPr>
        <p:spPr>
          <a:xfrm>
            <a:off x="1920240" y="3529584"/>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₹25–40 Crore (Month 20)</a:t>
            </a:r>
            <a:endParaRPr lang="en-US" sz="1100" dirty="0"/>
          </a:p>
        </p:txBody>
      </p:sp>
      <p:sp>
        <p:nvSpPr>
          <p:cNvPr id="32" name="Text 30"/>
          <p:cNvSpPr/>
          <p:nvPr/>
        </p:nvSpPr>
        <p:spPr>
          <a:xfrm>
            <a:off x="457200" y="3858768"/>
            <a:ext cx="1371600" cy="274320"/>
          </a:xfrm>
          <a:prstGeom prst="rect">
            <a:avLst/>
          </a:prstGeom>
          <a:noFill/>
          <a:ln/>
        </p:spPr>
        <p:txBody>
          <a:bodyPr wrap="square" lIns="0" tIns="0" rIns="0" bIns="0" rtlCol="0" anchor="ctr"/>
          <a:lstStyle/>
          <a:p>
            <a:pPr indent="0" marL="0">
              <a:buNone/>
            </a:pPr>
            <a:r>
              <a:rPr lang="en-US" sz="1100" dirty="0">
                <a:solidFill>
                  <a:srgbClr val="A8C4E8"/>
                </a:solidFill>
                <a:latin typeface="Arial" pitchFamily="34" charset="0"/>
                <a:ea typeface="Arial" pitchFamily="34" charset="-122"/>
                <a:cs typeface="Arial" pitchFamily="34" charset="-120"/>
              </a:rPr>
              <a:t>Fund application:</a:t>
            </a:r>
            <a:endParaRPr lang="en-US" sz="1100" dirty="0"/>
          </a:p>
        </p:txBody>
      </p:sp>
      <p:sp>
        <p:nvSpPr>
          <p:cNvPr id="33" name="Text 31"/>
          <p:cNvSpPr/>
          <p:nvPr/>
        </p:nvSpPr>
        <p:spPr>
          <a:xfrm>
            <a:off x="1920240" y="3858768"/>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IIMA Ventures A&amp;D Fund</a:t>
            </a:r>
            <a:endParaRPr lang="en-US" sz="1100" dirty="0"/>
          </a:p>
        </p:txBody>
      </p:sp>
      <p:sp>
        <p:nvSpPr>
          <p:cNvPr id="34" name="Text 32"/>
          <p:cNvSpPr/>
          <p:nvPr/>
        </p:nvSpPr>
        <p:spPr>
          <a:xfrm>
            <a:off x="457200" y="4187952"/>
            <a:ext cx="1371600" cy="274320"/>
          </a:xfrm>
          <a:prstGeom prst="rect">
            <a:avLst/>
          </a:prstGeom>
          <a:noFill/>
          <a:ln/>
        </p:spPr>
        <p:txBody>
          <a:bodyPr wrap="square" lIns="0" tIns="0" rIns="0" bIns="0" rtlCol="0" anchor="ctr"/>
          <a:lstStyle/>
          <a:p>
            <a:pPr indent="0" marL="0">
              <a:buNone/>
            </a:pPr>
            <a:r>
              <a:rPr lang="en-US" sz="1100" dirty="0">
                <a:solidFill>
                  <a:srgbClr val="A8C4E8"/>
                </a:solidFill>
                <a:latin typeface="Arial" pitchFamily="34" charset="0"/>
                <a:ea typeface="Arial" pitchFamily="34" charset="-122"/>
                <a:cs typeface="Arial" pitchFamily="34" charset="-120"/>
              </a:rPr>
              <a:t>Program ask:</a:t>
            </a:r>
            <a:endParaRPr lang="en-US" sz="1100" dirty="0"/>
          </a:p>
        </p:txBody>
      </p:sp>
      <p:sp>
        <p:nvSpPr>
          <p:cNvPr id="35" name="Text 33"/>
          <p:cNvSpPr/>
          <p:nvPr/>
        </p:nvSpPr>
        <p:spPr>
          <a:xfrm>
            <a:off x="1920240" y="4187952"/>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$400,000 USD pre-seed</a:t>
            </a:r>
            <a:endParaRPr lang="en-US" sz="1100" dirty="0"/>
          </a:p>
        </p:txBody>
      </p:sp>
      <p:sp>
        <p:nvSpPr>
          <p:cNvPr id="36" name="Shape 34"/>
          <p:cNvSpPr/>
          <p:nvPr/>
        </p:nvSpPr>
        <p:spPr>
          <a:xfrm>
            <a:off x="4663440" y="2340864"/>
            <a:ext cx="4297680" cy="2212848"/>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37" name="Shape 35"/>
          <p:cNvSpPr/>
          <p:nvPr/>
        </p:nvSpPr>
        <p:spPr>
          <a:xfrm>
            <a:off x="4663440" y="2340864"/>
            <a:ext cx="4297680" cy="54864"/>
          </a:xfrm>
          <a:prstGeom prst="rect">
            <a:avLst/>
          </a:prstGeom>
          <a:solidFill>
            <a:srgbClr val="C94A0A"/>
          </a:solidFill>
          <a:ln/>
        </p:spPr>
      </p:sp>
      <p:sp>
        <p:nvSpPr>
          <p:cNvPr id="38" name="Text 36"/>
          <p:cNvSpPr/>
          <p:nvPr/>
        </p:nvSpPr>
        <p:spPr>
          <a:xfrm>
            <a:off x="4754880" y="2432304"/>
            <a:ext cx="4114800" cy="274320"/>
          </a:xfrm>
          <a:prstGeom prst="rect">
            <a:avLst/>
          </a:prstGeom>
          <a:noFill/>
          <a:ln/>
        </p:spPr>
        <p:txBody>
          <a:bodyPr wrap="square" lIns="0" tIns="0" rIns="0" bIns="0" rtlCol="0" anchor="ctr"/>
          <a:lstStyle/>
          <a:p>
            <a:pPr indent="0" marL="0">
              <a:buNone/>
            </a:pPr>
            <a:r>
              <a:rPr lang="en-US" sz="1200" b="1" dirty="0">
                <a:solidFill>
                  <a:srgbClr val="0D2B4E"/>
                </a:solidFill>
                <a:latin typeface="Arial" pitchFamily="34" charset="0"/>
                <a:ea typeface="Arial" pitchFamily="34" charset="-122"/>
                <a:cs typeface="Arial" pitchFamily="34" charset="-120"/>
              </a:rPr>
              <a:t>How IIMA + Jaivel Accelerates Garuda</a:t>
            </a:r>
            <a:endParaRPr lang="en-US" sz="1200" dirty="0"/>
          </a:p>
        </p:txBody>
      </p:sp>
      <p:sp>
        <p:nvSpPr>
          <p:cNvPr id="39" name="Text 37"/>
          <p:cNvSpPr/>
          <p:nvPr/>
        </p:nvSpPr>
        <p:spPr>
          <a:xfrm>
            <a:off x="4754880" y="2779776"/>
            <a:ext cx="4114800" cy="1664208"/>
          </a:xfrm>
          <a:prstGeom prst="rect">
            <a:avLst/>
          </a:prstGeom>
          <a:noFill/>
          <a:ln/>
        </p:spPr>
        <p:txBody>
          <a:bodyPr wrap="square" lIns="0" tIns="0" rIns="0" bIns="0" rtlCol="0" anchor="t"/>
          <a:lstStyle/>
          <a:p>
            <a:pPr marL="342900" indent="-342900">
              <a:buSzPct val="100000"/>
              <a:buChar char="•"/>
            </a:pPr>
            <a:r>
              <a:rPr lang="en-US" sz="1000" dirty="0">
                <a:solidFill>
                  <a:srgbClr val="334155"/>
                </a:solidFill>
                <a:latin typeface="Arial" pitchFamily="34" charset="0"/>
                <a:ea typeface="Arial" pitchFamily="34" charset="-122"/>
                <a:cs typeface="Arial" pitchFamily="34" charset="-120"/>
              </a:rPr>
              <a:t>Jaivel's Inspire One facility — prototype to production without building new manufacturing relationships</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Boeing/Airbus/ISRO network — enterprise fleet operator doors opened directly</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IIMA Ventures investor network — Sequoia, Accel, Matrix for Series A de-risked</a:t>
            </a:r>
            <a:endParaRPr lang="en-US" sz="1000" dirty="0"/>
          </a:p>
          <a:p>
            <a:pPr marL="342900" indent="-342900">
              <a:buSzPct val="100000"/>
              <a:buChar char="•"/>
            </a:pPr>
            <a:r>
              <a:rPr lang="en-US" sz="1000" dirty="0">
                <a:solidFill>
                  <a:srgbClr val="334155"/>
                </a:solidFill>
                <a:latin typeface="Arial" pitchFamily="34" charset="0"/>
                <a:ea typeface="Arial" pitchFamily="34" charset="-122"/>
                <a:cs typeface="Arial" pitchFamily="34" charset="-120"/>
              </a:rPr>
              <a:t>IIM Ahmedabad alumni — fleet operators, insurers, OEM decision makers</a:t>
            </a:r>
            <a:endParaRPr lang="en-US" sz="1000" dirty="0"/>
          </a:p>
        </p:txBody>
      </p:sp>
      <p:sp>
        <p:nvSpPr>
          <p:cNvPr id="40" name="Text 38"/>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41" name="Text 39"/>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11  —  System Architecture  (Supporting)</a:t>
            </a:r>
            <a:endParaRPr lang="en-US" sz="1300" dirty="0"/>
          </a:p>
        </p:txBody>
      </p:sp>
      <p:sp>
        <p:nvSpPr>
          <p:cNvPr id="4" name="Text 2"/>
          <p:cNvSpPr/>
          <p:nvPr/>
        </p:nvSpPr>
        <p:spPr>
          <a:xfrm>
            <a:off x="274320" y="457200"/>
            <a:ext cx="8595360" cy="274320"/>
          </a:xfrm>
          <a:prstGeom prst="rect">
            <a:avLst/>
          </a:prstGeom>
          <a:noFill/>
          <a:ln/>
        </p:spPr>
        <p:txBody>
          <a:bodyPr wrap="square" rtlCol="0" anchor="ctr"/>
          <a:lstStyle/>
          <a:p>
            <a:pPr indent="0" marL="0">
              <a:buNone/>
            </a:pPr>
            <a:r>
              <a:rPr lang="en-US" sz="1400" i="1" dirty="0">
                <a:solidFill>
                  <a:srgbClr val="0D2B4E"/>
                </a:solidFill>
                <a:latin typeface="Arial" pitchFamily="34" charset="0"/>
                <a:ea typeface="Arial" pitchFamily="34" charset="-122"/>
                <a:cs typeface="Arial" pitchFamily="34" charset="-120"/>
              </a:rPr>
              <a:t>All critical processing on-device. No internet required for accident prediction.</a:t>
            </a:r>
            <a:endParaRPr lang="en-US" sz="1400" dirty="0"/>
          </a:p>
        </p:txBody>
      </p:sp>
      <p:sp>
        <p:nvSpPr>
          <p:cNvPr id="5" name="Shape 3"/>
          <p:cNvSpPr/>
          <p:nvPr/>
        </p:nvSpPr>
        <p:spPr>
          <a:xfrm>
            <a:off x="274320" y="841248"/>
            <a:ext cx="8595360" cy="822960"/>
          </a:xfrm>
          <a:prstGeom prst="rect">
            <a:avLst/>
          </a:prstGeom>
          <a:solidFill>
            <a:srgbClr val="E5F4F4"/>
          </a:solidFill>
          <a:ln w="12700">
            <a:solidFill>
              <a:srgbClr val="0A6E6E"/>
            </a:solidFill>
            <a:prstDash val="solid"/>
          </a:ln>
        </p:spPr>
      </p:sp>
      <p:sp>
        <p:nvSpPr>
          <p:cNvPr id="6" name="Text 4"/>
          <p:cNvSpPr/>
          <p:nvPr/>
        </p:nvSpPr>
        <p:spPr>
          <a:xfrm>
            <a:off x="411480" y="896112"/>
            <a:ext cx="8321040" cy="219456"/>
          </a:xfrm>
          <a:prstGeom prst="rect">
            <a:avLst/>
          </a:prstGeom>
          <a:noFill/>
          <a:ln/>
        </p:spPr>
        <p:txBody>
          <a:bodyPr wrap="square" lIns="0" tIns="0" rIns="0" bIns="0" rtlCol="0" anchor="ctr"/>
          <a:lstStyle/>
          <a:p>
            <a:pPr indent="0" marL="0">
              <a:buNone/>
            </a:pPr>
            <a:r>
              <a:rPr lang="en-US" sz="1000" b="1" spc="100" kern="0" dirty="0">
                <a:solidFill>
                  <a:srgbClr val="0A6E6E"/>
                </a:solidFill>
                <a:latin typeface="Arial" pitchFamily="34" charset="0"/>
                <a:ea typeface="Arial" pitchFamily="34" charset="-122"/>
                <a:cs typeface="Arial" pitchFamily="34" charset="-120"/>
              </a:rPr>
              <a:t>DATA INPUT LAYER</a:t>
            </a:r>
            <a:endParaRPr lang="en-US" sz="1000" dirty="0"/>
          </a:p>
        </p:txBody>
      </p:sp>
      <p:sp>
        <p:nvSpPr>
          <p:cNvPr id="7" name="Text 5"/>
          <p:cNvSpPr/>
          <p:nvPr/>
        </p:nvSpPr>
        <p:spPr>
          <a:xfrm>
            <a:off x="411480" y="1115568"/>
            <a:ext cx="8321040" cy="47548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Vehicle sensors   ·   Driver camera   ·   GPS + Environment   ·   BLE V2V signals</a:t>
            </a:r>
            <a:endParaRPr lang="en-US" sz="1100" dirty="0"/>
          </a:p>
        </p:txBody>
      </p:sp>
      <p:sp>
        <p:nvSpPr>
          <p:cNvPr id="8" name="Shape 6"/>
          <p:cNvSpPr/>
          <p:nvPr/>
        </p:nvSpPr>
        <p:spPr>
          <a:xfrm>
            <a:off x="4389120" y="1664208"/>
            <a:ext cx="54864" cy="164592"/>
          </a:xfrm>
          <a:prstGeom prst="rect">
            <a:avLst/>
          </a:prstGeom>
          <a:solidFill>
            <a:srgbClr val="0A6E6E"/>
          </a:solidFill>
          <a:ln/>
        </p:spPr>
      </p:sp>
      <p:sp>
        <p:nvSpPr>
          <p:cNvPr id="9" name="Shape 7"/>
          <p:cNvSpPr/>
          <p:nvPr/>
        </p:nvSpPr>
        <p:spPr>
          <a:xfrm>
            <a:off x="274320" y="1737360"/>
            <a:ext cx="8595360" cy="1133856"/>
          </a:xfrm>
          <a:prstGeom prst="rect">
            <a:avLst/>
          </a:prstGeom>
          <a:solidFill>
            <a:srgbClr val="EAF0F8"/>
          </a:solidFill>
          <a:ln w="12700">
            <a:solidFill>
              <a:srgbClr val="0D2B4E"/>
            </a:solidFill>
            <a:prstDash val="solid"/>
          </a:ln>
        </p:spPr>
      </p:sp>
      <p:sp>
        <p:nvSpPr>
          <p:cNvPr id="10" name="Text 8"/>
          <p:cNvSpPr/>
          <p:nvPr/>
        </p:nvSpPr>
        <p:spPr>
          <a:xfrm>
            <a:off x="411480" y="1792224"/>
            <a:ext cx="8321040" cy="219456"/>
          </a:xfrm>
          <a:prstGeom prst="rect">
            <a:avLst/>
          </a:prstGeom>
          <a:noFill/>
          <a:ln/>
        </p:spPr>
        <p:txBody>
          <a:bodyPr wrap="square" lIns="0" tIns="0" rIns="0" bIns="0" rtlCol="0" anchor="ctr"/>
          <a:lstStyle/>
          <a:p>
            <a:pPr indent="0" marL="0">
              <a:buNone/>
            </a:pPr>
            <a:r>
              <a:rPr lang="en-US" sz="1000" b="1" spc="100" kern="0" dirty="0">
                <a:solidFill>
                  <a:srgbClr val="0D2B4E"/>
                </a:solidFill>
                <a:latin typeface="Arial" pitchFamily="34" charset="0"/>
                <a:ea typeface="Arial" pitchFamily="34" charset="-122"/>
                <a:cs typeface="Arial" pitchFamily="34" charset="-120"/>
              </a:rPr>
              <a:t>EDGE AI LAYER  (onboard · &lt;100ms)</a:t>
            </a:r>
            <a:endParaRPr lang="en-US" sz="1000" dirty="0"/>
          </a:p>
        </p:txBody>
      </p:sp>
      <p:sp>
        <p:nvSpPr>
          <p:cNvPr id="11" name="Text 9"/>
          <p:cNvSpPr/>
          <p:nvPr/>
        </p:nvSpPr>
        <p:spPr>
          <a:xfrm>
            <a:off x="411480" y="2011680"/>
            <a:ext cx="8321040" cy="804672"/>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Preprocessing + Feature Extraction   ·   Multi-Modal Fusion  (CNN + LSTM + Graph Net)   ·   Risk Prediction Engine  (Score 0–1)   ·   Drowsiness Detect · AI Co-Driver · Path Planning · Emergency</a:t>
            </a:r>
            <a:endParaRPr lang="en-US" sz="1100" dirty="0"/>
          </a:p>
        </p:txBody>
      </p:sp>
      <p:sp>
        <p:nvSpPr>
          <p:cNvPr id="12" name="Shape 10"/>
          <p:cNvSpPr/>
          <p:nvPr/>
        </p:nvSpPr>
        <p:spPr>
          <a:xfrm>
            <a:off x="4389120" y="2871216"/>
            <a:ext cx="54864" cy="164592"/>
          </a:xfrm>
          <a:prstGeom prst="rect">
            <a:avLst/>
          </a:prstGeom>
          <a:solidFill>
            <a:srgbClr val="0D2B4E"/>
          </a:solidFill>
          <a:ln/>
        </p:spPr>
      </p:sp>
      <p:sp>
        <p:nvSpPr>
          <p:cNvPr id="13" name="Shape 11"/>
          <p:cNvSpPr/>
          <p:nvPr/>
        </p:nvSpPr>
        <p:spPr>
          <a:xfrm>
            <a:off x="274320" y="2944368"/>
            <a:ext cx="8595360" cy="786384"/>
          </a:xfrm>
          <a:prstGeom prst="rect">
            <a:avLst/>
          </a:prstGeom>
          <a:solidFill>
            <a:srgbClr val="F0EBF8"/>
          </a:solidFill>
          <a:ln w="12700">
            <a:solidFill>
              <a:srgbClr val="4A2D7A"/>
            </a:solidFill>
            <a:prstDash val="solid"/>
          </a:ln>
        </p:spPr>
      </p:sp>
      <p:sp>
        <p:nvSpPr>
          <p:cNvPr id="14" name="Text 12"/>
          <p:cNvSpPr/>
          <p:nvPr/>
        </p:nvSpPr>
        <p:spPr>
          <a:xfrm>
            <a:off x="411480" y="2999232"/>
            <a:ext cx="8321040" cy="219456"/>
          </a:xfrm>
          <a:prstGeom prst="rect">
            <a:avLst/>
          </a:prstGeom>
          <a:noFill/>
          <a:ln/>
        </p:spPr>
        <p:txBody>
          <a:bodyPr wrap="square" lIns="0" tIns="0" rIns="0" bIns="0" rtlCol="0" anchor="ctr"/>
          <a:lstStyle/>
          <a:p>
            <a:pPr indent="0" marL="0">
              <a:buNone/>
            </a:pPr>
            <a:r>
              <a:rPr lang="en-US" sz="1000" b="1" spc="100" kern="0" dirty="0">
                <a:solidFill>
                  <a:srgbClr val="4A2D7A"/>
                </a:solidFill>
                <a:latin typeface="Arial" pitchFamily="34" charset="0"/>
                <a:ea typeface="Arial" pitchFamily="34" charset="-122"/>
                <a:cs typeface="Arial" pitchFamily="34" charset="-120"/>
              </a:rPr>
              <a:t>FOG + CLOUD LAYER</a:t>
            </a:r>
            <a:endParaRPr lang="en-US" sz="1000" dirty="0"/>
          </a:p>
        </p:txBody>
      </p:sp>
      <p:sp>
        <p:nvSpPr>
          <p:cNvPr id="15" name="Text 13"/>
          <p:cNvSpPr/>
          <p:nvPr/>
        </p:nvSpPr>
        <p:spPr>
          <a:xfrm>
            <a:off x="411480" y="3218688"/>
            <a:ext cx="8321040" cy="804672"/>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Local aggregation · Cluster risk sharing · ~500m radius   ·   Model retraining · OTA updates · Fleet analytics · Global risk map</a:t>
            </a:r>
            <a:endParaRPr lang="en-US" sz="1100" dirty="0"/>
          </a:p>
        </p:txBody>
      </p:sp>
      <p:sp>
        <p:nvSpPr>
          <p:cNvPr id="16" name="Shape 14"/>
          <p:cNvSpPr/>
          <p:nvPr/>
        </p:nvSpPr>
        <p:spPr>
          <a:xfrm>
            <a:off x="4389120" y="3730752"/>
            <a:ext cx="54864" cy="164592"/>
          </a:xfrm>
          <a:prstGeom prst="rect">
            <a:avLst/>
          </a:prstGeom>
          <a:solidFill>
            <a:srgbClr val="4A2D7A"/>
          </a:solidFill>
          <a:ln/>
        </p:spPr>
      </p:sp>
      <p:sp>
        <p:nvSpPr>
          <p:cNvPr id="17" name="Shape 15"/>
          <p:cNvSpPr/>
          <p:nvPr/>
        </p:nvSpPr>
        <p:spPr>
          <a:xfrm>
            <a:off x="274320" y="3803904"/>
            <a:ext cx="8595360" cy="713232"/>
          </a:xfrm>
          <a:prstGeom prst="rect">
            <a:avLst/>
          </a:prstGeom>
          <a:solidFill>
            <a:srgbClr val="FEF0E7"/>
          </a:solidFill>
          <a:ln w="12700">
            <a:solidFill>
              <a:srgbClr val="C94A0A"/>
            </a:solidFill>
            <a:prstDash val="solid"/>
          </a:ln>
        </p:spPr>
      </p:sp>
      <p:sp>
        <p:nvSpPr>
          <p:cNvPr id="18" name="Text 16"/>
          <p:cNvSpPr/>
          <p:nvPr/>
        </p:nvSpPr>
        <p:spPr>
          <a:xfrm>
            <a:off x="411480" y="3858768"/>
            <a:ext cx="8321040" cy="219456"/>
          </a:xfrm>
          <a:prstGeom prst="rect">
            <a:avLst/>
          </a:prstGeom>
          <a:noFill/>
          <a:ln/>
        </p:spPr>
        <p:txBody>
          <a:bodyPr wrap="square" lIns="0" tIns="0" rIns="0" bIns="0" rtlCol="0" anchor="ctr"/>
          <a:lstStyle/>
          <a:p>
            <a:pPr indent="0" marL="0">
              <a:buNone/>
            </a:pPr>
            <a:r>
              <a:rPr lang="en-US" sz="1000" b="1" spc="100" kern="0" dirty="0">
                <a:solidFill>
                  <a:srgbClr val="C94A0A"/>
                </a:solidFill>
                <a:latin typeface="Arial" pitchFamily="34" charset="0"/>
                <a:ea typeface="Arial" pitchFamily="34" charset="-122"/>
                <a:cs typeface="Arial" pitchFamily="34" charset="-120"/>
              </a:rPr>
              <a:t>DRIVER OUTPUT LAYER</a:t>
            </a:r>
            <a:endParaRPr lang="en-US" sz="1000" dirty="0"/>
          </a:p>
        </p:txBody>
      </p:sp>
      <p:sp>
        <p:nvSpPr>
          <p:cNvPr id="19" name="Text 17"/>
          <p:cNvSpPr/>
          <p:nvPr/>
        </p:nvSpPr>
        <p:spPr>
          <a:xfrm>
            <a:off x="411480" y="4078224"/>
            <a:ext cx="8321040" cy="804672"/>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Voice alert   ·   Risk dashboard  (0–100%)   ·   Route suggestion   ·   Emergency SOS  (GPS · 112)</a:t>
            </a:r>
            <a:endParaRPr lang="en-US" sz="1100" dirty="0"/>
          </a:p>
        </p:txBody>
      </p:sp>
      <p:sp>
        <p:nvSpPr>
          <p:cNvPr id="20" name="Shape 18"/>
          <p:cNvSpPr/>
          <p:nvPr/>
        </p:nvSpPr>
        <p:spPr>
          <a:xfrm>
            <a:off x="274320" y="4590288"/>
            <a:ext cx="8595360" cy="201168"/>
          </a:xfrm>
          <a:prstGeom prst="rect">
            <a:avLst/>
          </a:prstGeom>
          <a:solidFill>
            <a:srgbClr val="F4F7FB"/>
          </a:solidFill>
          <a:ln/>
        </p:spPr>
      </p:sp>
      <p:sp>
        <p:nvSpPr>
          <p:cNvPr id="21" name="Text 19"/>
          <p:cNvSpPr/>
          <p:nvPr/>
        </p:nvSpPr>
        <p:spPr>
          <a:xfrm>
            <a:off x="274320" y="4590288"/>
            <a:ext cx="8595360" cy="20116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End-to-end encryption  ·  Secure BLE  ·  Device authentication  ·  Secure OTA updates</a:t>
            </a:r>
            <a:endParaRPr lang="en-US" sz="900" dirty="0"/>
          </a:p>
        </p:txBody>
      </p:sp>
      <p:sp>
        <p:nvSpPr>
          <p:cNvPr id="22" name="Text 20"/>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23" name="Text 21"/>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12  —  Hardware Design  (Supporting)</a:t>
            </a:r>
            <a:endParaRPr lang="en-US" sz="1300" dirty="0"/>
          </a:p>
        </p:txBody>
      </p:sp>
      <p:sp>
        <p:nvSpPr>
          <p:cNvPr id="4" name="Text 2"/>
          <p:cNvSpPr/>
          <p:nvPr/>
        </p:nvSpPr>
        <p:spPr>
          <a:xfrm>
            <a:off x="274320" y="457200"/>
            <a:ext cx="8595360" cy="292608"/>
          </a:xfrm>
          <a:prstGeom prst="rect">
            <a:avLst/>
          </a:prstGeom>
          <a:noFill/>
          <a:ln/>
        </p:spPr>
        <p:txBody>
          <a:bodyPr wrap="square" rtlCol="0" anchor="ctr"/>
          <a:lstStyle/>
          <a:p>
            <a:pPr indent="0" marL="0">
              <a:buNone/>
            </a:pPr>
            <a:r>
              <a:rPr lang="en-US" sz="1400" b="1" dirty="0">
                <a:solidFill>
                  <a:srgbClr val="0D2B4E"/>
                </a:solidFill>
                <a:latin typeface="Arial" pitchFamily="34" charset="0"/>
                <a:ea typeface="Arial" pitchFamily="34" charset="-122"/>
                <a:cs typeface="Arial" pitchFamily="34" charset="-120"/>
              </a:rPr>
              <a:t>Production-grade device built for India's harshest road conditions</a:t>
            </a:r>
            <a:endParaRPr lang="en-US" sz="1400" dirty="0"/>
          </a:p>
        </p:txBody>
      </p:sp>
      <p:sp>
        <p:nvSpPr>
          <p:cNvPr id="5" name="Shape 3"/>
          <p:cNvSpPr/>
          <p:nvPr/>
        </p:nvSpPr>
        <p:spPr>
          <a:xfrm>
            <a:off x="274320" y="859536"/>
            <a:ext cx="3931920" cy="3291840"/>
          </a:xfrm>
          <a:prstGeom prst="rect">
            <a:avLst>
              <a:gd name="adj" fmla="val 4167"/>
            </a:avLst>
          </a:prstGeom>
          <a:solidFill>
            <a:srgbClr val="0A1929"/>
          </a:solidFill>
          <a:ln/>
        </p:spPr>
      </p:sp>
      <p:sp>
        <p:nvSpPr>
          <p:cNvPr id="6" name="Text 4"/>
          <p:cNvSpPr/>
          <p:nvPr/>
        </p:nvSpPr>
        <p:spPr>
          <a:xfrm>
            <a:off x="457200" y="1737360"/>
            <a:ext cx="3566160" cy="457200"/>
          </a:xfrm>
          <a:prstGeom prst="rect">
            <a:avLst/>
          </a:prstGeom>
          <a:noFill/>
          <a:ln/>
        </p:spPr>
        <p:txBody>
          <a:bodyPr wrap="square"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GARUDA DEVICE</a:t>
            </a:r>
            <a:endParaRPr lang="en-US" sz="1800" dirty="0"/>
          </a:p>
        </p:txBody>
      </p:sp>
      <p:sp>
        <p:nvSpPr>
          <p:cNvPr id="7" name="Text 5"/>
          <p:cNvSpPr/>
          <p:nvPr/>
        </p:nvSpPr>
        <p:spPr>
          <a:xfrm>
            <a:off x="457200" y="2286000"/>
            <a:ext cx="3566160" cy="365760"/>
          </a:xfrm>
          <a:prstGeom prst="rect">
            <a:avLst/>
          </a:prstGeom>
          <a:noFill/>
          <a:ln/>
        </p:spPr>
        <p:txBody>
          <a:bodyPr wrap="square" rtlCol="0" anchor="ctr"/>
          <a:lstStyle/>
          <a:p>
            <a:pPr algn="ctr" indent="0" marL="0">
              <a:buNone/>
            </a:pPr>
            <a:r>
              <a:rPr lang="en-US" sz="1200" i="1" dirty="0">
                <a:solidFill>
                  <a:srgbClr val="4A6FA5"/>
                </a:solidFill>
                <a:latin typeface="Arial" pitchFamily="34" charset="0"/>
                <a:ea typeface="Arial" pitchFamily="34" charset="-122"/>
                <a:cs typeface="Arial" pitchFamily="34" charset="-120"/>
              </a:rPr>
              <a:t>[3D Render / Photo Here]</a:t>
            </a:r>
            <a:endParaRPr lang="en-US" sz="1200" dirty="0"/>
          </a:p>
        </p:txBody>
      </p:sp>
      <p:sp>
        <p:nvSpPr>
          <p:cNvPr id="8" name="Text 6"/>
          <p:cNvSpPr/>
          <p:nvPr/>
        </p:nvSpPr>
        <p:spPr>
          <a:xfrm>
            <a:off x="457200" y="2743200"/>
            <a:ext cx="3566160" cy="274320"/>
          </a:xfrm>
          <a:prstGeom prst="rect">
            <a:avLst/>
          </a:prstGeom>
          <a:noFill/>
          <a:ln/>
        </p:spPr>
        <p:txBody>
          <a:bodyPr wrap="square" rtlCol="0" anchor="ctr"/>
          <a:lstStyle/>
          <a:p>
            <a:pPr algn="ctr" indent="0" marL="0">
              <a:buNone/>
            </a:pPr>
            <a:r>
              <a:rPr lang="en-US" sz="900" i="1" dirty="0">
                <a:solidFill>
                  <a:srgbClr val="2A4A7A"/>
                </a:solidFill>
                <a:latin typeface="Arial" pitchFamily="34" charset="0"/>
                <a:ea typeface="Arial" pitchFamily="34" charset="-122"/>
                <a:cs typeface="Arial" pitchFamily="34" charset="-120"/>
              </a:rPr>
              <a:t>Use Project_Garuda_3D_Enclosure.html</a:t>
            </a:r>
            <a:endParaRPr lang="en-US" sz="900" dirty="0"/>
          </a:p>
        </p:txBody>
      </p:sp>
      <p:sp>
        <p:nvSpPr>
          <p:cNvPr id="9" name="Text 7"/>
          <p:cNvSpPr/>
          <p:nvPr/>
        </p:nvSpPr>
        <p:spPr>
          <a:xfrm>
            <a:off x="457200" y="3017520"/>
            <a:ext cx="3566160" cy="274320"/>
          </a:xfrm>
          <a:prstGeom prst="rect">
            <a:avLst/>
          </a:prstGeom>
          <a:noFill/>
          <a:ln/>
        </p:spPr>
        <p:txBody>
          <a:bodyPr wrap="square" rtlCol="0" anchor="ctr"/>
          <a:lstStyle/>
          <a:p>
            <a:pPr algn="ctr" indent="0" marL="0">
              <a:buNone/>
            </a:pPr>
            <a:r>
              <a:rPr lang="en-US" sz="900" i="1" dirty="0">
                <a:solidFill>
                  <a:srgbClr val="2A4A7A"/>
                </a:solidFill>
                <a:latin typeface="Arial" pitchFamily="34" charset="0"/>
                <a:ea typeface="Arial" pitchFamily="34" charset="-122"/>
                <a:cs typeface="Arial" pitchFamily="34" charset="-120"/>
              </a:rPr>
              <a:t>or AutoCAD_Schematic.html as image</a:t>
            </a:r>
            <a:endParaRPr lang="en-US" sz="900" dirty="0"/>
          </a:p>
        </p:txBody>
      </p:sp>
      <p:sp>
        <p:nvSpPr>
          <p:cNvPr id="10" name="Shape 8"/>
          <p:cNvSpPr/>
          <p:nvPr/>
        </p:nvSpPr>
        <p:spPr>
          <a:xfrm>
            <a:off x="822960" y="3474720"/>
            <a:ext cx="2651760" cy="36576"/>
          </a:xfrm>
          <a:prstGeom prst="rect">
            <a:avLst/>
          </a:prstGeom>
          <a:solidFill>
            <a:srgbClr val="C94A0A"/>
          </a:solidFill>
          <a:ln/>
        </p:spPr>
      </p:sp>
      <p:sp>
        <p:nvSpPr>
          <p:cNvPr id="11" name="Text 9"/>
          <p:cNvSpPr/>
          <p:nvPr/>
        </p:nvSpPr>
        <p:spPr>
          <a:xfrm>
            <a:off x="457200" y="3566160"/>
            <a:ext cx="3566160" cy="274320"/>
          </a:xfrm>
          <a:prstGeom prst="rect">
            <a:avLst/>
          </a:prstGeom>
          <a:noFill/>
          <a:ln/>
        </p:spPr>
        <p:txBody>
          <a:bodyPr wrap="square" rtlCol="0" anchor="ctr"/>
          <a:lstStyle/>
          <a:p>
            <a:pPr algn="ctr" indent="0" marL="0">
              <a:buNone/>
            </a:pPr>
            <a:r>
              <a:rPr lang="en-US" sz="800" b="1" spc="100" kern="0" dirty="0">
                <a:solidFill>
                  <a:srgbClr val="A8C4E8"/>
                </a:solidFill>
                <a:latin typeface="Arial" pitchFamily="34" charset="0"/>
                <a:ea typeface="Arial" pitchFamily="34" charset="-122"/>
                <a:cs typeface="Arial" pitchFamily="34" charset="-120"/>
              </a:rPr>
              <a:t>IP67-RATED  ·  VIBRATION-TESTED  ·  48°C RATED</a:t>
            </a:r>
            <a:endParaRPr lang="en-US" sz="800" dirty="0"/>
          </a:p>
        </p:txBody>
      </p:sp>
      <p:sp>
        <p:nvSpPr>
          <p:cNvPr id="12" name="Shape 10"/>
          <p:cNvSpPr/>
          <p:nvPr/>
        </p:nvSpPr>
        <p:spPr>
          <a:xfrm>
            <a:off x="4389120" y="859536"/>
            <a:ext cx="4572000" cy="265176"/>
          </a:xfrm>
          <a:prstGeom prst="rect">
            <a:avLst/>
          </a:prstGeom>
          <a:solidFill>
            <a:srgbClr val="FFFFFF"/>
          </a:solidFill>
          <a:ln/>
        </p:spPr>
      </p:sp>
      <p:sp>
        <p:nvSpPr>
          <p:cNvPr id="13" name="Text 11"/>
          <p:cNvSpPr/>
          <p:nvPr/>
        </p:nvSpPr>
        <p:spPr>
          <a:xfrm>
            <a:off x="4462272" y="896112"/>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Compute</a:t>
            </a:r>
            <a:endParaRPr lang="en-US" sz="1000" dirty="0"/>
          </a:p>
        </p:txBody>
      </p:sp>
      <p:sp>
        <p:nvSpPr>
          <p:cNvPr id="14" name="Text 12"/>
          <p:cNvSpPr/>
          <p:nvPr/>
        </p:nvSpPr>
        <p:spPr>
          <a:xfrm>
            <a:off x="5541264" y="896112"/>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Jetson Nano (production) / RPi 4 (prototype)</a:t>
            </a:r>
            <a:endParaRPr lang="en-US" sz="1000" dirty="0"/>
          </a:p>
        </p:txBody>
      </p:sp>
      <p:sp>
        <p:nvSpPr>
          <p:cNvPr id="15" name="Shape 13"/>
          <p:cNvSpPr/>
          <p:nvPr/>
        </p:nvSpPr>
        <p:spPr>
          <a:xfrm>
            <a:off x="4389120" y="1143000"/>
            <a:ext cx="4572000" cy="265176"/>
          </a:xfrm>
          <a:prstGeom prst="rect">
            <a:avLst/>
          </a:prstGeom>
          <a:solidFill>
            <a:srgbClr val="F4F7FB"/>
          </a:solidFill>
          <a:ln/>
        </p:spPr>
      </p:sp>
      <p:sp>
        <p:nvSpPr>
          <p:cNvPr id="16" name="Text 14"/>
          <p:cNvSpPr/>
          <p:nvPr/>
        </p:nvSpPr>
        <p:spPr>
          <a:xfrm>
            <a:off x="4462272" y="1179576"/>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Cameras</a:t>
            </a:r>
            <a:endParaRPr lang="en-US" sz="1000" dirty="0"/>
          </a:p>
        </p:txBody>
      </p:sp>
      <p:sp>
        <p:nvSpPr>
          <p:cNvPr id="17" name="Text 15"/>
          <p:cNvSpPr/>
          <p:nvPr/>
        </p:nvSpPr>
        <p:spPr>
          <a:xfrm>
            <a:off x="5541264" y="1179576"/>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Dual — road-facing + driver-facing IR (night vision)</a:t>
            </a:r>
            <a:endParaRPr lang="en-US" sz="1000" dirty="0"/>
          </a:p>
        </p:txBody>
      </p:sp>
      <p:sp>
        <p:nvSpPr>
          <p:cNvPr id="18" name="Shape 16"/>
          <p:cNvSpPr/>
          <p:nvPr/>
        </p:nvSpPr>
        <p:spPr>
          <a:xfrm>
            <a:off x="4389120" y="1426464"/>
            <a:ext cx="4572000" cy="265176"/>
          </a:xfrm>
          <a:prstGeom prst="rect">
            <a:avLst/>
          </a:prstGeom>
          <a:solidFill>
            <a:srgbClr val="FFFFFF"/>
          </a:solidFill>
          <a:ln/>
        </p:spPr>
      </p:sp>
      <p:sp>
        <p:nvSpPr>
          <p:cNvPr id="19" name="Text 17"/>
          <p:cNvSpPr/>
          <p:nvPr/>
        </p:nvSpPr>
        <p:spPr>
          <a:xfrm>
            <a:off x="4462272" y="1463040"/>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GPS</a:t>
            </a:r>
            <a:endParaRPr lang="en-US" sz="1000" dirty="0"/>
          </a:p>
        </p:txBody>
      </p:sp>
      <p:sp>
        <p:nvSpPr>
          <p:cNvPr id="20" name="Text 18"/>
          <p:cNvSpPr/>
          <p:nvPr/>
        </p:nvSpPr>
        <p:spPr>
          <a:xfrm>
            <a:off x="5541264" y="1463040"/>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u-blox NEO-M9N · 10Hz · 1.5m accuracy</a:t>
            </a:r>
            <a:endParaRPr lang="en-US" sz="1000" dirty="0"/>
          </a:p>
        </p:txBody>
      </p:sp>
      <p:sp>
        <p:nvSpPr>
          <p:cNvPr id="21" name="Shape 19"/>
          <p:cNvSpPr/>
          <p:nvPr/>
        </p:nvSpPr>
        <p:spPr>
          <a:xfrm>
            <a:off x="4389120" y="1709928"/>
            <a:ext cx="4572000" cy="265176"/>
          </a:xfrm>
          <a:prstGeom prst="rect">
            <a:avLst/>
          </a:prstGeom>
          <a:solidFill>
            <a:srgbClr val="F4F7FB"/>
          </a:solidFill>
          <a:ln/>
        </p:spPr>
      </p:sp>
      <p:sp>
        <p:nvSpPr>
          <p:cNvPr id="22" name="Text 20"/>
          <p:cNvSpPr/>
          <p:nvPr/>
        </p:nvSpPr>
        <p:spPr>
          <a:xfrm>
            <a:off x="4462272" y="1746504"/>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BLE</a:t>
            </a:r>
            <a:endParaRPr lang="en-US" sz="1000" dirty="0"/>
          </a:p>
        </p:txBody>
      </p:sp>
      <p:sp>
        <p:nvSpPr>
          <p:cNvPr id="23" name="Text 21"/>
          <p:cNvSpPr/>
          <p:nvPr/>
        </p:nvSpPr>
        <p:spPr>
          <a:xfrm>
            <a:off x="5541264" y="1746504"/>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ESP32 BLE 5.0 · 300m range · offline V2V mesh</a:t>
            </a:r>
            <a:endParaRPr lang="en-US" sz="1000" dirty="0"/>
          </a:p>
        </p:txBody>
      </p:sp>
      <p:sp>
        <p:nvSpPr>
          <p:cNvPr id="24" name="Shape 22"/>
          <p:cNvSpPr/>
          <p:nvPr/>
        </p:nvSpPr>
        <p:spPr>
          <a:xfrm>
            <a:off x="4389120" y="1993392"/>
            <a:ext cx="4572000" cy="265176"/>
          </a:xfrm>
          <a:prstGeom prst="rect">
            <a:avLst/>
          </a:prstGeom>
          <a:solidFill>
            <a:srgbClr val="FFFFFF"/>
          </a:solidFill>
          <a:ln/>
        </p:spPr>
      </p:sp>
      <p:sp>
        <p:nvSpPr>
          <p:cNvPr id="25" name="Text 23"/>
          <p:cNvSpPr/>
          <p:nvPr/>
        </p:nvSpPr>
        <p:spPr>
          <a:xfrm>
            <a:off x="4462272" y="2029968"/>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Storage</a:t>
            </a:r>
            <a:endParaRPr lang="en-US" sz="1000" dirty="0"/>
          </a:p>
        </p:txBody>
      </p:sp>
      <p:sp>
        <p:nvSpPr>
          <p:cNvPr id="26" name="Text 24"/>
          <p:cNvSpPr/>
          <p:nvPr/>
        </p:nvSpPr>
        <p:spPr>
          <a:xfrm>
            <a:off x="5541264" y="2029968"/>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128GB industrial MicroSD (vibration/heat rated)</a:t>
            </a:r>
            <a:endParaRPr lang="en-US" sz="1000" dirty="0"/>
          </a:p>
        </p:txBody>
      </p:sp>
      <p:sp>
        <p:nvSpPr>
          <p:cNvPr id="27" name="Shape 25"/>
          <p:cNvSpPr/>
          <p:nvPr/>
        </p:nvSpPr>
        <p:spPr>
          <a:xfrm>
            <a:off x="4389120" y="2276856"/>
            <a:ext cx="4572000" cy="265176"/>
          </a:xfrm>
          <a:prstGeom prst="rect">
            <a:avLst/>
          </a:prstGeom>
          <a:solidFill>
            <a:srgbClr val="F4F7FB"/>
          </a:solidFill>
          <a:ln/>
        </p:spPr>
      </p:sp>
      <p:sp>
        <p:nvSpPr>
          <p:cNvPr id="28" name="Text 26"/>
          <p:cNvSpPr/>
          <p:nvPr/>
        </p:nvSpPr>
        <p:spPr>
          <a:xfrm>
            <a:off x="4462272" y="2313432"/>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Connectivity</a:t>
            </a:r>
            <a:endParaRPr lang="en-US" sz="1000" dirty="0"/>
          </a:p>
        </p:txBody>
      </p:sp>
      <p:sp>
        <p:nvSpPr>
          <p:cNvPr id="29" name="Text 27"/>
          <p:cNvSpPr/>
          <p:nvPr/>
        </p:nvSpPr>
        <p:spPr>
          <a:xfrm>
            <a:off x="5541264" y="2313432"/>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4G/LTE + WiFi (data sync at depot)</a:t>
            </a:r>
            <a:endParaRPr lang="en-US" sz="1000" dirty="0"/>
          </a:p>
        </p:txBody>
      </p:sp>
      <p:sp>
        <p:nvSpPr>
          <p:cNvPr id="30" name="Shape 28"/>
          <p:cNvSpPr/>
          <p:nvPr/>
        </p:nvSpPr>
        <p:spPr>
          <a:xfrm>
            <a:off x="4389120" y="2560320"/>
            <a:ext cx="4572000" cy="265176"/>
          </a:xfrm>
          <a:prstGeom prst="rect">
            <a:avLst/>
          </a:prstGeom>
          <a:solidFill>
            <a:srgbClr val="FFFFFF"/>
          </a:solidFill>
          <a:ln/>
        </p:spPr>
      </p:sp>
      <p:sp>
        <p:nvSpPr>
          <p:cNvPr id="31" name="Text 29"/>
          <p:cNvSpPr/>
          <p:nvPr/>
        </p:nvSpPr>
        <p:spPr>
          <a:xfrm>
            <a:off x="4462272" y="2596896"/>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Power</a:t>
            </a:r>
            <a:endParaRPr lang="en-US" sz="1000" dirty="0"/>
          </a:p>
        </p:txBody>
      </p:sp>
      <p:sp>
        <p:nvSpPr>
          <p:cNvPr id="32" name="Text 30"/>
          <p:cNvSpPr/>
          <p:nvPr/>
        </p:nvSpPr>
        <p:spPr>
          <a:xfrm>
            <a:off x="5541264" y="2596896"/>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12V truck input → always-on when ignition live</a:t>
            </a:r>
            <a:endParaRPr lang="en-US" sz="1000" dirty="0"/>
          </a:p>
        </p:txBody>
      </p:sp>
      <p:sp>
        <p:nvSpPr>
          <p:cNvPr id="33" name="Shape 31"/>
          <p:cNvSpPr/>
          <p:nvPr/>
        </p:nvSpPr>
        <p:spPr>
          <a:xfrm>
            <a:off x="4389120" y="2843784"/>
            <a:ext cx="4572000" cy="265176"/>
          </a:xfrm>
          <a:prstGeom prst="rect">
            <a:avLst/>
          </a:prstGeom>
          <a:solidFill>
            <a:srgbClr val="F4F7FB"/>
          </a:solidFill>
          <a:ln/>
        </p:spPr>
      </p:sp>
      <p:sp>
        <p:nvSpPr>
          <p:cNvPr id="34" name="Text 32"/>
          <p:cNvSpPr/>
          <p:nvPr/>
        </p:nvSpPr>
        <p:spPr>
          <a:xfrm>
            <a:off x="4462272" y="2880360"/>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Enclosure</a:t>
            </a:r>
            <a:endParaRPr lang="en-US" sz="1000" dirty="0"/>
          </a:p>
        </p:txBody>
      </p:sp>
      <p:sp>
        <p:nvSpPr>
          <p:cNvPr id="35" name="Text 33"/>
          <p:cNvSpPr/>
          <p:nvPr/>
        </p:nvSpPr>
        <p:spPr>
          <a:xfrm>
            <a:off x="5541264" y="2880360"/>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IP67-rated ABS · custom injection mold at 500+</a:t>
            </a:r>
            <a:endParaRPr lang="en-US" sz="1000" dirty="0"/>
          </a:p>
        </p:txBody>
      </p:sp>
      <p:sp>
        <p:nvSpPr>
          <p:cNvPr id="36" name="Shape 34"/>
          <p:cNvSpPr/>
          <p:nvPr/>
        </p:nvSpPr>
        <p:spPr>
          <a:xfrm>
            <a:off x="4389120" y="3127248"/>
            <a:ext cx="4572000" cy="265176"/>
          </a:xfrm>
          <a:prstGeom prst="rect">
            <a:avLst/>
          </a:prstGeom>
          <a:solidFill>
            <a:srgbClr val="FFFFFF"/>
          </a:solidFill>
          <a:ln/>
        </p:spPr>
      </p:sp>
      <p:sp>
        <p:nvSpPr>
          <p:cNvPr id="37" name="Text 35"/>
          <p:cNvSpPr/>
          <p:nvPr/>
        </p:nvSpPr>
        <p:spPr>
          <a:xfrm>
            <a:off x="4462272" y="3163824"/>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Install time</a:t>
            </a:r>
            <a:endParaRPr lang="en-US" sz="1000" dirty="0"/>
          </a:p>
        </p:txBody>
      </p:sp>
      <p:sp>
        <p:nvSpPr>
          <p:cNvPr id="38" name="Text 36"/>
          <p:cNvSpPr/>
          <p:nvPr/>
        </p:nvSpPr>
        <p:spPr>
          <a:xfrm>
            <a:off x="5541264" y="3163824"/>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&lt; 45 minutes per vehicle · no permanent modification</a:t>
            </a:r>
            <a:endParaRPr lang="en-US" sz="1000" dirty="0"/>
          </a:p>
        </p:txBody>
      </p:sp>
      <p:sp>
        <p:nvSpPr>
          <p:cNvPr id="39" name="Shape 37"/>
          <p:cNvSpPr/>
          <p:nvPr/>
        </p:nvSpPr>
        <p:spPr>
          <a:xfrm>
            <a:off x="4389120" y="3410712"/>
            <a:ext cx="4572000" cy="265176"/>
          </a:xfrm>
          <a:prstGeom prst="rect">
            <a:avLst/>
          </a:prstGeom>
          <a:solidFill>
            <a:srgbClr val="F4F7FB"/>
          </a:solidFill>
          <a:ln/>
        </p:spPr>
      </p:sp>
      <p:sp>
        <p:nvSpPr>
          <p:cNvPr id="40" name="Text 38"/>
          <p:cNvSpPr/>
          <p:nvPr/>
        </p:nvSpPr>
        <p:spPr>
          <a:xfrm>
            <a:off x="4462272" y="3447288"/>
            <a:ext cx="1005840" cy="201168"/>
          </a:xfrm>
          <a:prstGeom prst="rect">
            <a:avLst/>
          </a:prstGeom>
          <a:noFill/>
          <a:ln/>
        </p:spPr>
        <p:txBody>
          <a:bodyPr wrap="square" lIns="0" tIns="0" rIns="0" bIns="0" rtlCol="0" anchor="ctr"/>
          <a:lstStyle/>
          <a:p>
            <a:pPr indent="0" marL="0">
              <a:buNone/>
            </a:pPr>
            <a:r>
              <a:rPr lang="en-US" sz="1000" b="1" dirty="0">
                <a:solidFill>
                  <a:srgbClr val="0D2B4E"/>
                </a:solidFill>
                <a:latin typeface="Arial" pitchFamily="34" charset="0"/>
                <a:ea typeface="Arial" pitchFamily="34" charset="-122"/>
                <a:cs typeface="Arial" pitchFamily="34" charset="-120"/>
              </a:rPr>
              <a:t>COGS</a:t>
            </a:r>
            <a:endParaRPr lang="en-US" sz="1000" dirty="0"/>
          </a:p>
        </p:txBody>
      </p:sp>
      <p:sp>
        <p:nvSpPr>
          <p:cNvPr id="41" name="Text 39"/>
          <p:cNvSpPr/>
          <p:nvPr/>
        </p:nvSpPr>
        <p:spPr>
          <a:xfrm>
            <a:off x="5541264" y="3447288"/>
            <a:ext cx="3328416" cy="201168"/>
          </a:xfrm>
          <a:prstGeom prst="rect">
            <a:avLst/>
          </a:prstGeom>
          <a:noFill/>
          <a:ln/>
        </p:spPr>
        <p:txBody>
          <a:bodyPr wrap="square" lIns="0" tIns="0" rIns="0" bIns="0" rtlCol="0" anchor="ctr"/>
          <a:lstStyle/>
          <a:p>
            <a:pPr indent="0" marL="0">
              <a:buNone/>
            </a:pPr>
            <a:r>
              <a:rPr lang="en-US" sz="1000" dirty="0">
                <a:solidFill>
                  <a:srgbClr val="334155"/>
                </a:solidFill>
                <a:latin typeface="Arial" pitchFamily="34" charset="0"/>
                <a:ea typeface="Arial" pitchFamily="34" charset="-122"/>
                <a:cs typeface="Arial" pitchFamily="34" charset="-120"/>
              </a:rPr>
              <a:t>₹7,000 at 500 units → ₹4,500 at 5,000 units</a:t>
            </a:r>
            <a:endParaRPr lang="en-US" sz="1000" dirty="0"/>
          </a:p>
        </p:txBody>
      </p:sp>
      <p:sp>
        <p:nvSpPr>
          <p:cNvPr id="42" name="Text 40"/>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43" name="Text 41"/>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0D2B4E"/>
          </a:solidFill>
          <a:ln/>
        </p:spPr>
      </p:sp>
      <p:sp>
        <p:nvSpPr>
          <p:cNvPr id="3" name="Text 1"/>
          <p:cNvSpPr/>
          <p:nvPr/>
        </p:nvSpPr>
        <p:spPr>
          <a:xfrm>
            <a:off x="274320" y="0"/>
            <a:ext cx="859536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13  —  The Data Moat  (Supporting)</a:t>
            </a:r>
            <a:endParaRPr lang="en-US" sz="1300" dirty="0"/>
          </a:p>
        </p:txBody>
      </p:sp>
      <p:sp>
        <p:nvSpPr>
          <p:cNvPr id="4" name="Text 2"/>
          <p:cNvSpPr/>
          <p:nvPr/>
        </p:nvSpPr>
        <p:spPr>
          <a:xfrm>
            <a:off x="274320" y="457200"/>
            <a:ext cx="8595360" cy="292608"/>
          </a:xfrm>
          <a:prstGeom prst="rect">
            <a:avLst/>
          </a:prstGeom>
          <a:noFill/>
          <a:ln/>
        </p:spPr>
        <p:txBody>
          <a:bodyPr wrap="square" rtlCol="0" anchor="ctr"/>
          <a:lstStyle/>
          <a:p>
            <a:pPr indent="0" marL="0">
              <a:buNone/>
            </a:pPr>
            <a:r>
              <a:rPr lang="en-US" sz="1400" b="1" dirty="0">
                <a:solidFill>
                  <a:srgbClr val="0D2B4E"/>
                </a:solidFill>
                <a:latin typeface="Arial" pitchFamily="34" charset="0"/>
                <a:ea typeface="Arial" pitchFamily="34" charset="-122"/>
                <a:cs typeface="Arial" pitchFamily="34" charset="-120"/>
              </a:rPr>
              <a:t>Why no competitor can catch up — the compounding data advantage</a:t>
            </a:r>
            <a:endParaRPr lang="en-US" sz="1400" dirty="0"/>
          </a:p>
        </p:txBody>
      </p:sp>
      <p:graphicFrame>
        <p:nvGraphicFramePr>
          <p:cNvPr id="5" name="Chart 0" descr=""/>
          <p:cNvGraphicFramePr/>
          <p:nvPr/>
        </p:nvGraphicFramePr>
        <p:xfrm>
          <a:off x="274320" y="859536"/>
          <a:ext cx="548640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89320" y="859536"/>
            <a:ext cx="2926080" cy="694944"/>
          </a:xfrm>
          <a:prstGeom prst="rect">
            <a:avLst/>
          </a:prstGeom>
          <a:solidFill>
            <a:srgbClr val="F4F7FB"/>
          </a:solidFill>
          <a:ln/>
        </p:spPr>
      </p:sp>
      <p:sp>
        <p:nvSpPr>
          <p:cNvPr id="7" name="Shape 4"/>
          <p:cNvSpPr/>
          <p:nvPr/>
        </p:nvSpPr>
        <p:spPr>
          <a:xfrm>
            <a:off x="5989320" y="859536"/>
            <a:ext cx="54864" cy="694944"/>
          </a:xfrm>
          <a:prstGeom prst="rect">
            <a:avLst/>
          </a:prstGeom>
          <a:solidFill>
            <a:srgbClr val="0A6E6E"/>
          </a:solidFill>
          <a:ln/>
        </p:spPr>
      </p:sp>
      <p:sp>
        <p:nvSpPr>
          <p:cNvPr id="8" name="Text 5"/>
          <p:cNvSpPr/>
          <p:nvPr/>
        </p:nvSpPr>
        <p:spPr>
          <a:xfrm>
            <a:off x="6126480" y="914400"/>
            <a:ext cx="2651760" cy="219456"/>
          </a:xfrm>
          <a:prstGeom prst="rect">
            <a:avLst/>
          </a:prstGeom>
          <a:noFill/>
          <a:ln/>
        </p:spPr>
        <p:txBody>
          <a:bodyPr wrap="square" lIns="0" tIns="0" rIns="0" bIns="0" rtlCol="0" anchor="ctr"/>
          <a:lstStyle/>
          <a:p>
            <a:pPr indent="0" marL="0">
              <a:buNone/>
            </a:pPr>
            <a:r>
              <a:rPr lang="en-US" sz="1200" b="1" dirty="0">
                <a:solidFill>
                  <a:srgbClr val="0A6E6E"/>
                </a:solidFill>
                <a:latin typeface="Arial" pitchFamily="34" charset="0"/>
                <a:ea typeface="Arial" pitchFamily="34" charset="-122"/>
                <a:cs typeface="Arial" pitchFamily="34" charset="-120"/>
              </a:rPr>
              <a:t>Month 6</a:t>
            </a:r>
            <a:endParaRPr lang="en-US" sz="1200" dirty="0"/>
          </a:p>
        </p:txBody>
      </p:sp>
      <p:sp>
        <p:nvSpPr>
          <p:cNvPr id="9" name="Text 6"/>
          <p:cNvSpPr/>
          <p:nvPr/>
        </p:nvSpPr>
        <p:spPr>
          <a:xfrm>
            <a:off x="6126480" y="1133856"/>
            <a:ext cx="2651760"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Model outperforms generic ADAS on Indian NH routes. Lab validation complete.</a:t>
            </a:r>
            <a:endParaRPr lang="en-US" sz="950" dirty="0"/>
          </a:p>
        </p:txBody>
      </p:sp>
      <p:sp>
        <p:nvSpPr>
          <p:cNvPr id="10" name="Shape 7"/>
          <p:cNvSpPr/>
          <p:nvPr/>
        </p:nvSpPr>
        <p:spPr>
          <a:xfrm>
            <a:off x="5989320" y="1609344"/>
            <a:ext cx="2926080" cy="694944"/>
          </a:xfrm>
          <a:prstGeom prst="rect">
            <a:avLst/>
          </a:prstGeom>
          <a:solidFill>
            <a:srgbClr val="F4F7FB"/>
          </a:solidFill>
          <a:ln/>
        </p:spPr>
      </p:sp>
      <p:sp>
        <p:nvSpPr>
          <p:cNvPr id="11" name="Shape 8"/>
          <p:cNvSpPr/>
          <p:nvPr/>
        </p:nvSpPr>
        <p:spPr>
          <a:xfrm>
            <a:off x="5989320" y="1609344"/>
            <a:ext cx="54864" cy="694944"/>
          </a:xfrm>
          <a:prstGeom prst="rect">
            <a:avLst/>
          </a:prstGeom>
          <a:solidFill>
            <a:srgbClr val="C94A0A"/>
          </a:solidFill>
          <a:ln/>
        </p:spPr>
      </p:sp>
      <p:sp>
        <p:nvSpPr>
          <p:cNvPr id="12" name="Text 9"/>
          <p:cNvSpPr/>
          <p:nvPr/>
        </p:nvSpPr>
        <p:spPr>
          <a:xfrm>
            <a:off x="6126480" y="1664208"/>
            <a:ext cx="2651760" cy="219456"/>
          </a:xfrm>
          <a:prstGeom prst="rect">
            <a:avLst/>
          </a:prstGeom>
          <a:noFill/>
          <a:ln/>
        </p:spPr>
        <p:txBody>
          <a:bodyPr wrap="square" lIns="0" tIns="0" rIns="0" bIns="0" rtlCol="0" anchor="ctr"/>
          <a:lstStyle/>
          <a:p>
            <a:pPr indent="0" marL="0">
              <a:buNone/>
            </a:pPr>
            <a:r>
              <a:rPr lang="en-US" sz="1200" b="1" dirty="0">
                <a:solidFill>
                  <a:srgbClr val="C94A0A"/>
                </a:solidFill>
                <a:latin typeface="Arial" pitchFamily="34" charset="0"/>
                <a:ea typeface="Arial" pitchFamily="34" charset="-122"/>
                <a:cs typeface="Arial" pitchFamily="34" charset="-120"/>
              </a:rPr>
              <a:t>Month 18</a:t>
            </a:r>
            <a:endParaRPr lang="en-US" sz="1200" dirty="0"/>
          </a:p>
        </p:txBody>
      </p:sp>
      <p:sp>
        <p:nvSpPr>
          <p:cNvPr id="13" name="Text 10"/>
          <p:cNvSpPr/>
          <p:nvPr/>
        </p:nvSpPr>
        <p:spPr>
          <a:xfrm>
            <a:off x="6126480" y="1883664"/>
            <a:ext cx="2651760"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Route-level accident probability by time of day. Insurers begin paying for data access.</a:t>
            </a:r>
            <a:endParaRPr lang="en-US" sz="950" dirty="0"/>
          </a:p>
        </p:txBody>
      </p:sp>
      <p:sp>
        <p:nvSpPr>
          <p:cNvPr id="14" name="Shape 11"/>
          <p:cNvSpPr/>
          <p:nvPr/>
        </p:nvSpPr>
        <p:spPr>
          <a:xfrm>
            <a:off x="5989320" y="2359152"/>
            <a:ext cx="2926080" cy="694944"/>
          </a:xfrm>
          <a:prstGeom prst="rect">
            <a:avLst/>
          </a:prstGeom>
          <a:solidFill>
            <a:srgbClr val="F4F7FB"/>
          </a:solidFill>
          <a:ln/>
        </p:spPr>
      </p:sp>
      <p:sp>
        <p:nvSpPr>
          <p:cNvPr id="15" name="Shape 12"/>
          <p:cNvSpPr/>
          <p:nvPr/>
        </p:nvSpPr>
        <p:spPr>
          <a:xfrm>
            <a:off x="5989320" y="2359152"/>
            <a:ext cx="54864" cy="694944"/>
          </a:xfrm>
          <a:prstGeom prst="rect">
            <a:avLst/>
          </a:prstGeom>
          <a:solidFill>
            <a:srgbClr val="1A5C35"/>
          </a:solidFill>
          <a:ln/>
        </p:spPr>
      </p:sp>
      <p:sp>
        <p:nvSpPr>
          <p:cNvPr id="16" name="Text 13"/>
          <p:cNvSpPr/>
          <p:nvPr/>
        </p:nvSpPr>
        <p:spPr>
          <a:xfrm>
            <a:off x="6126480" y="2414016"/>
            <a:ext cx="2651760" cy="219456"/>
          </a:xfrm>
          <a:prstGeom prst="rect">
            <a:avLst/>
          </a:prstGeom>
          <a:noFill/>
          <a:ln/>
        </p:spPr>
        <p:txBody>
          <a:bodyPr wrap="square" lIns="0" tIns="0" rIns="0" bIns="0" rtlCol="0" anchor="ctr"/>
          <a:lstStyle/>
          <a:p>
            <a:pPr indent="0" marL="0">
              <a:buNone/>
            </a:pPr>
            <a:r>
              <a:rPr lang="en-US" sz="1200" b="1" dirty="0">
                <a:solidFill>
                  <a:srgbClr val="1A5C35"/>
                </a:solidFill>
                <a:latin typeface="Arial" pitchFamily="34" charset="0"/>
                <a:ea typeface="Arial" pitchFamily="34" charset="-122"/>
                <a:cs typeface="Arial" pitchFamily="34" charset="-120"/>
              </a:rPr>
              <a:t>Month 36</a:t>
            </a:r>
            <a:endParaRPr lang="en-US" sz="1200" dirty="0"/>
          </a:p>
        </p:txBody>
      </p:sp>
      <p:sp>
        <p:nvSpPr>
          <p:cNvPr id="17" name="Text 14"/>
          <p:cNvSpPr/>
          <p:nvPr/>
        </p:nvSpPr>
        <p:spPr>
          <a:xfrm>
            <a:off x="6126480" y="2633472"/>
            <a:ext cx="2651760"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National blackspot map complete. OEMs approach for partnership. Data platform revenue starts.</a:t>
            </a:r>
            <a:endParaRPr lang="en-US" sz="950" dirty="0"/>
          </a:p>
        </p:txBody>
      </p:sp>
      <p:sp>
        <p:nvSpPr>
          <p:cNvPr id="18" name="Shape 15"/>
          <p:cNvSpPr/>
          <p:nvPr/>
        </p:nvSpPr>
        <p:spPr>
          <a:xfrm>
            <a:off x="5989320" y="3108960"/>
            <a:ext cx="2926080" cy="694944"/>
          </a:xfrm>
          <a:prstGeom prst="rect">
            <a:avLst/>
          </a:prstGeom>
          <a:solidFill>
            <a:srgbClr val="F4F7FB"/>
          </a:solidFill>
          <a:ln/>
        </p:spPr>
      </p:sp>
      <p:sp>
        <p:nvSpPr>
          <p:cNvPr id="19" name="Shape 16"/>
          <p:cNvSpPr/>
          <p:nvPr/>
        </p:nvSpPr>
        <p:spPr>
          <a:xfrm>
            <a:off x="5989320" y="3108960"/>
            <a:ext cx="54864" cy="694944"/>
          </a:xfrm>
          <a:prstGeom prst="rect">
            <a:avLst/>
          </a:prstGeom>
          <a:solidFill>
            <a:srgbClr val="0D2B4E"/>
          </a:solidFill>
          <a:ln/>
        </p:spPr>
      </p:sp>
      <p:sp>
        <p:nvSpPr>
          <p:cNvPr id="20" name="Text 17"/>
          <p:cNvSpPr/>
          <p:nvPr/>
        </p:nvSpPr>
        <p:spPr>
          <a:xfrm>
            <a:off x="6126480" y="3163824"/>
            <a:ext cx="2651760" cy="219456"/>
          </a:xfrm>
          <a:prstGeom prst="rect">
            <a:avLst/>
          </a:prstGeom>
          <a:noFill/>
          <a:ln/>
        </p:spPr>
        <p:txBody>
          <a:bodyPr wrap="square" lIns="0" tIns="0" rIns="0" bIns="0" rtlCol="0" anchor="ctr"/>
          <a:lstStyle/>
          <a:p>
            <a:pPr indent="0" marL="0">
              <a:buNone/>
            </a:pPr>
            <a:r>
              <a:rPr lang="en-US" sz="1200" b="1" dirty="0">
                <a:solidFill>
                  <a:srgbClr val="0D2B4E"/>
                </a:solidFill>
                <a:latin typeface="Arial" pitchFamily="34" charset="0"/>
                <a:ea typeface="Arial" pitchFamily="34" charset="-122"/>
                <a:cs typeface="Arial" pitchFamily="34" charset="-120"/>
              </a:rPr>
              <a:t>The Moat</a:t>
            </a:r>
            <a:endParaRPr lang="en-US" sz="1200" dirty="0"/>
          </a:p>
        </p:txBody>
      </p:sp>
      <p:sp>
        <p:nvSpPr>
          <p:cNvPr id="21" name="Text 18"/>
          <p:cNvSpPr/>
          <p:nvPr/>
        </p:nvSpPr>
        <p:spPr>
          <a:xfrm>
            <a:off x="6126480" y="3383280"/>
            <a:ext cx="2651760" cy="365760"/>
          </a:xfrm>
          <a:prstGeom prst="rect">
            <a:avLst/>
          </a:prstGeom>
          <a:noFill/>
          <a:ln/>
        </p:spPr>
        <p:txBody>
          <a:bodyPr wrap="square" lIns="0" tIns="0" rIns="0" bIns="0" rtlCol="0" anchor="ctr"/>
          <a:lstStyle/>
          <a:p>
            <a:pPr indent="0" marL="0">
              <a:buNone/>
            </a:pPr>
            <a:r>
              <a:rPr lang="en-US" sz="950" dirty="0">
                <a:solidFill>
                  <a:srgbClr val="334155"/>
                </a:solidFill>
                <a:latin typeface="Arial" pitchFamily="34" charset="0"/>
                <a:ea typeface="Arial" pitchFamily="34" charset="-122"/>
                <a:cs typeface="Arial" pitchFamily="34" charset="-120"/>
              </a:rPr>
              <a:t>A competitor starting today faces a 3-year data deficit — which takes another 3 years to close. Garuda is permanently 6 years ahead.</a:t>
            </a:r>
            <a:endParaRPr lang="en-US" sz="950" dirty="0"/>
          </a:p>
        </p:txBody>
      </p:sp>
      <p:sp>
        <p:nvSpPr>
          <p:cNvPr id="22" name="Shape 19"/>
          <p:cNvSpPr/>
          <p:nvPr/>
        </p:nvSpPr>
        <p:spPr>
          <a:xfrm>
            <a:off x="274320" y="3895344"/>
            <a:ext cx="8595360" cy="566928"/>
          </a:xfrm>
          <a:prstGeom prst="rect">
            <a:avLst/>
          </a:prstGeom>
          <a:solidFill>
            <a:srgbClr val="EAF0F8"/>
          </a:solidFill>
          <a:ln/>
        </p:spPr>
      </p:sp>
      <p:sp>
        <p:nvSpPr>
          <p:cNvPr id="23" name="Shape 20"/>
          <p:cNvSpPr/>
          <p:nvPr/>
        </p:nvSpPr>
        <p:spPr>
          <a:xfrm>
            <a:off x="274320" y="3895344"/>
            <a:ext cx="54864" cy="566928"/>
          </a:xfrm>
          <a:prstGeom prst="rect">
            <a:avLst/>
          </a:prstGeom>
          <a:solidFill>
            <a:srgbClr val="0D2B4E"/>
          </a:solidFill>
          <a:ln/>
        </p:spPr>
      </p:sp>
      <p:sp>
        <p:nvSpPr>
          <p:cNvPr id="24" name="Text 21"/>
          <p:cNvSpPr/>
          <p:nvPr/>
        </p:nvSpPr>
        <p:spPr>
          <a:xfrm>
            <a:off x="402336" y="3986784"/>
            <a:ext cx="8412480" cy="256032"/>
          </a:xfrm>
          <a:prstGeom prst="rect">
            <a:avLst/>
          </a:prstGeom>
          <a:noFill/>
          <a:ln/>
        </p:spPr>
        <p:txBody>
          <a:bodyPr wrap="square" lIns="0" tIns="0" rIns="0" bIns="0" rtlCol="0" anchor="ctr"/>
          <a:lstStyle/>
          <a:p>
            <a:pPr indent="0" marL="0">
              <a:buNone/>
            </a:pPr>
            <a:r>
              <a:rPr lang="en-US" sz="1200" b="1" dirty="0">
                <a:solidFill>
                  <a:srgbClr val="0D2B4E"/>
                </a:solidFill>
                <a:latin typeface="Arial" pitchFamily="34" charset="0"/>
                <a:ea typeface="Arial" pitchFamily="34" charset="-122"/>
                <a:cs typeface="Arial" pitchFamily="34" charset="-120"/>
              </a:rPr>
              <a:t>The Investment Thesis in One Sentence</a:t>
            </a:r>
            <a:endParaRPr lang="en-US" sz="1200" dirty="0"/>
          </a:p>
        </p:txBody>
      </p:sp>
      <p:sp>
        <p:nvSpPr>
          <p:cNvPr id="25" name="Text 22"/>
          <p:cNvSpPr/>
          <p:nvPr/>
        </p:nvSpPr>
        <p:spPr>
          <a:xfrm>
            <a:off x="402336" y="4242816"/>
            <a:ext cx="8412480" cy="128016"/>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Garuda is building the most comprehensive Indian road intelligence dataset in existence. The hardware deploys it, the SaaS monetizes it, and the data makes it permanently defensible. Every km driven widens the moat.</a:t>
            </a:r>
            <a:endParaRPr lang="en-US" sz="1100" dirty="0"/>
          </a:p>
        </p:txBody>
      </p:sp>
      <p:sp>
        <p:nvSpPr>
          <p:cNvPr id="26" name="Text 23"/>
          <p:cNvSpPr/>
          <p:nvPr/>
        </p:nvSpPr>
        <p:spPr>
          <a:xfrm>
            <a:off x="274320" y="4846320"/>
            <a:ext cx="6858000" cy="22860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PROJECT GARUDA  —  The AI Friend Every Driver Deserves</a:t>
            </a:r>
            <a:endParaRPr lang="en-US" sz="900" dirty="0"/>
          </a:p>
        </p:txBody>
      </p:sp>
      <p:sp>
        <p:nvSpPr>
          <p:cNvPr id="27" name="Text 24"/>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B4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4A0A"/>
          </a:solidFill>
          <a:ln/>
        </p:spPr>
      </p:sp>
      <p:sp>
        <p:nvSpPr>
          <p:cNvPr id="3" name="Shape 1"/>
          <p:cNvSpPr/>
          <p:nvPr/>
        </p:nvSpPr>
        <p:spPr>
          <a:xfrm>
            <a:off x="0" y="5084064"/>
            <a:ext cx="9144000" cy="59436"/>
          </a:xfrm>
          <a:prstGeom prst="rect">
            <a:avLst/>
          </a:prstGeom>
          <a:solidFill>
            <a:srgbClr val="C94A0A"/>
          </a:solidFill>
          <a:ln/>
        </p:spPr>
      </p:sp>
      <p:sp>
        <p:nvSpPr>
          <p:cNvPr id="4" name="Text 2"/>
          <p:cNvSpPr/>
          <p:nvPr/>
        </p:nvSpPr>
        <p:spPr>
          <a:xfrm>
            <a:off x="457200" y="822960"/>
            <a:ext cx="8229600" cy="82296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Garuda is not a safety system.</a:t>
            </a:r>
            <a:endParaRPr lang="en-US" sz="3600" dirty="0"/>
          </a:p>
        </p:txBody>
      </p:sp>
      <p:sp>
        <p:nvSpPr>
          <p:cNvPr id="5" name="Text 3"/>
          <p:cNvSpPr/>
          <p:nvPr/>
        </p:nvSpPr>
        <p:spPr>
          <a:xfrm>
            <a:off x="457200" y="1572768"/>
            <a:ext cx="8229600" cy="658368"/>
          </a:xfrm>
          <a:prstGeom prst="rect">
            <a:avLst/>
          </a:prstGeom>
          <a:noFill/>
          <a:ln/>
        </p:spPr>
        <p:txBody>
          <a:bodyPr wrap="square" rtlCol="0" anchor="ctr"/>
          <a:lstStyle/>
          <a:p>
            <a:pPr algn="ctr" indent="0" marL="0">
              <a:buNone/>
            </a:pPr>
            <a:r>
              <a:rPr lang="en-US" sz="3000" i="1" dirty="0">
                <a:solidFill>
                  <a:srgbClr val="C94A0A"/>
                </a:solidFill>
                <a:latin typeface="Arial" pitchFamily="34" charset="0"/>
                <a:ea typeface="Arial" pitchFamily="34" charset="-122"/>
                <a:cs typeface="Arial" pitchFamily="34" charset="-120"/>
              </a:rPr>
              <a:t>It is the AI friend every driver deserves.</a:t>
            </a:r>
            <a:endParaRPr lang="en-US" sz="3000" dirty="0"/>
          </a:p>
        </p:txBody>
      </p:sp>
      <p:sp>
        <p:nvSpPr>
          <p:cNvPr id="6" name="Shape 4"/>
          <p:cNvSpPr/>
          <p:nvPr/>
        </p:nvSpPr>
        <p:spPr>
          <a:xfrm>
            <a:off x="3200400" y="2340864"/>
            <a:ext cx="2743200" cy="36576"/>
          </a:xfrm>
          <a:prstGeom prst="rect">
            <a:avLst/>
          </a:prstGeom>
          <a:solidFill>
            <a:srgbClr val="3A5A7E"/>
          </a:solidFill>
          <a:ln/>
        </p:spPr>
      </p:sp>
      <p:sp>
        <p:nvSpPr>
          <p:cNvPr id="7" name="Text 5"/>
          <p:cNvSpPr/>
          <p:nvPr/>
        </p:nvSpPr>
        <p:spPr>
          <a:xfrm>
            <a:off x="457200" y="2468880"/>
            <a:ext cx="8229600" cy="420624"/>
          </a:xfrm>
          <a:prstGeom prst="rect">
            <a:avLst/>
          </a:prstGeom>
          <a:noFill/>
          <a:ln/>
        </p:spPr>
        <p:txBody>
          <a:bodyPr wrap="square" rtlCol="0" anchor="ctr"/>
          <a:lstStyle/>
          <a:p>
            <a:pPr algn="ctr" indent="0" marL="0">
              <a:buNone/>
            </a:pPr>
            <a:r>
              <a:rPr lang="en-US" sz="1600" i="1" dirty="0">
                <a:solidFill>
                  <a:srgbClr val="C8D8EC"/>
                </a:solidFill>
                <a:latin typeface="Arial" pitchFamily="34" charset="0"/>
                <a:ea typeface="Arial" pitchFamily="34" charset="-122"/>
                <a:cs typeface="Arial" pitchFamily="34" charset="-120"/>
              </a:rPr>
              <a:t>One device. Every truck. Every highway. Every night.</a:t>
            </a:r>
            <a:endParaRPr lang="en-US" sz="1600" dirty="0"/>
          </a:p>
        </p:txBody>
      </p:sp>
      <p:sp>
        <p:nvSpPr>
          <p:cNvPr id="8" name="Shape 6"/>
          <p:cNvSpPr/>
          <p:nvPr/>
        </p:nvSpPr>
        <p:spPr>
          <a:xfrm>
            <a:off x="365760" y="3017520"/>
            <a:ext cx="1920240" cy="896112"/>
          </a:xfrm>
          <a:prstGeom prst="rect">
            <a:avLst>
              <a:gd name="adj" fmla="val 8163"/>
            </a:avLst>
          </a:prstGeom>
          <a:solidFill>
            <a:srgbClr val="1A3C6E"/>
          </a:solidFill>
          <a:ln/>
        </p:spPr>
      </p:sp>
      <p:sp>
        <p:nvSpPr>
          <p:cNvPr id="9" name="Text 7"/>
          <p:cNvSpPr/>
          <p:nvPr/>
        </p:nvSpPr>
        <p:spPr>
          <a:xfrm>
            <a:off x="438912" y="3072384"/>
            <a:ext cx="1773936" cy="457200"/>
          </a:xfrm>
          <a:prstGeom prst="rect">
            <a:avLst/>
          </a:prstGeom>
          <a:noFill/>
          <a:ln/>
        </p:spPr>
        <p:txBody>
          <a:bodyPr wrap="square" lIns="0" tIns="0" rIns="0" bIns="0" rtlCol="0" anchor="b"/>
          <a:lstStyle/>
          <a:p>
            <a:pPr algn="ctr" indent="0" marL="0">
              <a:buNone/>
            </a:pPr>
            <a:r>
              <a:rPr lang="en-US" sz="2200" b="1" dirty="0">
                <a:solidFill>
                  <a:srgbClr val="FFFFFF"/>
                </a:solidFill>
                <a:latin typeface="Arial" pitchFamily="34" charset="0"/>
                <a:ea typeface="Arial" pitchFamily="34" charset="-122"/>
                <a:cs typeface="Arial" pitchFamily="34" charset="-120"/>
              </a:rPr>
              <a:t>1.70 Lakh</a:t>
            </a:r>
            <a:endParaRPr lang="en-US" sz="2200" dirty="0"/>
          </a:p>
        </p:txBody>
      </p:sp>
      <p:sp>
        <p:nvSpPr>
          <p:cNvPr id="10" name="Text 8"/>
          <p:cNvSpPr/>
          <p:nvPr/>
        </p:nvSpPr>
        <p:spPr>
          <a:xfrm>
            <a:off x="438912" y="3529584"/>
            <a:ext cx="1773936" cy="310896"/>
          </a:xfrm>
          <a:prstGeom prst="rect">
            <a:avLst/>
          </a:prstGeom>
          <a:noFill/>
          <a:ln/>
        </p:spPr>
        <p:txBody>
          <a:bodyPr wrap="square" lIns="0" tIns="0" rIns="0" bIns="0" rtlCol="0" anchor="ctr"/>
          <a:lstStyle/>
          <a:p>
            <a:pPr algn="ctr" indent="0" marL="0">
              <a:buNone/>
            </a:pPr>
            <a:r>
              <a:rPr lang="en-US" sz="900" dirty="0">
                <a:solidFill>
                  <a:srgbClr val="7A9BBF"/>
                </a:solidFill>
                <a:latin typeface="Arial" pitchFamily="34" charset="0"/>
                <a:ea typeface="Arial" pitchFamily="34" charset="-122"/>
                <a:cs typeface="Arial" pitchFamily="34" charset="-120"/>
              </a:rPr>
              <a:t>deaths every year</a:t>
            </a:r>
            <a:endParaRPr lang="en-US" sz="900" dirty="0"/>
          </a:p>
        </p:txBody>
      </p:sp>
      <p:sp>
        <p:nvSpPr>
          <p:cNvPr id="11" name="Shape 9"/>
          <p:cNvSpPr/>
          <p:nvPr/>
        </p:nvSpPr>
        <p:spPr>
          <a:xfrm>
            <a:off x="2468880" y="3017520"/>
            <a:ext cx="1920240" cy="896112"/>
          </a:xfrm>
          <a:prstGeom prst="rect">
            <a:avLst>
              <a:gd name="adj" fmla="val 8163"/>
            </a:avLst>
          </a:prstGeom>
          <a:solidFill>
            <a:srgbClr val="1A3C6E"/>
          </a:solidFill>
          <a:ln/>
        </p:spPr>
      </p:sp>
      <p:sp>
        <p:nvSpPr>
          <p:cNvPr id="12" name="Text 10"/>
          <p:cNvSpPr/>
          <p:nvPr/>
        </p:nvSpPr>
        <p:spPr>
          <a:xfrm>
            <a:off x="2542032" y="3072384"/>
            <a:ext cx="1773936" cy="457200"/>
          </a:xfrm>
          <a:prstGeom prst="rect">
            <a:avLst/>
          </a:prstGeom>
          <a:noFill/>
          <a:ln/>
        </p:spPr>
        <p:txBody>
          <a:bodyPr wrap="square" lIns="0" tIns="0" rIns="0" bIns="0" rtlCol="0" anchor="b"/>
          <a:lstStyle/>
          <a:p>
            <a:pPr algn="ctr" indent="0" marL="0">
              <a:buNone/>
            </a:pPr>
            <a:r>
              <a:rPr lang="en-US" sz="2200" b="1" dirty="0">
                <a:solidFill>
                  <a:srgbClr val="FFFFFF"/>
                </a:solidFill>
                <a:latin typeface="Arial" pitchFamily="34" charset="0"/>
                <a:ea typeface="Arial" pitchFamily="34" charset="-122"/>
                <a:cs typeface="Arial" pitchFamily="34" charset="-120"/>
              </a:rPr>
              <a:t>₹6 Crore</a:t>
            </a:r>
            <a:endParaRPr lang="en-US" sz="2200" dirty="0"/>
          </a:p>
        </p:txBody>
      </p:sp>
      <p:sp>
        <p:nvSpPr>
          <p:cNvPr id="13" name="Text 11"/>
          <p:cNvSpPr/>
          <p:nvPr/>
        </p:nvSpPr>
        <p:spPr>
          <a:xfrm>
            <a:off x="2542032" y="3529584"/>
            <a:ext cx="1773936" cy="310896"/>
          </a:xfrm>
          <a:prstGeom prst="rect">
            <a:avLst/>
          </a:prstGeom>
          <a:noFill/>
          <a:ln/>
        </p:spPr>
        <p:txBody>
          <a:bodyPr wrap="square" lIns="0" tIns="0" rIns="0" bIns="0" rtlCol="0" anchor="ctr"/>
          <a:lstStyle/>
          <a:p>
            <a:pPr algn="ctr" indent="0" marL="0">
              <a:buNone/>
            </a:pPr>
            <a:r>
              <a:rPr lang="en-US" sz="900" dirty="0">
                <a:solidFill>
                  <a:srgbClr val="7A9BBF"/>
                </a:solidFill>
                <a:latin typeface="Arial" pitchFamily="34" charset="0"/>
                <a:ea typeface="Arial" pitchFamily="34" charset="-122"/>
                <a:cs typeface="Arial" pitchFamily="34" charset="-120"/>
              </a:rPr>
              <a:t>seed ask</a:t>
            </a:r>
            <a:endParaRPr lang="en-US" sz="900" dirty="0"/>
          </a:p>
        </p:txBody>
      </p:sp>
      <p:sp>
        <p:nvSpPr>
          <p:cNvPr id="14" name="Shape 12"/>
          <p:cNvSpPr/>
          <p:nvPr/>
        </p:nvSpPr>
        <p:spPr>
          <a:xfrm>
            <a:off x="4572000" y="3017520"/>
            <a:ext cx="1920240" cy="896112"/>
          </a:xfrm>
          <a:prstGeom prst="rect">
            <a:avLst>
              <a:gd name="adj" fmla="val 8163"/>
            </a:avLst>
          </a:prstGeom>
          <a:solidFill>
            <a:srgbClr val="1A3C6E"/>
          </a:solidFill>
          <a:ln/>
        </p:spPr>
      </p:sp>
      <p:sp>
        <p:nvSpPr>
          <p:cNvPr id="15" name="Text 13"/>
          <p:cNvSpPr/>
          <p:nvPr/>
        </p:nvSpPr>
        <p:spPr>
          <a:xfrm>
            <a:off x="4645152" y="3072384"/>
            <a:ext cx="1773936" cy="457200"/>
          </a:xfrm>
          <a:prstGeom prst="rect">
            <a:avLst/>
          </a:prstGeom>
          <a:noFill/>
          <a:ln/>
        </p:spPr>
        <p:txBody>
          <a:bodyPr wrap="square" lIns="0" tIns="0" rIns="0" bIns="0" rtlCol="0" anchor="b"/>
          <a:lstStyle/>
          <a:p>
            <a:pPr algn="ctr" indent="0" marL="0">
              <a:buNone/>
            </a:pPr>
            <a:r>
              <a:rPr lang="en-US" sz="2200" b="1" dirty="0">
                <a:solidFill>
                  <a:srgbClr val="FFFFFF"/>
                </a:solidFill>
                <a:latin typeface="Arial" pitchFamily="34" charset="0"/>
                <a:ea typeface="Arial" pitchFamily="34" charset="-122"/>
                <a:cs typeface="Arial" pitchFamily="34" charset="-120"/>
              </a:rPr>
              <a:t>Oct 2026</a:t>
            </a:r>
            <a:endParaRPr lang="en-US" sz="2200" dirty="0"/>
          </a:p>
        </p:txBody>
      </p:sp>
      <p:sp>
        <p:nvSpPr>
          <p:cNvPr id="16" name="Text 14"/>
          <p:cNvSpPr/>
          <p:nvPr/>
        </p:nvSpPr>
        <p:spPr>
          <a:xfrm>
            <a:off x="4645152" y="3529584"/>
            <a:ext cx="1773936" cy="310896"/>
          </a:xfrm>
          <a:prstGeom prst="rect">
            <a:avLst/>
          </a:prstGeom>
          <a:noFill/>
          <a:ln/>
        </p:spPr>
        <p:txBody>
          <a:bodyPr wrap="square" lIns="0" tIns="0" rIns="0" bIns="0" rtlCol="0" anchor="ctr"/>
          <a:lstStyle/>
          <a:p>
            <a:pPr algn="ctr" indent="0" marL="0">
              <a:buNone/>
            </a:pPr>
            <a:r>
              <a:rPr lang="en-US" sz="900" dirty="0">
                <a:solidFill>
                  <a:srgbClr val="7A9BBF"/>
                </a:solidFill>
                <a:latin typeface="Arial" pitchFamily="34" charset="0"/>
                <a:ea typeface="Arial" pitchFamily="34" charset="-122"/>
                <a:cs typeface="Arial" pitchFamily="34" charset="-120"/>
              </a:rPr>
              <a:t>govt mandate</a:t>
            </a:r>
            <a:endParaRPr lang="en-US" sz="900" dirty="0"/>
          </a:p>
        </p:txBody>
      </p:sp>
      <p:sp>
        <p:nvSpPr>
          <p:cNvPr id="17" name="Shape 15"/>
          <p:cNvSpPr/>
          <p:nvPr/>
        </p:nvSpPr>
        <p:spPr>
          <a:xfrm>
            <a:off x="6675120" y="3017520"/>
            <a:ext cx="1920240" cy="896112"/>
          </a:xfrm>
          <a:prstGeom prst="rect">
            <a:avLst>
              <a:gd name="adj" fmla="val 8163"/>
            </a:avLst>
          </a:prstGeom>
          <a:solidFill>
            <a:srgbClr val="1A3C6E"/>
          </a:solidFill>
          <a:ln/>
        </p:spPr>
      </p:sp>
      <p:sp>
        <p:nvSpPr>
          <p:cNvPr id="18" name="Text 16"/>
          <p:cNvSpPr/>
          <p:nvPr/>
        </p:nvSpPr>
        <p:spPr>
          <a:xfrm>
            <a:off x="6748272" y="3072384"/>
            <a:ext cx="1773936" cy="457200"/>
          </a:xfrm>
          <a:prstGeom prst="rect">
            <a:avLst/>
          </a:prstGeom>
          <a:noFill/>
          <a:ln/>
        </p:spPr>
        <p:txBody>
          <a:bodyPr wrap="square" lIns="0" tIns="0" rIns="0" bIns="0" rtlCol="0" anchor="b"/>
          <a:lstStyle/>
          <a:p>
            <a:pPr algn="ctr" indent="0" marL="0">
              <a:buNone/>
            </a:pPr>
            <a:r>
              <a:rPr lang="en-US" sz="2200" b="1" dirty="0">
                <a:solidFill>
                  <a:srgbClr val="FFFFFF"/>
                </a:solidFill>
                <a:latin typeface="Arial" pitchFamily="34" charset="0"/>
                <a:ea typeface="Arial" pitchFamily="34" charset="-122"/>
                <a:cs typeface="Arial" pitchFamily="34" charset="-120"/>
              </a:rPr>
              <a:t>40x</a:t>
            </a:r>
            <a:endParaRPr lang="en-US" sz="2200" dirty="0"/>
          </a:p>
        </p:txBody>
      </p:sp>
      <p:sp>
        <p:nvSpPr>
          <p:cNvPr id="19" name="Text 17"/>
          <p:cNvSpPr/>
          <p:nvPr/>
        </p:nvSpPr>
        <p:spPr>
          <a:xfrm>
            <a:off x="6748272" y="3529584"/>
            <a:ext cx="1773936" cy="310896"/>
          </a:xfrm>
          <a:prstGeom prst="rect">
            <a:avLst/>
          </a:prstGeom>
          <a:noFill/>
          <a:ln/>
        </p:spPr>
        <p:txBody>
          <a:bodyPr wrap="square" lIns="0" tIns="0" rIns="0" bIns="0" rtlCol="0" anchor="ctr"/>
          <a:lstStyle/>
          <a:p>
            <a:pPr algn="ctr" indent="0" marL="0">
              <a:buNone/>
            </a:pPr>
            <a:r>
              <a:rPr lang="en-US" sz="900" dirty="0">
                <a:solidFill>
                  <a:srgbClr val="7A9BBF"/>
                </a:solidFill>
                <a:latin typeface="Arial" pitchFamily="34" charset="0"/>
                <a:ea typeface="Arial" pitchFamily="34" charset="-122"/>
                <a:cs typeface="Arial" pitchFamily="34" charset="-120"/>
              </a:rPr>
              <a:t>LTV:CAC ratio</a:t>
            </a:r>
            <a:endParaRPr lang="en-US" sz="900" dirty="0"/>
          </a:p>
        </p:txBody>
      </p:sp>
      <p:sp>
        <p:nvSpPr>
          <p:cNvPr id="20" name="Text 18"/>
          <p:cNvSpPr/>
          <p:nvPr/>
        </p:nvSpPr>
        <p:spPr>
          <a:xfrm>
            <a:off x="457200" y="4059936"/>
            <a:ext cx="914400" cy="256032"/>
          </a:xfrm>
          <a:prstGeom prst="rect">
            <a:avLst/>
          </a:prstGeom>
          <a:noFill/>
          <a:ln/>
        </p:spPr>
        <p:txBody>
          <a:bodyPr wrap="square" lIns="0" tIns="0" rIns="0" bIns="0" rtlCol="0" anchor="ctr"/>
          <a:lstStyle/>
          <a:p>
            <a:pPr indent="0" marL="0">
              <a:buNone/>
            </a:pPr>
            <a:r>
              <a:rPr lang="en-US" sz="1100" b="1" dirty="0">
                <a:solidFill>
                  <a:srgbClr val="7A9BBF"/>
                </a:solidFill>
                <a:latin typeface="Arial" pitchFamily="34" charset="0"/>
                <a:ea typeface="Arial" pitchFamily="34" charset="-122"/>
                <a:cs typeface="Arial" pitchFamily="34" charset="-120"/>
              </a:rPr>
              <a:t>Contact:</a:t>
            </a:r>
            <a:endParaRPr lang="en-US" sz="1100" dirty="0"/>
          </a:p>
        </p:txBody>
      </p:sp>
      <p:sp>
        <p:nvSpPr>
          <p:cNvPr id="21" name="Text 19"/>
          <p:cNvSpPr/>
          <p:nvPr/>
        </p:nvSpPr>
        <p:spPr>
          <a:xfrm>
            <a:off x="1417320" y="4059936"/>
            <a:ext cx="7315200" cy="256032"/>
          </a:xfrm>
          <a:prstGeom prst="rect">
            <a:avLst/>
          </a:prstGeom>
          <a:noFill/>
          <a:ln/>
        </p:spPr>
        <p:txBody>
          <a:bodyPr wrap="square" lIns="0" tIns="0" rIns="0" bIns="0" rtlCol="0" anchor="ctr"/>
          <a:lstStyle/>
          <a:p>
            <a:pPr indent="0" marL="0">
              <a:buNone/>
            </a:pPr>
            <a:r>
              <a:rPr lang="en-US" sz="1100" dirty="0">
                <a:solidFill>
                  <a:srgbClr val="A8C4E8"/>
                </a:solidFill>
                <a:latin typeface="Arial" pitchFamily="34" charset="0"/>
                <a:ea typeface="Arial" pitchFamily="34" charset="-122"/>
                <a:cs typeface="Arial" pitchFamily="34" charset="-120"/>
              </a:rPr>
              <a:t>[FOUNDER EMAIL]  ·  [PHONE]  ·  [WEBSITE]</a:t>
            </a:r>
            <a:endParaRPr lang="en-US" sz="1100" dirty="0"/>
          </a:p>
        </p:txBody>
      </p:sp>
      <p:sp>
        <p:nvSpPr>
          <p:cNvPr id="22" name="Text 20"/>
          <p:cNvSpPr/>
          <p:nvPr/>
        </p:nvSpPr>
        <p:spPr>
          <a:xfrm>
            <a:off x="457200" y="4407408"/>
            <a:ext cx="8229600" cy="237744"/>
          </a:xfrm>
          <a:prstGeom prst="rect">
            <a:avLst/>
          </a:prstGeom>
          <a:noFill/>
          <a:ln/>
        </p:spPr>
        <p:txBody>
          <a:bodyPr wrap="square" rtlCol="0" anchor="ctr"/>
          <a:lstStyle/>
          <a:p>
            <a:pPr algn="ctr" indent="0" marL="0">
              <a:buNone/>
            </a:pPr>
            <a:r>
              <a:rPr lang="en-US" sz="900" i="1" dirty="0">
                <a:solidFill>
                  <a:srgbClr val="3A5A7E"/>
                </a:solidFill>
                <a:latin typeface="Arial" pitchFamily="34" charset="0"/>
                <a:ea typeface="Arial" pitchFamily="34" charset="-122"/>
                <a:cs typeface="Arial" pitchFamily="34" charset="-120"/>
              </a:rPr>
              <a:t>Presented to IIMA Ventures — Aerospace &amp; Defence Acceleration Fund  ·  2025</a:t>
            </a:r>
            <a:endParaRPr lang="en-US" sz="900" dirty="0"/>
          </a:p>
        </p:txBody>
      </p:sp>
      <p:sp>
        <p:nvSpPr>
          <p:cNvPr id="23" name="Text 21"/>
          <p:cNvSpPr/>
          <p:nvPr/>
        </p:nvSpPr>
        <p:spPr>
          <a:xfrm>
            <a:off x="8595360" y="4846320"/>
            <a:ext cx="457200" cy="2286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Garuda — IIMA Ventures Pitch Deck</dc:title>
  <dc:subject>AI-Powered Intelligent Co-Driver System</dc:subject>
  <dc:creator>Project Garuda</dc:creator>
  <cp:lastModifiedBy>Project Garuda</cp:lastModifiedBy>
  <cp:revision>1</cp:revision>
  <dcterms:created xsi:type="dcterms:W3CDTF">2026-03-22T13:05:42Z</dcterms:created>
  <dcterms:modified xsi:type="dcterms:W3CDTF">2026-03-22T13:05:42Z</dcterms:modified>
</cp:coreProperties>
</file>