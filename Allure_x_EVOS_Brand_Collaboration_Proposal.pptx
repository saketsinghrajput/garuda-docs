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0"/>
            <a:ext cx="1371600" cy="10972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5603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COLLABORATION PROPOSAL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68580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EVOS Buildcon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320040" y="141732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× Allure Interiors</a:t>
            </a:r>
            <a:endParaRPr lang="en-US" sz="4600" dirty="0"/>
          </a:p>
        </p:txBody>
      </p:sp>
      <p:sp>
        <p:nvSpPr>
          <p:cNvPr id="7" name="Shape 5"/>
          <p:cNvSpPr/>
          <p:nvPr/>
        </p:nvSpPr>
        <p:spPr>
          <a:xfrm>
            <a:off x="320040" y="2286000"/>
            <a:ext cx="5029200" cy="228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24231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₹4,000 Cr to ₹8,000 Cr — The Interior Partnership That Doubles Your Value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20040" y="39319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₹4,000 Cr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20040" y="437083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EVOS Current GDV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560320" y="39319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18M+ Sq.Ft.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560320" y="437083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Under Development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800600" y="39319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5,000 Flats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800600" y="437083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by 2027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7040880" y="39319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550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7040880" y="437083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In-house Interior Arm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4928616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·  MARCH 2026  ·  PREPARED BY ALLURE INTERIORS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STRATEGIC CASE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EVOS builds the structure. Allure completes the home.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70432"/>
            <a:ext cx="8412480" cy="228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280160"/>
            <a:ext cx="8412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EVOS Buildcon has built Odisha's most aspirational real estate brand — 17 years, 10M+ sq.ft. under development, and a ₹1,000 Cr net worth target by 2027. One structural gap remains: no in-house interior design capability. Every buyer walks away after possession and figures out interiors alone. This is the gap Allure fills.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65760" y="2240280"/>
            <a:ext cx="2011680" cy="2606040"/>
          </a:xfrm>
          <a:prstGeom prst="rect">
            <a:avLst/>
          </a:prstGeom>
          <a:solidFill>
            <a:srgbClr val="1C1C1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2240280"/>
            <a:ext cx="201168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2340864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75488" y="2788920"/>
            <a:ext cx="1792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Customer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5488" y="3154680"/>
            <a:ext cx="179222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EVOS's HNI buyers in Bhubaneswar are exactly Allure's target interior clients — age 30–55, premium budget, design-conscious.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450592" y="2240280"/>
            <a:ext cx="2011680" cy="2606040"/>
          </a:xfrm>
          <a:prstGeom prst="rect">
            <a:avLst/>
          </a:prstGeom>
          <a:solidFill>
            <a:srgbClr val="1C1C1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50592" y="2240280"/>
            <a:ext cx="201168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0" y="2340864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560320" y="2788920"/>
            <a:ext cx="1792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Gap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560320" y="3154680"/>
            <a:ext cx="179222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EVOS has no interior arm. This is not a preference — it's a permanent capability hole that Allure fills permanently.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35424" y="2240280"/>
            <a:ext cx="2011680" cy="2606040"/>
          </a:xfrm>
          <a:prstGeom prst="rect">
            <a:avLst/>
          </a:prstGeom>
          <a:solidFill>
            <a:srgbClr val="1C1C1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35424" y="2240280"/>
            <a:ext cx="201168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45152" y="2340864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645152" y="2788920"/>
            <a:ext cx="1792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Timing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645152" y="3154680"/>
            <a:ext cx="179222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18M+ sq.ft. in pipeline means years of guaranteed lead flow if partnership is formalised now, before competitors notice.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620256" y="2240280"/>
            <a:ext cx="2011680" cy="2606040"/>
          </a:xfrm>
          <a:prstGeom prst="rect">
            <a:avLst/>
          </a:prstGeom>
          <a:solidFill>
            <a:srgbClr val="1C1C1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620256" y="2240280"/>
            <a:ext cx="201168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29984" y="2340864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729984" y="2788920"/>
            <a:ext cx="1792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Value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729984" y="3154680"/>
            <a:ext cx="179222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EVOS gets a premium differentiator. Allure gets pre-qualified HNI clients at zero acquisition cost. Win-win-win.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82880" y="4928616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ALLURE INTERIORS × EVOS BUILDCON  ·  BRAND COLLABORATION PROPOSAL  ·  CONFIDENTIAL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ALLURE INTERIORS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India's curated AI-powered interior design ecosystem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78992"/>
            <a:ext cx="8412480" cy="228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20700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365760" y="1481328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Allure Interiors is a curated digital ecosystem solving the interior design market's trust deficit. We use AI-driven matchmaking to connect premium clients with an exclusive network of verified designers, and immersive AR/VR to bridge vision and reality — managing the entire process from discovery to execution.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65760" y="2670048"/>
            <a:ext cx="54864" cy="4572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2670048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Matchmaking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30352" y="2889504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Proprietary algorithm matches clients to verified designers by budget, style, and timeline.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5760" y="3218688"/>
            <a:ext cx="54864" cy="4572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3218688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Designer Network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30352" y="3438144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Invite-only. 500+ curated designers vetted for quality, experience, and portfolio.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5760" y="3767328"/>
            <a:ext cx="54864" cy="4572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" y="3767328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AR/VR Visualization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30352" y="3986784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see their home in 3D before a single rupee is spent on execution.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4315968"/>
            <a:ext cx="54864" cy="4572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" y="4315968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Execution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30352" y="4535424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local execution partners implement every design with centralized quality control.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029200" y="1207008"/>
            <a:ext cx="3749040" cy="804672"/>
          </a:xfrm>
          <a:prstGeom prst="rect">
            <a:avLst/>
          </a:prstGeom>
          <a:solidFill>
            <a:srgbClr val="1C1C1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66360" y="1280160"/>
            <a:ext cx="1280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500+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6492240" y="1344168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Designers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(Target Network)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29200" y="2103120"/>
            <a:ext cx="3749040" cy="804672"/>
          </a:xfrm>
          <a:prstGeom prst="rect">
            <a:avLst/>
          </a:prstGeom>
          <a:solidFill>
            <a:srgbClr val="1C1C1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66360" y="2176272"/>
            <a:ext cx="1280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5–15%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6492240" y="224028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Commission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Project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029200" y="2999232"/>
            <a:ext cx="3749040" cy="804672"/>
          </a:xfrm>
          <a:prstGeom prst="rect">
            <a:avLst/>
          </a:prstGeom>
          <a:solidFill>
            <a:srgbClr val="1C1C1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66360" y="3072384"/>
            <a:ext cx="1280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₹5L–₹40L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6492240" y="3136392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Client Interior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029200" y="3895344"/>
            <a:ext cx="3749040" cy="804672"/>
          </a:xfrm>
          <a:prstGeom prst="rect">
            <a:avLst/>
          </a:prstGeom>
          <a:solidFill>
            <a:srgbClr val="1C1C1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66360" y="3968496"/>
            <a:ext cx="1280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4:1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6492240" y="4032504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: International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Designer Ratio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029200" y="4700016"/>
            <a:ext cx="3749040" cy="16459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20640" y="4718304"/>
            <a:ext cx="35661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Revenue: SaaS subscriptions + 5–15% project commissions + AR/VR upsells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82880" y="4928616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ALLURE INTERIORS × EVOS BUILDCON  ·  BRAND COLLABORATION PROPOSAL  ·  CONFIDENTIAL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INTERIOR GAP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happens to your buyers after possession day?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78992"/>
            <a:ext cx="8412480" cy="228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280160"/>
            <a:ext cx="2048256" cy="2377440"/>
          </a:xfrm>
          <a:prstGeom prst="rect">
            <a:avLst/>
          </a:prstGeom>
          <a:solidFill>
            <a:srgbClr val="1C1C1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3898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75488" y="1847088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EVOS delivers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flat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75488" y="2359152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receives keys to a bare shell. The LOVEMARK promise ends at possession day.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14016" y="2423160"/>
            <a:ext cx="438912" cy="228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487168" y="1280160"/>
            <a:ext cx="2048256" cy="2377440"/>
          </a:xfrm>
          <a:prstGeom prst="rect">
            <a:avLst/>
          </a:prstGeom>
          <a:solidFill>
            <a:srgbClr val="1C1C1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96896" y="13898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596896" y="1847088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searches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designers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596896" y="2359152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 unorganised market. 70% overspend. Projects drag 3–6 months. Trust broken.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35424" y="2423160"/>
            <a:ext cx="438912" cy="228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08576" y="1280160"/>
            <a:ext cx="2048256" cy="2377440"/>
          </a:xfrm>
          <a:prstGeom prst="rect">
            <a:avLst/>
          </a:prstGeom>
          <a:solidFill>
            <a:srgbClr val="1C1C1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18304" y="13898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718304" y="1847088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overruns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delays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718304" y="2359152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costs rise 45% above quotes. Poor planning, cultural mismatches, Vastu errors.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656832" y="2423160"/>
            <a:ext cx="438912" cy="228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729984" y="1280160"/>
            <a:ext cx="2048256" cy="2377440"/>
          </a:xfrm>
          <a:prstGeom prst="rect">
            <a:avLst/>
          </a:prstGeom>
          <a:solidFill>
            <a:srgbClr val="5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39712" y="13898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550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839712" y="1847088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reviews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839712" y="2359152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who suffers post-possession blames the builder. Every 1-star review hurts EVOS.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3840480"/>
            <a:ext cx="2048256" cy="914400"/>
          </a:xfrm>
          <a:prstGeom prst="rect">
            <a:avLst/>
          </a:prstGeom>
          <a:solidFill>
            <a:srgbClr val="2A2A2A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886200"/>
            <a:ext cx="18653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90%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457200" y="4315968"/>
            <a:ext cx="1865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Interior market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unorganised in India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487168" y="3840480"/>
            <a:ext cx="2048256" cy="914400"/>
          </a:xfrm>
          <a:prstGeom prst="rect">
            <a:avLst/>
          </a:prstGeom>
          <a:solidFill>
            <a:srgbClr val="2A2A2A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578608" y="3886200"/>
            <a:ext cx="18653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70%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2578608" y="4315968"/>
            <a:ext cx="1865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Homeowners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overspend on interiors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608576" y="3840480"/>
            <a:ext cx="2048256" cy="914400"/>
          </a:xfrm>
          <a:prstGeom prst="rect">
            <a:avLst/>
          </a:prstGeom>
          <a:solidFill>
            <a:srgbClr val="2A2A2A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00016" y="3886200"/>
            <a:ext cx="18653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45%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4700016" y="4315968"/>
            <a:ext cx="1865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cost overrun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initial quotes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729984" y="3840480"/>
            <a:ext cx="2048256" cy="914400"/>
          </a:xfrm>
          <a:prstGeom prst="rect">
            <a:avLst/>
          </a:prstGeom>
          <a:solidFill>
            <a:srgbClr val="2A2A2A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21424" y="3886200"/>
            <a:ext cx="18653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3–6 Mo</a:t>
            </a:r>
            <a:endParaRPr lang="en-US" sz="2400" dirty="0"/>
          </a:p>
        </p:txBody>
      </p:sp>
      <p:sp>
        <p:nvSpPr>
          <p:cNvPr id="35" name="Text 33"/>
          <p:cNvSpPr/>
          <p:nvPr/>
        </p:nvSpPr>
        <p:spPr>
          <a:xfrm>
            <a:off x="6821424" y="4315968"/>
            <a:ext cx="1865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project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 time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82880" y="4928616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ALLURE INTERIORS × EVOS BUILDCON  ·  BRAND COLLABORATION PROPOSAL  ·  CONFIDENTIAL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Allure Interiors becomes EVOS's official Preferred Interior Partner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115568"/>
            <a:ext cx="8412480" cy="228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234440"/>
            <a:ext cx="4206240" cy="1719072"/>
          </a:xfrm>
          <a:prstGeom prst="rect">
            <a:avLst/>
          </a:prstGeom>
          <a:solidFill>
            <a:srgbClr val="1C1C1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234440"/>
            <a:ext cx="420624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" y="1325880"/>
            <a:ext cx="3950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  —  RECOMMENDED FIRST MOVE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493776" y="1527048"/>
            <a:ext cx="3950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Preferred Interior Partner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93776" y="1810512"/>
            <a:ext cx="395020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EVOS officially recommends Allure to all homebuyers at possession. Allure sets up a branded studio inside the EVOS sales gallery. Buyers pay Allure directly. EVOS earns 1–2% referral commission — passive revenue, zero execution risk.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5760" y="2715768"/>
            <a:ext cx="4206240" cy="237744"/>
          </a:xfrm>
          <a:prstGeom prst="rect">
            <a:avLst/>
          </a:prstGeom>
          <a:solidFill>
            <a:srgbClr val="2A2A2A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" y="2743200"/>
            <a:ext cx="39502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4B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friction  ·  Immediate cash flow  ·  Permanent positioning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754880" y="1234440"/>
            <a:ext cx="4206240" cy="1719072"/>
          </a:xfrm>
          <a:prstGeom prst="rect">
            <a:avLst/>
          </a:prstGeom>
          <a:solidFill>
            <a:srgbClr val="1C1C1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54880" y="1234440"/>
            <a:ext cx="420624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82896" y="1325880"/>
            <a:ext cx="3950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B  —  BOOKING-STAGE REVENUE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4882896" y="1527048"/>
            <a:ext cx="3950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Co-Branded Packages "Allure × EVOS Edition"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882896" y="1810512"/>
            <a:ext cx="395020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 / Gold / Platinum interior tiers offered at booking — before possession. EVOS sales team upsells the package. Drives buyer conversion speed, locks in decisions, and differentiates EVOS from every competitor in Odisha.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754880" y="2715768"/>
            <a:ext cx="4206240" cy="237744"/>
          </a:xfrm>
          <a:prstGeom prst="rect">
            <a:avLst/>
          </a:prstGeom>
          <a:solidFill>
            <a:srgbClr val="2A2A2A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82896" y="2743200"/>
            <a:ext cx="39502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4B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Pre-possession  ·  Booking add-on  ·  Competitive differentiator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760" y="3063240"/>
            <a:ext cx="4206240" cy="1719072"/>
          </a:xfrm>
          <a:prstGeom prst="rect">
            <a:avLst/>
          </a:prstGeom>
          <a:solidFill>
            <a:srgbClr val="1C1C1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3063240"/>
            <a:ext cx="420624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" y="3154680"/>
            <a:ext cx="3950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  —  SHOWCASE INVESTMENT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493776" y="3355848"/>
            <a:ext cx="3950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Flat at Evos Alchemy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93776" y="3639312"/>
            <a:ext cx="395020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Allure designs and executes the model flat for EVOS Alchemy. Every site visitor experiences Allure's quality — becoming a qualified interior client at zero effort for EVOS. Physical proof of the LOVEMARK promise.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65760" y="4544568"/>
            <a:ext cx="4206240" cy="237744"/>
          </a:xfrm>
          <a:prstGeom prst="rect">
            <a:avLst/>
          </a:prstGeom>
          <a:solidFill>
            <a:srgbClr val="2A2A2A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3776" y="4572000"/>
            <a:ext cx="39502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4B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Flagship visibility  ·  Proof of concept  ·  Lead generation engine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754880" y="3063240"/>
            <a:ext cx="4206240" cy="1719072"/>
          </a:xfrm>
          <a:prstGeom prst="rect">
            <a:avLst/>
          </a:prstGeom>
          <a:solidFill>
            <a:srgbClr val="1C1C1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54880" y="3063240"/>
            <a:ext cx="420624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82896" y="3154680"/>
            <a:ext cx="3950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  —  LONG-TERM INSTITUTIONAL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4882896" y="3355848"/>
            <a:ext cx="3950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&amp; Hospitality Interiors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4882896" y="3639312"/>
            <a:ext cx="395020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EVOS enters commercial, educational, and hospitality sectors, Allure becomes the default interior partner for lobbies, clubhouses, and amenity zones — higher ticket, repeatable, and locked in before any competitor approaches.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754880" y="4544568"/>
            <a:ext cx="4206240" cy="237744"/>
          </a:xfrm>
          <a:prstGeom prst="rect">
            <a:avLst/>
          </a:prstGeom>
          <a:solidFill>
            <a:srgbClr val="2A2A2A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82896" y="4572000"/>
            <a:ext cx="39502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4B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B2B  ·  High ticket  ·  First-mover lock-in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82880" y="4928616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ALLURE INTERIORS × EVOS BUILDCON  ·  BRAND COLLABORATION PROPOSAL  ·  CONFIDENTIAL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CO-BRANDED PACKAGES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"Allure × EVOS Edition" — Interior tiers offered at booking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78992"/>
            <a:ext cx="8412480" cy="228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207008"/>
            <a:ext cx="2743200" cy="3584448"/>
          </a:xfrm>
          <a:prstGeom prst="rect">
            <a:avLst/>
          </a:prstGeom>
          <a:solidFill>
            <a:srgbClr val="1C1C1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207008"/>
            <a:ext cx="2743200" cy="640080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26187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75488" y="1572768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₹5 Lakh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93776" y="1920240"/>
            <a:ext cx="64008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188366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interior layout &amp; space planning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93776" y="2249424"/>
            <a:ext cx="64008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" y="22128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premium material palette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93776" y="2578608"/>
            <a:ext cx="64008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" y="25420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kitchen design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93776" y="2907792"/>
            <a:ext cx="64008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" y="287121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Wardrobe &amp; storage solutions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93776" y="3236976"/>
            <a:ext cx="64008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" y="32004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lighting plan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93776" y="3566160"/>
            <a:ext cx="64008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" y="352958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coordination to handover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46120" y="1207008"/>
            <a:ext cx="2743200" cy="3584448"/>
          </a:xfrm>
          <a:prstGeom prst="rect">
            <a:avLst/>
          </a:prstGeom>
          <a:solidFill>
            <a:srgbClr val="1A160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46120" y="1207008"/>
            <a:ext cx="2743200" cy="6400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55848" y="126187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355848" y="1572768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0F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₹10 Lakh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374136" y="1920240"/>
            <a:ext cx="64008" cy="64008"/>
          </a:xfrm>
          <a:prstGeom prst="rect">
            <a:avLst/>
          </a:prstGeom>
          <a:solidFill>
            <a:srgbClr val="0F0F0F"/>
          </a:solidFill>
          <a:ln w="12700">
            <a:solidFill>
              <a:srgbClr val="0F0F0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02152" y="188366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Silver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374136" y="2249424"/>
            <a:ext cx="64008" cy="64008"/>
          </a:xfrm>
          <a:prstGeom prst="rect">
            <a:avLst/>
          </a:prstGeom>
          <a:solidFill>
            <a:srgbClr val="0F0F0F"/>
          </a:solidFill>
          <a:ln w="12700">
            <a:solidFill>
              <a:srgbClr val="0F0F0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502152" y="22128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imported tiles &amp; veneer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374136" y="2578608"/>
            <a:ext cx="64008" cy="64008"/>
          </a:xfrm>
          <a:prstGeom prst="rect">
            <a:avLst/>
          </a:prstGeom>
          <a:solidFill>
            <a:srgbClr val="0F0F0F"/>
          </a:solidFill>
          <a:ln w="12700">
            <a:solidFill>
              <a:srgbClr val="0F0F0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502152" y="25420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furniture design &amp; procurement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374136" y="2907792"/>
            <a:ext cx="64008" cy="64008"/>
          </a:xfrm>
          <a:prstGeom prst="rect">
            <a:avLst/>
          </a:prstGeom>
          <a:solidFill>
            <a:srgbClr val="0F0F0F"/>
          </a:solidFill>
          <a:ln w="12700">
            <a:solidFill>
              <a:srgbClr val="0F0F0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502152" y="287121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ceiling with cove lighting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374136" y="3236976"/>
            <a:ext cx="64008" cy="64008"/>
          </a:xfrm>
          <a:prstGeom prst="rect">
            <a:avLst/>
          </a:prstGeom>
          <a:solidFill>
            <a:srgbClr val="0F0F0F"/>
          </a:solidFill>
          <a:ln w="12700">
            <a:solidFill>
              <a:srgbClr val="0F0F0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502152" y="32004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home basics (switches, AC control)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374136" y="3566160"/>
            <a:ext cx="64008" cy="64008"/>
          </a:xfrm>
          <a:prstGeom prst="rect">
            <a:avLst/>
          </a:prstGeom>
          <a:solidFill>
            <a:srgbClr val="0F0F0F"/>
          </a:solidFill>
          <a:ln w="12700">
            <a:solidFill>
              <a:srgbClr val="0F0F0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502152" y="352958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designer assigned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374136" y="3895344"/>
            <a:ext cx="64008" cy="64008"/>
          </a:xfrm>
          <a:prstGeom prst="rect">
            <a:avLst/>
          </a:prstGeom>
          <a:solidFill>
            <a:srgbClr val="0F0F0F"/>
          </a:solidFill>
          <a:ln w="12700">
            <a:solidFill>
              <a:srgbClr val="0F0F0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02152" y="38587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renders before execution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246120" y="4553712"/>
            <a:ext cx="2743200" cy="23774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246120" y="457200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POPULAR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126480" y="1207008"/>
            <a:ext cx="2743200" cy="3584448"/>
          </a:xfrm>
          <a:prstGeom prst="rect">
            <a:avLst/>
          </a:prstGeom>
          <a:solidFill>
            <a:srgbClr val="1C1C1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126480" y="1207008"/>
            <a:ext cx="2743200" cy="640080"/>
          </a:xfrm>
          <a:prstGeom prst="rect">
            <a:avLst/>
          </a:prstGeom>
          <a:solidFill>
            <a:srgbClr val="2A2200"/>
          </a:solidFill>
          <a:ln w="12700">
            <a:solidFill>
              <a:srgbClr val="2A220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236208" y="126187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DD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PLATINUM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6236208" y="1572768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₹20 Lakh+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6254496" y="1920240"/>
            <a:ext cx="64008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382512" y="188366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Gold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254496" y="2249424"/>
            <a:ext cx="64008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382512" y="22128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Ultra-luxury materials (marble, European hardware)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254496" y="2578608"/>
            <a:ext cx="64008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382512" y="25420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home automation (Alexa / Google)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254496" y="2907792"/>
            <a:ext cx="64008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382512" y="287121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 &amp; décor curation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6254496" y="3236976"/>
            <a:ext cx="64008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382512" y="32004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 designer oversight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6254496" y="3566160"/>
            <a:ext cx="64008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382512" y="352958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visits &amp; progress reporting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6254496" y="3895344"/>
            <a:ext cx="64008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382512" y="38587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Post-handover snag management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365760" y="4718304"/>
            <a:ext cx="8412480" cy="164592"/>
          </a:xfrm>
          <a:prstGeom prst="rect">
            <a:avLst/>
          </a:prstGeom>
          <a:solidFill>
            <a:srgbClr val="2A2A2A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57200" y="4736592"/>
            <a:ext cx="8321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4B8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EVOS earns 1–2% referral on each package  ·  Gold @ ₹10L = ₹10K–₹20K per flat  ·  100 flats = ₹10L–₹20L passive income for EVOS  ·  Zero execution risk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82880" y="4928616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ALLURE INTERIORS × EVOS BUILDCON  ·  BRAND COLLABORATION PROPOSAL  ·  CONFIDENTIAL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CREATION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this partnership moves EVOS from ₹4,000 Cr to ₹8,000 Cr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78992"/>
            <a:ext cx="8412480" cy="228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23444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VALUE DOUBLING THESIS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365760" y="1572768"/>
            <a:ext cx="5029200" cy="475488"/>
          </a:xfrm>
          <a:prstGeom prst="rect">
            <a:avLst/>
          </a:prstGeom>
          <a:solidFill>
            <a:srgbClr val="1C1C1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609344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Price Premium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993392" y="1572768"/>
            <a:ext cx="22860" cy="475488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03120" y="1609344"/>
            <a:ext cx="31821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Interior-ready homes command 10–20% premium vs bare-shell competitors. At ₹1.5 Cr avg, 1,000 units × 15% = ₹225 Cr incremental GDV.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5760" y="2103120"/>
            <a:ext cx="5029200" cy="475488"/>
          </a:xfrm>
          <a:prstGeom prst="rect">
            <a:avLst/>
          </a:prstGeom>
          <a:solidFill>
            <a:srgbClr val="2A2A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139696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Conversion Speed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993392" y="2103120"/>
            <a:ext cx="22860" cy="475488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03120" y="2139696"/>
            <a:ext cx="31821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Buyers with a furnished model flat decide 40% faster. Faster sales = lower holding costs, higher IRR.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2633472"/>
            <a:ext cx="5029200" cy="475488"/>
          </a:xfrm>
          <a:prstGeom prst="rect">
            <a:avLst/>
          </a:prstGeom>
          <a:solidFill>
            <a:srgbClr val="1C1C1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670048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Post-Possession NPS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993392" y="2633472"/>
            <a:ext cx="22860" cy="475488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103120" y="2670048"/>
            <a:ext cx="31821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 interior experience drives 5-star reviews, referrals, and repeat buyers — protecting EVOS's 4.9/5 JustDial rating.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65760" y="3163824"/>
            <a:ext cx="5029200" cy="475488"/>
          </a:xfrm>
          <a:prstGeom prst="rect">
            <a:avLst/>
          </a:prstGeom>
          <a:solidFill>
            <a:srgbClr val="2A2A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200400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Passive Revenue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993392" y="3163824"/>
            <a:ext cx="22860" cy="475488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103120" y="3200400"/>
            <a:ext cx="31821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Gold tier ₹10L, 500 buyers = ₹500 Cr interior project flow generating referral income with zero capital deployed.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65760" y="3694176"/>
            <a:ext cx="5029200" cy="475488"/>
          </a:xfrm>
          <a:prstGeom prst="rect">
            <a:avLst/>
          </a:prstGeom>
          <a:solidFill>
            <a:srgbClr val="1C1C1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3730752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Readiness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993392" y="3694176"/>
            <a:ext cx="22860" cy="475488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103120" y="3730752"/>
            <a:ext cx="31821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Allure delivers institutional-grade interiors for lobbies, clubhouses, offices — unlocking EVOS's commercial/hospitality pipeline.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65760" y="4224528"/>
            <a:ext cx="5029200" cy="475488"/>
          </a:xfrm>
          <a:prstGeom prst="rect">
            <a:avLst/>
          </a:prstGeom>
          <a:solidFill>
            <a:srgbClr val="2A2A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4261104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Story Complete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1993392" y="4224528"/>
            <a:ext cx="22860" cy="475488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103120" y="4261104"/>
            <a:ext cx="31821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LOVEMARK promise is only fulfilled when the interior matches the architecture. Allure completes that story.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669280" y="12344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5669280" y="1572768"/>
            <a:ext cx="3108960" cy="731520"/>
          </a:xfrm>
          <a:prstGeom prst="rect">
            <a:avLst/>
          </a:prstGeom>
          <a:solidFill>
            <a:srgbClr val="1C1C1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779008" y="1627632"/>
            <a:ext cx="2889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₹225 Cr+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5779008" y="1993392"/>
            <a:ext cx="2889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GDV from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premium alone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669280" y="2377440"/>
            <a:ext cx="3108960" cy="731520"/>
          </a:xfrm>
          <a:prstGeom prst="rect">
            <a:avLst/>
          </a:prstGeom>
          <a:solidFill>
            <a:srgbClr val="1C1C1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779008" y="2432304"/>
            <a:ext cx="2889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500 flats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5779008" y="2798064"/>
            <a:ext cx="2889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Interior projects in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24-month pipeline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669280" y="3182112"/>
            <a:ext cx="3108960" cy="731520"/>
          </a:xfrm>
          <a:prstGeom prst="rect">
            <a:avLst/>
          </a:prstGeom>
          <a:solidFill>
            <a:srgbClr val="1C1C1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779008" y="3236976"/>
            <a:ext cx="2889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₹500 Cr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5779008" y="3602736"/>
            <a:ext cx="2889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interior flow if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 buyers convert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669280" y="3986784"/>
            <a:ext cx="3108960" cy="731520"/>
          </a:xfrm>
          <a:prstGeom prst="rect">
            <a:avLst/>
          </a:prstGeom>
          <a:solidFill>
            <a:srgbClr val="1C1C1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779008" y="4041648"/>
            <a:ext cx="2889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₹10–20L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5779008" y="4407408"/>
            <a:ext cx="2889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Passive referral income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100 flats for EVOS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82880" y="4928616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ALLURE INTERIORS × EVOS BUILDCON  ·  BRAND COLLABORATION PROPOSAL  ·  CONFIDENTIAL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FRAMEWORK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don't ask for trust. We offer the process to earn it.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78992"/>
            <a:ext cx="8412480" cy="228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1887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rigorous verification framework Allure applies to its designer and execution partner network is now extended to EVOS — so you evaluate us exactly as you would any premium partner before committing.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65760" y="1901952"/>
            <a:ext cx="5120640" cy="640080"/>
          </a:xfrm>
          <a:prstGeom prst="rect">
            <a:avLst/>
          </a:prstGeom>
          <a:solidFill>
            <a:srgbClr val="1C1C1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901952"/>
            <a:ext cx="822960" cy="640080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956816"/>
            <a:ext cx="7863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298448" y="1947672"/>
            <a:ext cx="4078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Visit to Completed Allure Projects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298448" y="2176272"/>
            <a:ext cx="40782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EVOS leadership visits completed interior projects delivered by Allure — evaluating quality, finish, Vastu compliance, and material standards firsthand.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65760" y="2615184"/>
            <a:ext cx="5120640" cy="640080"/>
          </a:xfrm>
          <a:prstGeom prst="rect">
            <a:avLst/>
          </a:prstGeom>
          <a:solidFill>
            <a:srgbClr val="1C1C1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2615184"/>
            <a:ext cx="822960" cy="640080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2670048"/>
            <a:ext cx="7863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298448" y="2660904"/>
            <a:ext cx="4078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Reference Calls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298448" y="2889504"/>
            <a:ext cx="40782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conversations with 3–5 HNI clients who completed projects through Allure — hearing from the exact buyer profile EVOS serves.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3328416"/>
            <a:ext cx="5120640" cy="640080"/>
          </a:xfrm>
          <a:prstGeom prst="rect">
            <a:avLst/>
          </a:prstGeom>
          <a:solidFill>
            <a:srgbClr val="1C1C1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3328416"/>
            <a:ext cx="822960" cy="640080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" y="3383280"/>
            <a:ext cx="7863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298448" y="3374136"/>
            <a:ext cx="4078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&amp; Process Review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298448" y="3602736"/>
            <a:ext cx="40782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review of Allure's project portfolio, designer verification methodology, AR/VR visualization demos, and execution coordination system.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65760" y="4041648"/>
            <a:ext cx="5120640" cy="640080"/>
          </a:xfrm>
          <a:prstGeom prst="rect">
            <a:avLst/>
          </a:prstGeom>
          <a:solidFill>
            <a:srgbClr val="1C1C1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4041648"/>
            <a:ext cx="822960" cy="640080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4048" y="4096512"/>
            <a:ext cx="7863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1298448" y="4087368"/>
            <a:ext cx="4078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Model Flat at Alchemy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298448" y="4315968"/>
            <a:ext cx="40782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Allure executes one model flat at Evos Alchemy — EVOS evaluates the output in their own flagship project before any formal commitment.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669280" y="123444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ALLURE VERIFIES IN EVOS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669280" y="1572768"/>
            <a:ext cx="3200400" cy="585216"/>
          </a:xfrm>
          <a:prstGeom prst="rect">
            <a:avLst/>
          </a:prstGeom>
          <a:solidFill>
            <a:srgbClr val="1C1C1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669280" y="1572768"/>
            <a:ext cx="64008" cy="58521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15584" y="1627632"/>
            <a:ext cx="2944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17+ year track record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815584" y="1865376"/>
            <a:ext cx="2944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6.3L sq.ft. delivered — verified.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669280" y="2231136"/>
            <a:ext cx="3200400" cy="585216"/>
          </a:xfrm>
          <a:prstGeom prst="rect">
            <a:avLst/>
          </a:prstGeom>
          <a:solidFill>
            <a:srgbClr val="1C1C1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669280" y="2231136"/>
            <a:ext cx="64008" cy="58521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815584" y="2286000"/>
            <a:ext cx="2944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L&amp;T-grade execution DNA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815584" y="2523744"/>
            <a:ext cx="2944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 Projects from L&amp;T — blue-chip.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669280" y="2889504"/>
            <a:ext cx="3200400" cy="585216"/>
          </a:xfrm>
          <a:prstGeom prst="rect">
            <a:avLst/>
          </a:prstGeom>
          <a:solidFill>
            <a:srgbClr val="1C1C1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669280" y="2889504"/>
            <a:ext cx="64008" cy="58521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815584" y="2944368"/>
            <a:ext cx="2944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9001 + RERA compliant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5815584" y="3182112"/>
            <a:ext cx="2944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credibility confirmed.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669280" y="3547872"/>
            <a:ext cx="3200400" cy="585216"/>
          </a:xfrm>
          <a:prstGeom prst="rect">
            <a:avLst/>
          </a:prstGeom>
          <a:solidFill>
            <a:srgbClr val="1C1C1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669280" y="3547872"/>
            <a:ext cx="64008" cy="58521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815584" y="3602736"/>
            <a:ext cx="2944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LOVEMARK brand alignment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5815584" y="3840480"/>
            <a:ext cx="2944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positioning matches Allure standards.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5669280" y="4206240"/>
            <a:ext cx="3200400" cy="585216"/>
          </a:xfrm>
          <a:prstGeom prst="rect">
            <a:avLst/>
          </a:prstGeom>
          <a:solidFill>
            <a:srgbClr val="1C1C1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669280" y="4206240"/>
            <a:ext cx="64008" cy="58521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815584" y="4261104"/>
            <a:ext cx="2944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HNI buyer profile match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5815584" y="4498848"/>
            <a:ext cx="2944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 target customer confirmed.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82880" y="4928616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ALLURE INTERIORS × EVOS BUILDCON  ·  BRAND COLLABORATION PROPOSAL  ·  CONFIDENTIAL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 STRUCTURE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Clear, fair, low-risk for EVOS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78992"/>
            <a:ext cx="8412480" cy="228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261872"/>
            <a:ext cx="4206240" cy="1005840"/>
          </a:xfrm>
          <a:prstGeom prst="rect">
            <a:avLst/>
          </a:prstGeom>
          <a:solidFill>
            <a:srgbClr val="1C1C1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261872"/>
            <a:ext cx="420624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35331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Preferred Interior Partner Status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645920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Allure is EVOS's officially recommended interior design partner — referenced in all buyer documentation, site offices, and possession kits.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5760" y="2377440"/>
            <a:ext cx="4206240" cy="1005840"/>
          </a:xfrm>
          <a:prstGeom prst="rect">
            <a:avLst/>
          </a:prstGeom>
          <a:solidFill>
            <a:srgbClr val="1C1C1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2377440"/>
            <a:ext cx="420624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4688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Referral Commission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2761488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1–2% of each completed interior project value — paid by Allure to EVOS on project completion. Buyer pays Allure directly. EVOS carries zero financial risk.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3493008"/>
            <a:ext cx="4206240" cy="1005840"/>
          </a:xfrm>
          <a:prstGeom prst="rect">
            <a:avLst/>
          </a:prstGeom>
          <a:solidFill>
            <a:srgbClr val="1C1C1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3493008"/>
            <a:ext cx="420624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58444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Design Studio at Sales Gallery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" y="3877056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Allure sets up a branded design consultation studio at the EVOS Alchemy sales gallery — available to all prospective and existing buyers during site visits.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754880" y="1261872"/>
            <a:ext cx="4114800" cy="1005840"/>
          </a:xfrm>
          <a:prstGeom prst="rect">
            <a:avLst/>
          </a:prstGeom>
          <a:solidFill>
            <a:srgbClr val="1C1C1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54880" y="1261872"/>
            <a:ext cx="41148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13533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First Right of Refusal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92040" y="1645920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Allure receives first consideration for all commercial, hospitality, and amenity zone interior projects as EVOS diversifies its portfolio.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754880" y="2377440"/>
            <a:ext cx="4114800" cy="1005840"/>
          </a:xfrm>
          <a:prstGeom prst="rect">
            <a:avLst/>
          </a:prstGeom>
          <a:solidFill>
            <a:srgbClr val="1C1C1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54880" y="2377440"/>
            <a:ext cx="41148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92040" y="2468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Model Flat Pilot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92040" y="2761488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Allure executes one model flat at Evos Alchemy before the partnership scales — subject to EVOS's quality evaluation and approval.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754880" y="3493008"/>
            <a:ext cx="4114800" cy="1005840"/>
          </a:xfrm>
          <a:prstGeom prst="rect">
            <a:avLst/>
          </a:prstGeom>
          <a:solidFill>
            <a:srgbClr val="1C1C1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54880" y="3493008"/>
            <a:ext cx="41148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92040" y="358444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Term &amp; Exclusivity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92040" y="3877056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term: 24 months renewable. Geographic exclusivity: Bhubaneswar and Puri projects. Annual KPI review.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82880" y="4928616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ALLURE INTERIORS × EVOS BUILDCON  ·  BRAND COLLABORATION PROPOSAL  ·  CONFIDENTIAL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PLAN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proposal to preferred partner — 90 days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78992"/>
            <a:ext cx="8412480" cy="228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234440"/>
            <a:ext cx="2048256" cy="3429000"/>
          </a:xfrm>
          <a:prstGeom prst="rect">
            <a:avLst/>
          </a:prstGeom>
          <a:solidFill>
            <a:srgbClr val="1C1C1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234440"/>
            <a:ext cx="2048256" cy="5303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61872"/>
            <a:ext cx="18653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490472"/>
            <a:ext cx="18653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0F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Week 1–2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57200" y="1828800"/>
            <a:ext cx="1865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 &amp; First Meeting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" y="2249424"/>
            <a:ext cx="64008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3504" y="2212848"/>
            <a:ext cx="17190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this proposal to EVOS VP Sales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" y="2724912"/>
            <a:ext cx="64008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3504" y="2688336"/>
            <a:ext cx="17190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visit to Allure's completed projects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5488" y="3200400"/>
            <a:ext cx="64008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3504" y="3163824"/>
            <a:ext cx="17190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MOU framework discussion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487168" y="1234440"/>
            <a:ext cx="2048256" cy="3429000"/>
          </a:xfrm>
          <a:prstGeom prst="rect">
            <a:avLst/>
          </a:prstGeom>
          <a:solidFill>
            <a:srgbClr val="1C1C1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487168" y="1234440"/>
            <a:ext cx="2048256" cy="5303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78608" y="1261872"/>
            <a:ext cx="18653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578608" y="1490472"/>
            <a:ext cx="18653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0F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Week 3–4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2578608" y="1828800"/>
            <a:ext cx="1865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&amp; Pilot Agreement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596896" y="2249424"/>
            <a:ext cx="64008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24912" y="2212848"/>
            <a:ext cx="17190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EVOS completes due diligence on Allure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596896" y="2724912"/>
            <a:ext cx="64008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24912" y="2688336"/>
            <a:ext cx="17190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reference calls arranged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596896" y="3200400"/>
            <a:ext cx="64008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24912" y="3163824"/>
            <a:ext cx="17190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model flat scope agreed + MOU signed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608576" y="1234440"/>
            <a:ext cx="2048256" cy="3429000"/>
          </a:xfrm>
          <a:prstGeom prst="rect">
            <a:avLst/>
          </a:prstGeom>
          <a:solidFill>
            <a:srgbClr val="1C1C1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08576" y="1234440"/>
            <a:ext cx="2048256" cy="5303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00016" y="1261872"/>
            <a:ext cx="18653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700016" y="1490472"/>
            <a:ext cx="18653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0F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Month 2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700016" y="1828800"/>
            <a:ext cx="1865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Flat Execution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718304" y="2249424"/>
            <a:ext cx="64008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46320" y="2212848"/>
            <a:ext cx="17190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Allure executes Alchemy model flat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18304" y="2724912"/>
            <a:ext cx="64008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46320" y="2688336"/>
            <a:ext cx="17190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EVOS sales team briefed on packages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718304" y="3200400"/>
            <a:ext cx="64008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46320" y="3163824"/>
            <a:ext cx="17190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studio installed at sales gallery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729984" y="1234440"/>
            <a:ext cx="2048256" cy="3429000"/>
          </a:xfrm>
          <a:prstGeom prst="rect">
            <a:avLst/>
          </a:prstGeom>
          <a:solidFill>
            <a:srgbClr val="1C1C1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729984" y="1234440"/>
            <a:ext cx="2048256" cy="5303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821424" y="1261872"/>
            <a:ext cx="18653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821424" y="1490472"/>
            <a:ext cx="18653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0F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Month 3+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6821424" y="1828800"/>
            <a:ext cx="1865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Partnership Launch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839712" y="2249424"/>
            <a:ext cx="64008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967728" y="2212848"/>
            <a:ext cx="17190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Co-branded packages listed in buyer docs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839712" y="2724912"/>
            <a:ext cx="64008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967728" y="2688336"/>
            <a:ext cx="17190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buyer referrals begin flowing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839712" y="3200400"/>
            <a:ext cx="64008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967728" y="3163824"/>
            <a:ext cx="17190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KPI review cadence established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365760" y="4754880"/>
            <a:ext cx="8412480" cy="128016"/>
          </a:xfrm>
          <a:prstGeom prst="rect">
            <a:avLst/>
          </a:prstGeom>
          <a:solidFill>
            <a:srgbClr val="2A2A2A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57200" y="4773168"/>
            <a:ext cx="82296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makers: Kalinga Keshari Rath (CMD)  ·  Srujanika Mishra (Head of Operations)  ·  VP Sales  ·  VP Projects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82880" y="4928616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ALLURE INTERIORS × EVOS BUILDCON  ·  BRAND COLLABORATION PROPOSAL  ·  CONFIDENTIAL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6576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VERDICT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65760" y="749808"/>
            <a:ext cx="5303520" cy="228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877824"/>
            <a:ext cx="5303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EVOS Buildcon creates the most aspirational homes in Odisha.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1609344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Allure Interiors ensures those homes live up to that promise — from the day your buyers move in.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65760" y="242316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Together, we don't just build structures.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deliver Lovemarks — inside and out.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365760" y="3291840"/>
            <a:ext cx="5303520" cy="2286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342900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Collaborate. Immediately.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080760" y="41148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080760" y="822960"/>
            <a:ext cx="256032" cy="256032"/>
          </a:xfrm>
          <a:prstGeom prst="rect">
            <a:avLst/>
          </a:prstGeom>
          <a:solidFill>
            <a:srgbClr val="0F0F0F"/>
          </a:solidFill>
          <a:ln w="12700">
            <a:solidFill>
              <a:srgbClr val="0F0F0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80760" y="8229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0" y="85039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a 30-min introductory meeting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080760" y="1481328"/>
            <a:ext cx="256032" cy="256032"/>
          </a:xfrm>
          <a:prstGeom prst="rect">
            <a:avLst/>
          </a:prstGeom>
          <a:solidFill>
            <a:srgbClr val="0F0F0F"/>
          </a:solidFill>
          <a:ln w="12700">
            <a:solidFill>
              <a:srgbClr val="0F0F0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80760" y="14813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0" y="150876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 one completed Allure project together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080760" y="2139696"/>
            <a:ext cx="256032" cy="256032"/>
          </a:xfrm>
          <a:prstGeom prst="rect">
            <a:avLst/>
          </a:prstGeom>
          <a:solidFill>
            <a:srgbClr val="0F0F0F"/>
          </a:solidFill>
          <a:ln w="12700">
            <a:solidFill>
              <a:srgbClr val="0F0F0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80760" y="21396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00800" y="216712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proposal with CMD and leadership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080760" y="2798064"/>
            <a:ext cx="256032" cy="256032"/>
          </a:xfrm>
          <a:prstGeom prst="rect">
            <a:avLst/>
          </a:prstGeom>
          <a:solidFill>
            <a:srgbClr val="0F0F0F"/>
          </a:solidFill>
          <a:ln w="12700">
            <a:solidFill>
              <a:srgbClr val="0F0F0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80760" y="27980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00800" y="2825496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pilot MOU for Alchemy model flat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080760" y="3456432"/>
            <a:ext cx="256032" cy="256032"/>
          </a:xfrm>
          <a:prstGeom prst="rect">
            <a:avLst/>
          </a:prstGeom>
          <a:solidFill>
            <a:srgbClr val="0F0F0F"/>
          </a:solidFill>
          <a:ln w="12700">
            <a:solidFill>
              <a:srgbClr val="0F0F0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80760" y="34564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00800" y="3483864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Preferred Partner program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943600" y="4242816"/>
            <a:ext cx="3200400" cy="877824"/>
          </a:xfrm>
          <a:prstGeom prst="rect">
            <a:avLst/>
          </a:prstGeom>
          <a:solidFill>
            <a:srgbClr val="0F0F0F"/>
          </a:solidFill>
          <a:ln w="12700">
            <a:solidFill>
              <a:srgbClr val="0F0F0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80760" y="429768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ALLURE INTERIORS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080760" y="455371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Collaboration Desk  ·  March 2026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080760" y="477316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&amp; Exclusive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Allure Interiors x EVOS Buildcon — Brand Collaboration Proposal</dc:title>
  <dc:subject>PptxGenJS Presentation</dc:subject>
  <dc:creator>PptxGenJS</dc:creator>
  <cp:lastModifiedBy>PptxGenJS</cp:lastModifiedBy>
  <cp:revision>1</cp:revision>
  <dcterms:created xsi:type="dcterms:W3CDTF">2026-03-28T12:46:04Z</dcterms:created>
  <dcterms:modified xsi:type="dcterms:W3CDTF">2026-03-28T12:46:04Z</dcterms:modified>
</cp:coreProperties>
</file>